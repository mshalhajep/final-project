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اشرح للأساتذة في الافتتاحية أن هذا العرض يركز على مناقشة خوارزميات التشفير في مشروع LOCAL CONTACT، وهو نظام اتصال محلي P2P يعمل دون خادم مركزي. وقدم زملاءك في فريق العمل: مشعل حاجب، قحطان الشاجع، أواب النزيلي، محمد العيدروس، ومحمد العواضي، مع استعراض الخوارزميات الأساسية الست المستخدمة في النظام.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وضّح للدكاترة الفجوة الأمنية السابقة: التطبيق كان يحتوي على وظائف اتصال ممتازة ولكن أمنياً كان يعتمد على عبارة مرور ثابتة مشتقة عبر PBKDF2، مما جعل مفتاح التشفير ثابتاً ومشتركاً بين جميع الأجهزة وكافة الجلسات. كشف المفتاح من الـ APK كان يهدد بفك تشفير كل الحزم المسجلة.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هنا يظهر دور هندسة البرمجيات: طبقنا مبدأ Single Responsibility ومبدأ Dependency Inversion عبر إنشاء واجهة KeyProvider. عزلنا مسؤولية جلب المفتاح عن محرك التشفير. أنشأنا LegacyStaticKeyProvider للحفاظ على التوافق، ومهدنا الطريق لمفاتيح الجلسات الديناميكية دون كسر الكود القديم.</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أكد لأستاذ التشفير أننا حافظنا على AES-256-GCM كخيار قياسي ممتاز لأنه نمط AEAD (يوفر السرية وسلامة البيانات معاً). وسيلة المصادقة Tag بطول 128 بت تكشف أي تلاعب بالبتات فوراً. اختبارات LocalCryptoEngineTest فحصت النصوص، كتل الملفات، والتلاعب وحققت 10/10 على JVM.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شرح بروتوكول تبادل المفاتيح: أنشأنا محرك ECDH باستخدام المنحنى الإهليلجي القياسي NIST P-256 (secp256r1). الميزة الأهم هي Forward Secrecy: الطرفان يولدّان مفاتيح مؤقتة Ephemeral لكل جلسة، يحسبان السر المشترك، ثم يُتلف المفتاح الخاص فوراً. لماذا P-256؟ لأنه مدعوم أصلياً في مكتبات التشفير القياسية داخل Android و JVM دون الحاجة لمكتبات خارجية ثقيلة.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وضّح لأستاذ التشفير لماذا نحتاج HKDF: السر المشترك الناتج عن ECDH يمثل نقطة على المنحنى، ولا يمتلك توزيعاً عشوائياً منتظماً (Uniform Distribution) يناسب مفاتيح AES. معيار RFC 5869 يطبق مرحلتين: Extract لاستخلاص العشوائية، و Expand لتوليد مفتاح AES-256 نقي مع حقن سياق الجلسة كـ Context لمنع الخلط بين الجلسات.</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اشرح كيف حلت هوية الجهاز مشكلة عدم وجود خادم: أنشأنا KeystoreIdentityManager لتوليد زوج مفاتيح دائم في Android Keystore المحمي بالعتاد (TEE أو StrongBox). المفتاح الخاص لا يغادر العتاد أبداً ولا يمكن تصديره أو سرقته حتى لو تم عمل روت للجهاز. يستخدم المفتاح حصراً لتوقيع حزم المصافحة بـ ECDSA. بيّن بأمانة أن هذا المكون مدمج بالكود ومصمم للأجهزة، ولم يخضع لاختبار Android Instrumented على محاكي.</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شرح تحصين المصافحة: في التصميم البدائي كان التوقيع يغطي المفتاح المؤقت فقط، مما يسمح بهجمات إعادة الاستخدام في جلسة أخرى. قمنا بإنشاء Canonical Binary Format يحزم: إصدار البروتوكول، معرف المرسل، معرف المستقبل، معرف الجلسة، الطابع الزمني، والمفتاح المؤقت. أي تعديل في سياق الجلسة يكسر التوقيع الرقمي فوراً. نبه اللجنة بأن هذا يحمي من التلاعب بالسياق، لكنه ليس Replay Protection كاملاً لبيانات الشبكة.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شرح نموذج TOFU: لعدم وجود خادم شهادات مركزي CA في الشبكة المحلية، نعتمد Trust On First Use. في أول اتصال، يُحفظ المفتاح العام وبصمته. في الاتصالات اللاحقة يُرفض أي تغيير. اعترف بشفافية أكاديمية أمام أستاذ التشفير: حماية MITM في الاتصال الأول تظل جزئية وليست كاملة، لأن المهاجم النشط في اللحظة الأولى يمكنه انتحال الهوية إذا لم يتأكد الطرفان بقناة خارجية (SAS أو QR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هذه الشريحة تبرز النضج والأمانة الهندسية: لا ندعي أن كل شيء يستخدم Session Keys. الدردشة الثنائية المباشرة Direct Chat هي التي تستخدم مفتاح الجلسة ECDH. استكشاف الأجهزة Discovery يستخدم المفتاح الشبكي وهو أمر طبيعي ومطلوب للاكتشاف العام. أما الغرف ونقل الملفات والصوت والفيديو فما زالت تستخدم المفتاح الشبكي القديم المشترك وتحتاج مفاتيح مجموعات مستقبلاً.</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فصل حاسم بين نجاح الاختبارات وبين التحقق الميداني: نجاح 33 من 33 اختباراً يثبت صحة خوارزميات التشفير وتبادل المفاتيح وإدارة الجلسات في بيئة JVM. لكنه لا يعني إثبات عمل الشبكة بين جهازين أندرويد حقيقيين عبر Wi-Fi فعلي. توثيق هذا الفرق في مصفوفة TraceabilityMatrix.md هو ما يميز العمل الهندسي المنضبط.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ملاحظات المتحدث الشفهية للمناقشة:</a:t>
            </a:r>
          </a:p>
          <a:p>
            <a:r>
              <a:t>اختم العرض بقوة وبأمانة علمية تامة: لخّص الفجوات المتبقية والموثقة كخارطة طريق مستقبلية: 1- التحقق اليدوي SAS لمنع MITM في أول اتصال. 2- Replay Protection كامل بأرقام تسلسلية للحزم. 3- فحص سلامة الملف كاملاً SHA-256. 4- Group Keys للغرف. اختم بالتأكيد على أن المشروع انتقل من كود أولي بمفتاح ثابت إلى بنية هندسية رصينة موثقة ومختبرة وقابلة للتطوير المستمر.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82880"/>
          </a:xfrm>
          <a:prstGeom prst="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75120"/>
            <a:ext cx="12191695" cy="182880"/>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0" y="457200"/>
            <a:ext cx="5212080" cy="411480"/>
          </a:xfrm>
          <a:prstGeom prst="roundRect">
            <a:avLst/>
          </a:prstGeom>
          <a:solidFill>
            <a:srgbClr val="EFF6FF"/>
          </a:solidFill>
          <a:ln>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E40AF"/>
                </a:solidFill>
                <a:latin typeface="Cairo"/>
              </a:defRPr>
            </a:pPr>
            <a:r>
              <a:t>🛡️ المناقشة الأكاديمية — هندسة البرمجيات والتشفير المتقدم</a:t>
            </a:r>
          </a:p>
        </p:txBody>
      </p:sp>
      <p:sp>
        <p:nvSpPr>
          <p:cNvPr id="5" name="TextBox 4"/>
          <p:cNvSpPr txBox="1"/>
          <p:nvPr/>
        </p:nvSpPr>
        <p:spPr>
          <a:xfrm>
            <a:off x="731520" y="960120"/>
            <a:ext cx="10698480" cy="731520"/>
          </a:xfrm>
          <a:prstGeom prst="rect">
            <a:avLst/>
          </a:prstGeom>
          <a:noFill/>
        </p:spPr>
        <p:txBody>
          <a:bodyPr wrap="square">
            <a:spAutoFit/>
          </a:bodyPr>
          <a:lstStyle/>
          <a:p>
            <a:pPr algn="ctr">
              <a:defRPr sz="2800" b="1">
                <a:solidFill>
                  <a:srgbClr val="0F2B5C"/>
                </a:solidFill>
                <a:latin typeface="Cairo"/>
              </a:defRPr>
            </a:pPr>
            <a:r>
              <a:t>مناقشة خوارزميات التشفير في مشروع LOCAL CONTACT</a:t>
            </a:r>
          </a:p>
        </p:txBody>
      </p:sp>
      <p:sp>
        <p:nvSpPr>
          <p:cNvPr id="6" name="TextBox 5"/>
          <p:cNvSpPr txBox="1"/>
          <p:nvPr/>
        </p:nvSpPr>
        <p:spPr>
          <a:xfrm>
            <a:off x="1371600" y="1691640"/>
            <a:ext cx="9418320" cy="457200"/>
          </a:xfrm>
          <a:prstGeom prst="rect">
            <a:avLst/>
          </a:prstGeom>
          <a:noFill/>
        </p:spPr>
        <p:txBody>
          <a:bodyPr wrap="square">
            <a:spAutoFit/>
          </a:bodyPr>
          <a:lstStyle/>
          <a:p>
            <a:pPr algn="ctr">
              <a:defRPr sz="1300" b="1">
                <a:solidFill>
                  <a:srgbClr val="475569"/>
                </a:solidFill>
                <a:latin typeface="Cairo"/>
              </a:defRPr>
            </a:pPr>
            <a:r>
              <a:t>التصميم الأمني وهندسة خوارزميات التشفير في نظام اتصال P2P محلي مستقل يعمل دون خادم مركزي</a:t>
            </a:r>
          </a:p>
        </p:txBody>
      </p:sp>
      <p:sp>
        <p:nvSpPr>
          <p:cNvPr id="7" name="Rounded Rectangle 6"/>
          <p:cNvSpPr/>
          <p:nvPr/>
        </p:nvSpPr>
        <p:spPr>
          <a:xfrm>
            <a:off x="731520" y="2240280"/>
            <a:ext cx="3474720" cy="8686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40AF"/>
                </a:solidFill>
                <a:latin typeface="Consolas"/>
              </a:defRPr>
            </a:pPr>
            <a:r>
              <a:t>AES-256-GCM</a:t>
            </a:r>
          </a:p>
          <a:p>
            <a:pPr algn="ctr">
              <a:defRPr sz="950">
                <a:solidFill>
                  <a:srgbClr val="0F172A"/>
                </a:solidFill>
                <a:latin typeface="Cairo"/>
              </a:defRPr>
            </a:pPr>
            <a:r>
              <a:t>التشفير المتماثل ومصادقة البيانات (AEAD)</a:t>
            </a:r>
          </a:p>
        </p:txBody>
      </p:sp>
      <p:sp>
        <p:nvSpPr>
          <p:cNvPr id="8" name="Rounded Rectangle 7"/>
          <p:cNvSpPr/>
          <p:nvPr/>
        </p:nvSpPr>
        <p:spPr>
          <a:xfrm>
            <a:off x="4343400" y="2240280"/>
            <a:ext cx="3474720" cy="8686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40AF"/>
                </a:solidFill>
                <a:latin typeface="Consolas"/>
              </a:defRPr>
            </a:pPr>
            <a:r>
              <a:t>ECDH (NIST P-256)</a:t>
            </a:r>
          </a:p>
          <a:p>
            <a:pPr algn="ctr">
              <a:defRPr sz="950">
                <a:solidFill>
                  <a:srgbClr val="0F172A"/>
                </a:solidFill>
                <a:latin typeface="Cairo"/>
              </a:defRPr>
            </a:pPr>
            <a:r>
              <a:t>تبادل المفاتيح وتأمين Forward Secrecy</a:t>
            </a:r>
          </a:p>
        </p:txBody>
      </p:sp>
      <p:sp>
        <p:nvSpPr>
          <p:cNvPr id="9" name="Rounded Rectangle 8"/>
          <p:cNvSpPr/>
          <p:nvPr/>
        </p:nvSpPr>
        <p:spPr>
          <a:xfrm>
            <a:off x="7955280" y="2240280"/>
            <a:ext cx="3474720" cy="8686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40AF"/>
                </a:solidFill>
                <a:latin typeface="Consolas"/>
              </a:defRPr>
            </a:pPr>
            <a:r>
              <a:t>HKDF-SHA256</a:t>
            </a:r>
          </a:p>
          <a:p>
            <a:pPr algn="ctr">
              <a:defRPr sz="950">
                <a:solidFill>
                  <a:srgbClr val="0F172A"/>
                </a:solidFill>
                <a:latin typeface="Cairo"/>
              </a:defRPr>
            </a:pPr>
            <a:r>
              <a:t>دالة اشتقاق مفاتيح الجلسات (RFC 5869)</a:t>
            </a:r>
          </a:p>
        </p:txBody>
      </p:sp>
      <p:sp>
        <p:nvSpPr>
          <p:cNvPr id="10" name="Rounded Rectangle 9"/>
          <p:cNvSpPr/>
          <p:nvPr/>
        </p:nvSpPr>
        <p:spPr>
          <a:xfrm>
            <a:off x="731520" y="3246120"/>
            <a:ext cx="3474720" cy="8686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40AF"/>
                </a:solidFill>
                <a:latin typeface="Consolas"/>
              </a:defRPr>
            </a:pPr>
            <a:r>
              <a:t>ECDSA + Keystore</a:t>
            </a:r>
          </a:p>
          <a:p>
            <a:pPr algn="ctr">
              <a:defRPr sz="950">
                <a:solidFill>
                  <a:srgbClr val="0F172A"/>
                </a:solidFill>
                <a:latin typeface="Cairo"/>
              </a:defRPr>
            </a:pPr>
            <a:r>
              <a:t>التوقيع الرقمي وهوية الجهاز بالمعالج الآمن</a:t>
            </a:r>
          </a:p>
        </p:txBody>
      </p:sp>
      <p:sp>
        <p:nvSpPr>
          <p:cNvPr id="11" name="Rounded Rectangle 10"/>
          <p:cNvSpPr/>
          <p:nvPr/>
        </p:nvSpPr>
        <p:spPr>
          <a:xfrm>
            <a:off x="4343400" y="3246120"/>
            <a:ext cx="3474720" cy="8686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40AF"/>
                </a:solidFill>
                <a:latin typeface="Consolas"/>
              </a:defRPr>
            </a:pPr>
            <a:r>
              <a:t>SHA-256 Fingerprint</a:t>
            </a:r>
          </a:p>
          <a:p>
            <a:pPr algn="ctr">
              <a:defRPr sz="950">
                <a:solidFill>
                  <a:srgbClr val="0F172A"/>
                </a:solidFill>
                <a:latin typeface="Cairo"/>
              </a:defRPr>
            </a:pPr>
            <a:r>
              <a:t>بصمات الأجهزة ونموذج الثقة (TOFU)</a:t>
            </a:r>
          </a:p>
        </p:txBody>
      </p:sp>
      <p:sp>
        <p:nvSpPr>
          <p:cNvPr id="12" name="Rounded Rectangle 11"/>
          <p:cNvSpPr/>
          <p:nvPr/>
        </p:nvSpPr>
        <p:spPr>
          <a:xfrm>
            <a:off x="7955280" y="3246120"/>
            <a:ext cx="3474720" cy="86868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40AF"/>
                </a:solidFill>
                <a:latin typeface="Consolas"/>
              </a:defRPr>
            </a:pPr>
            <a:r>
              <a:t>PBKDF2-HMAC-SHA256</a:t>
            </a:r>
          </a:p>
          <a:p>
            <a:pPr algn="ctr">
              <a:defRPr sz="950">
                <a:solidFill>
                  <a:srgbClr val="0F172A"/>
                </a:solidFill>
                <a:latin typeface="Cairo"/>
              </a:defRPr>
            </a:pPr>
            <a:r>
              <a:t>المفتاح الشبكي الموحد للتوافق العكسي</a:t>
            </a:r>
          </a:p>
        </p:txBody>
      </p:sp>
      <p:sp>
        <p:nvSpPr>
          <p:cNvPr id="13" name="Rounded Rectangle 12"/>
          <p:cNvSpPr/>
          <p:nvPr/>
        </p:nvSpPr>
        <p:spPr>
          <a:xfrm>
            <a:off x="731520" y="4343400"/>
            <a:ext cx="10698480" cy="1188720"/>
          </a:xfrm>
          <a:prstGeom prst="roundRect">
            <a:avLst/>
          </a:prstGeom>
          <a:solidFill>
            <a:srgbClr val="EFF6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F2B5C"/>
                </a:solidFill>
                <a:latin typeface="Cairo"/>
              </a:defRPr>
            </a:pPr>
            <a:r>
              <a:t>👥 الطلاب المنفذون للمشروع:</a:t>
            </a:r>
          </a:p>
        </p:txBody>
      </p:sp>
      <p:sp>
        <p:nvSpPr>
          <p:cNvPr id="14" name="Rounded Rectangle 13"/>
          <p:cNvSpPr/>
          <p:nvPr/>
        </p:nvSpPr>
        <p:spPr>
          <a:xfrm>
            <a:off x="1005840" y="4892040"/>
            <a:ext cx="1920240" cy="457200"/>
          </a:xfrm>
          <a:prstGeom prst="roundRect">
            <a:avLst/>
          </a:prstGeom>
          <a:solidFill>
            <a:srgbClr val="FFFFFF"/>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40AF"/>
                </a:solidFill>
                <a:latin typeface="Cairo"/>
              </a:defRPr>
            </a:pPr>
            <a:r>
              <a:t>🎓 مشعل حاجب</a:t>
            </a:r>
          </a:p>
        </p:txBody>
      </p:sp>
      <p:sp>
        <p:nvSpPr>
          <p:cNvPr id="15" name="Rounded Rectangle 14"/>
          <p:cNvSpPr/>
          <p:nvPr/>
        </p:nvSpPr>
        <p:spPr>
          <a:xfrm>
            <a:off x="3063240" y="4892040"/>
            <a:ext cx="1920240" cy="457200"/>
          </a:xfrm>
          <a:prstGeom prst="roundRect">
            <a:avLst/>
          </a:prstGeom>
          <a:solidFill>
            <a:srgbClr val="FFFFFF"/>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40AF"/>
                </a:solidFill>
                <a:latin typeface="Cairo"/>
              </a:defRPr>
            </a:pPr>
            <a:r>
              <a:t>🎓 قحطان الشاجع</a:t>
            </a:r>
          </a:p>
        </p:txBody>
      </p:sp>
      <p:sp>
        <p:nvSpPr>
          <p:cNvPr id="16" name="Rounded Rectangle 15"/>
          <p:cNvSpPr/>
          <p:nvPr/>
        </p:nvSpPr>
        <p:spPr>
          <a:xfrm>
            <a:off x="5120640" y="4892040"/>
            <a:ext cx="1920240" cy="457200"/>
          </a:xfrm>
          <a:prstGeom prst="roundRect">
            <a:avLst/>
          </a:prstGeom>
          <a:solidFill>
            <a:srgbClr val="FFFFFF"/>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40AF"/>
                </a:solidFill>
                <a:latin typeface="Cairo"/>
              </a:defRPr>
            </a:pPr>
            <a:r>
              <a:t>🎓 أواب النزيلي</a:t>
            </a:r>
          </a:p>
        </p:txBody>
      </p:sp>
      <p:sp>
        <p:nvSpPr>
          <p:cNvPr id="17" name="Rounded Rectangle 16"/>
          <p:cNvSpPr/>
          <p:nvPr/>
        </p:nvSpPr>
        <p:spPr>
          <a:xfrm>
            <a:off x="7178040" y="4892040"/>
            <a:ext cx="1920240" cy="457200"/>
          </a:xfrm>
          <a:prstGeom prst="roundRect">
            <a:avLst/>
          </a:prstGeom>
          <a:solidFill>
            <a:srgbClr val="FFFFFF"/>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40AF"/>
                </a:solidFill>
                <a:latin typeface="Cairo"/>
              </a:defRPr>
            </a:pPr>
            <a:r>
              <a:t>🎓 محمد العيدروس</a:t>
            </a:r>
          </a:p>
        </p:txBody>
      </p:sp>
      <p:sp>
        <p:nvSpPr>
          <p:cNvPr id="18" name="Rounded Rectangle 17"/>
          <p:cNvSpPr/>
          <p:nvPr/>
        </p:nvSpPr>
        <p:spPr>
          <a:xfrm>
            <a:off x="9235440" y="4892040"/>
            <a:ext cx="1920240" cy="457200"/>
          </a:xfrm>
          <a:prstGeom prst="roundRect">
            <a:avLst/>
          </a:prstGeom>
          <a:solidFill>
            <a:srgbClr val="FFFFFF"/>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40AF"/>
                </a:solidFill>
                <a:latin typeface="Cairo"/>
              </a:defRPr>
            </a:pPr>
            <a:r>
              <a:t>🎓 محمد العواضي</a:t>
            </a:r>
          </a:p>
        </p:txBody>
      </p:sp>
      <p:sp>
        <p:nvSpPr>
          <p:cNvPr id="19" name="TextBox 18"/>
          <p:cNvSpPr txBox="1"/>
          <p:nvPr/>
        </p:nvSpPr>
        <p:spPr>
          <a:xfrm>
            <a:off x="731520" y="5852160"/>
            <a:ext cx="10698480" cy="548640"/>
          </a:xfrm>
          <a:prstGeom prst="rect">
            <a:avLst/>
          </a:prstGeom>
          <a:noFill/>
        </p:spPr>
        <p:txBody>
          <a:bodyPr wrap="none">
            <a:spAutoFit/>
          </a:bodyPr>
          <a:lstStyle/>
          <a:p>
            <a:pPr algn="ctr">
              <a:defRPr sz="1100" b="1">
                <a:solidFill>
                  <a:srgbClr val="475569"/>
                </a:solidFill>
                <a:latin typeface="Cairo"/>
              </a:defRPr>
            </a:pPr>
            <a:r>
              <a:t>لجنة المناقشة: أستاذ التشفير &amp; أستاذ هندسة البرمجيات  |  الحالة: BUILD SUCCESSFUL  |  الاختبارات: 33 / 33 ناجح على JVM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نقطة الانطلاق والتحليل المعماري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2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ما المشكلة الأمنية في التصميم السابق؟</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تشخيص مكامن الضعف في إدارة المفاتيح وحماية الجلسات قبل التحسين</a:t>
            </a:r>
          </a:p>
        </p:txBody>
      </p:sp>
      <p:sp>
        <p:nvSpPr>
          <p:cNvPr id="7" name="Rounded Rectangle 6"/>
          <p:cNvSpPr/>
          <p:nvPr/>
        </p:nvSpPr>
        <p:spPr>
          <a:xfrm>
            <a:off x="9144000" y="685800"/>
            <a:ext cx="2286000" cy="347472"/>
          </a:xfrm>
          <a:prstGeom prst="round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CRITICAL GAP</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المخاطر ونقاط الضعف المعمارية السابقة:</a:t>
            </a:r>
          </a:p>
          <a:p>
            <a:pPr>
              <a:spcBef>
                <a:spcPts val="400"/>
              </a:spcBef>
              <a:defRPr sz="1050">
                <a:solidFill>
                  <a:srgbClr val="0F172A"/>
                </a:solidFill>
                <a:latin typeface="Cairo"/>
              </a:defRPr>
            </a:pPr>
            <a:r>
              <a:t>• مفتاح شبكي موحد ثابت: اشتقاق مفتاح AES-256 عبر PBKDF2 من عبارة مرور ثابتة داخل الكود.</a:t>
            </a:r>
          </a:p>
          <a:p>
            <a:pPr>
              <a:spcBef>
                <a:spcPts val="400"/>
              </a:spcBef>
              <a:defRPr sz="1050">
                <a:solidFill>
                  <a:srgbClr val="0F172A"/>
                </a:solidFill>
                <a:latin typeface="Cairo"/>
              </a:defRPr>
            </a:pPr>
            <a:r>
              <a:t>• مفتاح مشترك بين الأجهزة والجلسات: فك تشفير حزمة واحدة يكشف بيانات باقي الأجهزة.</a:t>
            </a:r>
          </a:p>
          <a:p>
            <a:pPr>
              <a:spcBef>
                <a:spcPts val="400"/>
              </a:spcBef>
              <a:defRPr sz="1050">
                <a:solidFill>
                  <a:srgbClr val="0F172A"/>
                </a:solidFill>
                <a:latin typeface="Cairo"/>
              </a:defRPr>
            </a:pPr>
            <a:r>
              <a:t>• غياب تبادل المفاتيح الديناميكي: عدم وجود أي بروتوكول لتبادل المفاتيح بين الأجهزة.</a:t>
            </a:r>
          </a:p>
          <a:p>
            <a:pPr>
              <a:spcBef>
                <a:spcPts val="400"/>
              </a:spcBef>
              <a:defRPr sz="1050">
                <a:solidFill>
                  <a:srgbClr val="0F172A"/>
                </a:solidFill>
                <a:latin typeface="Cairo"/>
              </a:defRPr>
            </a:pPr>
            <a:r>
              <a:t>• انعدام سرية التوجيه المستقبلي: كشف عبارة المرور يفك تشفير كل الاتصالات السابقة المسجلة.</a:t>
            </a:r>
          </a:p>
          <a:p>
            <a:pPr>
              <a:spcBef>
                <a:spcPts val="400"/>
              </a:spcBef>
              <a:defRPr sz="1050">
                <a:solidFill>
                  <a:srgbClr val="0F172A"/>
                </a:solidFill>
                <a:latin typeface="Cairo"/>
              </a:defRPr>
            </a:pPr>
            <a:r>
              <a:t>• غياب الهوية المشفرة: الاعتماد على معرفات عشوائية دون مفاتيح غير متماثلة.</a:t>
            </a:r>
          </a:p>
          <a:p>
            <a:pPr>
              <a:spcBef>
                <a:spcPts val="400"/>
              </a:spcBef>
              <a:defRPr sz="1050">
                <a:solidFill>
                  <a:srgbClr val="0F172A"/>
                </a:solidFill>
                <a:latin typeface="Cairo"/>
              </a:defRPr>
            </a:pPr>
            <a:r>
              <a:t>• الخلاصة: خوارزمية AES-GCM قوية، لكن طريقة إدارة وتوزيع المفتاح كانت نقطة الضعف.</a:t>
            </a:r>
          </a:p>
        </p:txBody>
      </p:sp>
      <p:sp>
        <p:nvSpPr>
          <p:cNvPr id="10" name="Rounded Rectangle 9"/>
          <p:cNvSpPr/>
          <p:nvPr/>
        </p:nvSpPr>
        <p:spPr>
          <a:xfrm>
            <a:off x="62179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الملف والمسؤولية البرمجية المعنية:</a:t>
            </a:r>
          </a:p>
          <a:p>
            <a:pPr>
              <a:spcBef>
                <a:spcPts val="400"/>
              </a:spcBef>
              <a:defRPr sz="1050">
                <a:solidFill>
                  <a:srgbClr val="0F172A"/>
                </a:solidFill>
                <a:latin typeface="Cairo"/>
              </a:defRPr>
            </a:pPr>
            <a:r>
              <a:t>• اقتران التشفير مع المفتاح: كان محرك التشفير يقوم بتشفير الرسائل واشتقاق المفتاح الثابت داخلياً بنفسه.</a:t>
            </a:r>
          </a:p>
          <a:p>
            <a:pPr>
              <a:spcBef>
                <a:spcPts val="400"/>
              </a:spcBef>
              <a:defRPr sz="1050">
                <a:solidFill>
                  <a:srgbClr val="0F172A"/>
                </a:solidFill>
                <a:latin typeface="Cairo"/>
              </a:defRPr>
            </a:pPr>
            <a:r>
              <a:t>• صعوبة التبديل والتطوير: أي رغبة في استخدام مفاتيح مختلفة كانت تتطلب إعادة كتابة دوال التشفير بالكامل.</a:t>
            </a:r>
          </a:p>
          <a:p>
            <a:pPr>
              <a:spcBef>
                <a:spcPts val="400"/>
              </a:spcBef>
              <a:defRPr sz="1050">
                <a:solidFill>
                  <a:srgbClr val="0F172A"/>
                </a:solidFill>
                <a:latin typeface="Cairo"/>
              </a:defRPr>
            </a:pPr>
            <a:r>
              <a:t>• غياب التوثيق والتتبع: عدم وجود مواصفات متطلبات تربط الكود بمرجعية أمنية معتمدة.</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app/src/main/java/com/example/network/LocalCryptoEngine.kt</a:t>
            </a:r>
          </a:p>
          <a:p>
            <a:pPr>
              <a:defRPr sz="950">
                <a:solidFill>
                  <a:srgbClr val="475569"/>
                </a:solidFill>
                <a:latin typeface="Cairo"/>
              </a:defRPr>
            </a:pPr>
            <a:r>
              <a:t>المسؤولية السابقة: محرك التشفير المتماثل واشتقاق المفتاح الثابت من عبارة المرور الموحدة.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هندسة البرمجيات والتصميم المعماري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3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فصل إدارة المفاتيح عبر تجريد KeyProvider</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تطبيق مبادئ SOLID ونمط Provider لعزل مسؤولية اشتقاق المفاتيح</a:t>
            </a:r>
          </a:p>
        </p:txBody>
      </p:sp>
      <p:sp>
        <p:nvSpPr>
          <p:cNvPr id="7" name="Rounded Rectangle 6"/>
          <p:cNvSpPr/>
          <p:nvPr/>
        </p:nvSpPr>
        <p:spPr>
          <a:xfrm>
            <a:off x="9144000" y="685800"/>
            <a:ext cx="2286000" cy="3474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IMPLEMENTED</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المبادئ الهندسية ونمط التصميم المطبق:</a:t>
            </a:r>
          </a:p>
          <a:p>
            <a:pPr>
              <a:spcBef>
                <a:spcPts val="400"/>
              </a:spcBef>
              <a:defRPr sz="1050">
                <a:solidFill>
                  <a:srgbClr val="0F172A"/>
                </a:solidFill>
                <a:latin typeface="Cairo"/>
              </a:defRPr>
            </a:pPr>
            <a:r>
              <a:t>• تطبيق مبدأ عكس التبعيات (DIP): محرك التشفير لم يعد يشتق المفتاح بنفسه، بل يعتمد على واجهة مجردة.</a:t>
            </a:r>
          </a:p>
          <a:p>
            <a:pPr>
              <a:spcBef>
                <a:spcPts val="400"/>
              </a:spcBef>
              <a:defRPr sz="1050">
                <a:solidFill>
                  <a:srgbClr val="0F172A"/>
                </a:solidFill>
                <a:latin typeface="Cairo"/>
              </a:defRPr>
            </a:pPr>
            <a:r>
              <a:t>• مبدأ المسؤولية الفردية (SRP): عزل مسؤولية توليد المفاتيح عن عمليات التشفير والـ Cipher.</a:t>
            </a:r>
          </a:p>
          <a:p>
            <a:pPr>
              <a:spcBef>
                <a:spcPts val="400"/>
              </a:spcBef>
              <a:defRPr sz="1050">
                <a:solidFill>
                  <a:srgbClr val="0F172A"/>
                </a:solidFill>
                <a:latin typeface="Cairo"/>
              </a:defRPr>
            </a:pPr>
            <a:r>
              <a:t>• نمط المزود (Provider / Strategy Pattern): إمكانية إضافة استراتيجيات مفاتيح جديدة مستقبلاً دون المساس بمحرك التشفير.</a:t>
            </a:r>
          </a:p>
          <a:p>
            <a:pPr>
              <a:spcBef>
                <a:spcPts val="400"/>
              </a:spcBef>
              <a:defRPr sz="1050">
                <a:solidFill>
                  <a:srgbClr val="0F172A"/>
                </a:solidFill>
                <a:latin typeface="Cairo"/>
              </a:defRPr>
            </a:pPr>
            <a:r>
              <a:t>• التوافق العكسي (Backward Compatibility): الحفاظ على سلوك المفتاح القديم مؤقتاً عبر LegacyStaticKeyProvider.</a:t>
            </a:r>
          </a:p>
        </p:txBody>
      </p:sp>
      <p:sp>
        <p:nvSpPr>
          <p:cNvPr id="10" name="Rounded Rectangle 9"/>
          <p:cNvSpPr/>
          <p:nvPr/>
        </p:nvSpPr>
        <p:spPr>
          <a:xfrm>
            <a:off x="62179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الملفات المضافة والمعدلة:</a:t>
            </a:r>
          </a:p>
          <a:p>
            <a:pPr>
              <a:spcBef>
                <a:spcPts val="400"/>
              </a:spcBef>
              <a:defRPr sz="1050">
                <a:solidFill>
                  <a:srgbClr val="0F172A"/>
                </a:solidFill>
                <a:latin typeface="Cairo"/>
              </a:defRPr>
            </a:pPr>
            <a:r>
              <a:t>• تجريد المفاتيح: إنشاء واجهة KeyProvider البرمجية.</a:t>
            </a:r>
          </a:p>
          <a:p>
            <a:pPr>
              <a:spcBef>
                <a:spcPts val="400"/>
              </a:spcBef>
              <a:defRPr sz="1050">
                <a:solidFill>
                  <a:srgbClr val="0F172A"/>
                </a:solidFill>
                <a:latin typeface="Cairo"/>
              </a:defRPr>
            </a:pPr>
            <a:r>
              <a:t>• التوافق مع القديم: تنفيذ كلاس LegacyStaticKeyProvider للحفاظ على سلوك PBKDF2 القديم مؤقتاً.</a:t>
            </a:r>
          </a:p>
          <a:p>
            <a:pPr>
              <a:spcBef>
                <a:spcPts val="400"/>
              </a:spcBef>
              <a:defRPr sz="1050">
                <a:solidFill>
                  <a:srgbClr val="0F172A"/>
                </a:solidFill>
                <a:latin typeface="Cairo"/>
              </a:defRPr>
            </a:pPr>
            <a:r>
              <a:t>• تعديل المحرك: تحديث LocalCryptoEngine ليعتمد على KeyProvider لتمرير المفتاح النشط.</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app/src/main/java/com/example/network/KeyProvider.kt</a:t>
            </a:r>
          </a:p>
          <a:p>
            <a:pPr>
              <a:defRPr sz="950">
                <a:solidFill>
                  <a:srgbClr val="475569"/>
                </a:solidFill>
                <a:latin typeface="Cairo"/>
              </a:defRPr>
            </a:pPr>
            <a:r>
              <a:t>ملف جديد يحتوي واجهة KeyProvider وتطبيق LegacyStaticKeyProvider لعزل التبعية.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التشفير المتماثل المعتمد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4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التشفير المتماثل الأساسي: AES-256-GCM</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الحفاظ على التشفير المصادق المعتمد لضمان السرية وسلامة البيانات</a:t>
            </a:r>
          </a:p>
        </p:txBody>
      </p:sp>
      <p:sp>
        <p:nvSpPr>
          <p:cNvPr id="7" name="Rounded Rectangle 6"/>
          <p:cNvSpPr/>
          <p:nvPr/>
        </p:nvSpPr>
        <p:spPr>
          <a:xfrm>
            <a:off x="9144000" y="685800"/>
            <a:ext cx="2286000" cy="3474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JVM TESTED (10/10)</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33832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السرية التامة:</a:t>
            </a:r>
          </a:p>
          <a:p>
            <a:pPr>
              <a:spcBef>
                <a:spcPts val="400"/>
              </a:spcBef>
              <a:defRPr sz="1050">
                <a:solidFill>
                  <a:srgbClr val="0F172A"/>
                </a:solidFill>
                <a:latin typeface="Cairo"/>
              </a:defRPr>
            </a:pPr>
            <a:r>
              <a:t>• مفتاح AES بطول 256 بت.</a:t>
            </a:r>
          </a:p>
          <a:p>
            <a:pPr>
              <a:spcBef>
                <a:spcPts val="400"/>
              </a:spcBef>
              <a:defRPr sz="1050">
                <a:solidFill>
                  <a:srgbClr val="0F172A"/>
                </a:solidFill>
                <a:latin typeface="Cairo"/>
              </a:defRPr>
            </a:pPr>
            <a:r>
              <a:t>• خوارزمية قياسية معتمدة من NIST (FIPS 197).</a:t>
            </a:r>
          </a:p>
          <a:p>
            <a:pPr>
              <a:spcBef>
                <a:spcPts val="400"/>
              </a:spcBef>
              <a:defRPr sz="1050">
                <a:solidFill>
                  <a:srgbClr val="0F172A"/>
                </a:solidFill>
                <a:latin typeface="Cairo"/>
              </a:defRPr>
            </a:pPr>
            <a:r>
              <a:t>• أداء سريع ومعالجة متوازية على الأجهزة المحمولة.</a:t>
            </a:r>
          </a:p>
        </p:txBody>
      </p:sp>
      <p:sp>
        <p:nvSpPr>
          <p:cNvPr id="10" name="Rounded Rectangle 9"/>
          <p:cNvSpPr/>
          <p:nvPr/>
        </p:nvSpPr>
        <p:spPr>
          <a:xfrm>
            <a:off x="4389120" y="1645920"/>
            <a:ext cx="33832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سلامة البيانات (AEAD):</a:t>
            </a:r>
          </a:p>
          <a:p>
            <a:pPr>
              <a:spcBef>
                <a:spcPts val="400"/>
              </a:spcBef>
              <a:defRPr sz="1050">
                <a:solidFill>
                  <a:srgbClr val="0F172A"/>
                </a:solidFill>
                <a:latin typeface="Cairo"/>
              </a:defRPr>
            </a:pPr>
            <a:r>
              <a:t>• وسم مصادقة بطول 128 بت (Tag).</a:t>
            </a:r>
          </a:p>
          <a:p>
            <a:pPr>
              <a:spcBef>
                <a:spcPts val="400"/>
              </a:spcBef>
              <a:defRPr sz="1050">
                <a:solidFill>
                  <a:srgbClr val="0F172A"/>
                </a:solidFill>
                <a:latin typeface="Cairo"/>
              </a:defRPr>
            </a:pPr>
            <a:r>
              <a:t>• رفض فك التشفير تلقائياً عند أي تعديل في النص المشفر.</a:t>
            </a:r>
          </a:p>
          <a:p>
            <a:pPr>
              <a:spcBef>
                <a:spcPts val="400"/>
              </a:spcBef>
              <a:defRPr sz="1050">
                <a:solidFill>
                  <a:srgbClr val="0F172A"/>
                </a:solidFill>
                <a:latin typeface="Cairo"/>
              </a:defRPr>
            </a:pPr>
            <a:r>
              <a:t>• حماية كاملة من هجمات التلاعب بالبتات (Bit-Flipping).</a:t>
            </a:r>
          </a:p>
        </p:txBody>
      </p:sp>
      <p:sp>
        <p:nvSpPr>
          <p:cNvPr id="11" name="Rounded Rectangle 10"/>
          <p:cNvSpPr/>
          <p:nvPr/>
        </p:nvSpPr>
        <p:spPr>
          <a:xfrm>
            <a:off x="8046720" y="1645920"/>
            <a:ext cx="33832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العشوائية والـ Nonce:</a:t>
            </a:r>
          </a:p>
          <a:p>
            <a:pPr>
              <a:spcBef>
                <a:spcPts val="400"/>
              </a:spcBef>
              <a:defRPr sz="1050">
                <a:solidFill>
                  <a:srgbClr val="0F172A"/>
                </a:solidFill>
                <a:latin typeface="Cairo"/>
              </a:defRPr>
            </a:pPr>
            <a:r>
              <a:t>• رقم عشوائي بطول 12 بايت لكل حزمة.</a:t>
            </a:r>
          </a:p>
          <a:p>
            <a:pPr>
              <a:spcBef>
                <a:spcPts val="400"/>
              </a:spcBef>
              <a:defRPr sz="1050">
                <a:solidFill>
                  <a:srgbClr val="0F172A"/>
                </a:solidFill>
                <a:latin typeface="Cairo"/>
              </a:defRPr>
            </a:pPr>
            <a:r>
              <a:t>• اشتقاق Nonce فريد لكل كتلة ملف (64KB).</a:t>
            </a:r>
          </a:p>
          <a:p>
            <a:pPr>
              <a:spcBef>
                <a:spcPts val="400"/>
              </a:spcBef>
              <a:defRPr sz="1050">
                <a:solidFill>
                  <a:srgbClr val="0F172A"/>
                </a:solidFill>
                <a:latin typeface="Cairo"/>
              </a:defRPr>
            </a:pPr>
            <a:r>
              <a:t>• منع تكرار الـ Nonce تحت نفس المفتاح.</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app/src/test/.../LocalCryptoEngineTest.kt</a:t>
            </a:r>
          </a:p>
          <a:p>
            <a:pPr>
              <a:defRPr sz="950">
                <a:solidFill>
                  <a:srgbClr val="475569"/>
                </a:solidFill>
                <a:latin typeface="Cairo"/>
              </a:defRPr>
            </a:pPr>
            <a:r>
              <a:t>10 اختبارات ناجحة أثبتت كشف التلاعب ورفض المفتاح الخاطئ.</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تبادل المفاتيح الديناميكي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5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بروتوكول تبادل المفاتيح المنحني: ECDH (NIST P-256)</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توليد أسرار مشتركة مؤقتة لتحقيق سرية التوجيه المستقبلي (Forward Secrecy)</a:t>
            </a:r>
          </a:p>
        </p:txBody>
      </p:sp>
      <p:sp>
        <p:nvSpPr>
          <p:cNvPr id="7" name="Rounded Rectangle 6"/>
          <p:cNvSpPr/>
          <p:nvPr/>
        </p:nvSpPr>
        <p:spPr>
          <a:xfrm>
            <a:off x="9144000" y="685800"/>
            <a:ext cx="2286000" cy="3474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JVM TESTED (8/8)</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الخصائص الأمنية لمنحنى NIST P-256:</a:t>
            </a:r>
          </a:p>
          <a:p>
            <a:pPr>
              <a:spcBef>
                <a:spcPts val="400"/>
              </a:spcBef>
              <a:defRPr sz="1050">
                <a:solidFill>
                  <a:srgbClr val="0F172A"/>
                </a:solidFill>
                <a:latin typeface="Cairo"/>
              </a:defRPr>
            </a:pPr>
            <a:r>
              <a:t>• المنحنى المعتمد: secp256r1 (prime256v1 / NIST P-256).</a:t>
            </a:r>
          </a:p>
          <a:p>
            <a:pPr>
              <a:spcBef>
                <a:spcPts val="400"/>
              </a:spcBef>
              <a:defRPr sz="1050">
                <a:solidFill>
                  <a:srgbClr val="0F172A"/>
                </a:solidFill>
                <a:latin typeface="Cairo"/>
              </a:defRPr>
            </a:pPr>
            <a:r>
              <a:t>• مفاتيح مؤقتة (Ephemeral Keys): توليد زوج مفاتيح جديد لكل جلسة اتصال.</a:t>
            </a:r>
          </a:p>
          <a:p>
            <a:pPr>
              <a:spcBef>
                <a:spcPts val="400"/>
              </a:spcBef>
              <a:defRPr sz="1050">
                <a:solidFill>
                  <a:srgbClr val="0F172A"/>
                </a:solidFill>
                <a:latin typeface="Cairo"/>
              </a:defRPr>
            </a:pPr>
            <a:r>
              <a:t>• إتلاف المفتاح الخاص: التخلص من المفتاح الخاص المؤقت فور حساب السر المشترك.</a:t>
            </a:r>
          </a:p>
          <a:p>
            <a:pPr>
              <a:spcBef>
                <a:spcPts val="400"/>
              </a:spcBef>
              <a:defRPr sz="1050">
                <a:solidFill>
                  <a:srgbClr val="0F172A"/>
                </a:solidFill>
                <a:latin typeface="Cairo"/>
              </a:defRPr>
            </a:pPr>
            <a:r>
              <a:t>• سرية التوجيه المستقبلي (Forward Secrecy): اختراق الجهاز مستقبلاً لا يكشف الاتصالات القديمة المسجلة.</a:t>
            </a:r>
          </a:p>
          <a:p>
            <a:pPr>
              <a:spcBef>
                <a:spcPts val="400"/>
              </a:spcBef>
              <a:defRPr sz="1050">
                <a:solidFill>
                  <a:srgbClr val="0F172A"/>
                </a:solidFill>
                <a:latin typeface="Cairo"/>
              </a:defRPr>
            </a:pPr>
            <a:r>
              <a:t>• توافق البيئة: مدعوم أصلياً في JCA داخل Android و JVM دون مكتبات خارجية ثقيلة.</a:t>
            </a:r>
          </a:p>
        </p:txBody>
      </p:sp>
      <p:sp>
        <p:nvSpPr>
          <p:cNvPr id="10" name="Rounded Rectangle 9"/>
          <p:cNvSpPr/>
          <p:nvPr/>
        </p:nvSpPr>
        <p:spPr>
          <a:xfrm>
            <a:off x="62179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المكون المنفذ والاختبارات:</a:t>
            </a:r>
          </a:p>
          <a:p>
            <a:pPr>
              <a:spcBef>
                <a:spcPts val="400"/>
              </a:spcBef>
              <a:defRPr sz="1050">
                <a:solidFill>
                  <a:srgbClr val="0F172A"/>
                </a:solidFill>
                <a:latin typeface="Cairo"/>
              </a:defRPr>
            </a:pPr>
            <a:r>
              <a:t>• توليد المفاتيح: توليد مفاتيح EC مؤقتة 256 بت.</a:t>
            </a:r>
          </a:p>
          <a:p>
            <a:pPr>
              <a:spcBef>
                <a:spcPts val="400"/>
              </a:spcBef>
              <a:defRPr sz="1050">
                <a:solidFill>
                  <a:srgbClr val="0F172A"/>
                </a:solidFill>
                <a:latin typeface="Cairo"/>
              </a:defRPr>
            </a:pPr>
            <a:r>
              <a:t>• حساب السر المشترك: تطبيق KeyAgreement عبر ECDH.</a:t>
            </a:r>
          </a:p>
          <a:p>
            <a:pPr>
              <a:spcBef>
                <a:spcPts val="400"/>
              </a:spcBef>
              <a:defRPr sz="1050">
                <a:solidFill>
                  <a:srgbClr val="0F172A"/>
                </a:solidFill>
                <a:latin typeface="Cairo"/>
              </a:defRPr>
            </a:pPr>
            <a:r>
              <a:t>• ترميز قياسي: تشفير المفاتيح العامة بصيغة X.509 DER القياسية.</a:t>
            </a:r>
          </a:p>
          <a:p>
            <a:pPr>
              <a:spcBef>
                <a:spcPts val="400"/>
              </a:spcBef>
              <a:defRPr sz="1050">
                <a:solidFill>
                  <a:srgbClr val="0F172A"/>
                </a:solidFill>
                <a:latin typeface="Cairo"/>
              </a:defRPr>
            </a:pPr>
            <a:r>
              <a:t>• اختبارات الاتفاق: 8 اختبارات آلية أثبتت اتفاق طرفين مستقلين على نفس السر المشترك.</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app/src/main/java/com/example/network/EcdhEngine.kt</a:t>
            </a:r>
          </a:p>
          <a:p>
            <a:pPr>
              <a:defRPr sz="950">
                <a:solidFill>
                  <a:srgbClr val="475569"/>
                </a:solidFill>
                <a:latin typeface="Cairo"/>
              </a:defRPr>
            </a:pPr>
            <a:r>
              <a:t>محرك تبادل المفاتيح ECDH المنفذ والمختبر في EcdhEngineTest (8/8 ناجح).</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دوال اشتقاق المفاتيح القياسية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6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اشتقاق مفاتيح الجلسات عبر HKDF-SHA256</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تطبيق معيار RFC 5869 لتحويل السر المشترك إلى مفتاح متماثل نقي عشوائياً</a:t>
            </a:r>
          </a:p>
        </p:txBody>
      </p:sp>
      <p:sp>
        <p:nvSpPr>
          <p:cNvPr id="7" name="Rounded Rectangle 6"/>
          <p:cNvSpPr/>
          <p:nvPr/>
        </p:nvSpPr>
        <p:spPr>
          <a:xfrm>
            <a:off x="9144000" y="685800"/>
            <a:ext cx="2286000" cy="3474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RFC 5869 COMPLIANT</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آليات دالة الاشتقاق (Extract-and-Expand):</a:t>
            </a:r>
          </a:p>
          <a:p>
            <a:pPr>
              <a:spcBef>
                <a:spcPts val="400"/>
              </a:spcBef>
              <a:defRPr sz="1050">
                <a:solidFill>
                  <a:srgbClr val="0F172A"/>
                </a:solidFill>
                <a:latin typeface="Cairo"/>
              </a:defRPr>
            </a:pPr>
            <a:r>
              <a:t>• مرحلة الاستخلاص (Extract): استخلاص العشوائية من السر المشترك عبر HMAC-SHA256 لإنتاج Pseudorandom Key (PRK).</a:t>
            </a:r>
          </a:p>
          <a:p>
            <a:pPr>
              <a:spcBef>
                <a:spcPts val="400"/>
              </a:spcBef>
              <a:defRPr sz="1050">
                <a:solidFill>
                  <a:srgbClr val="0F172A"/>
                </a:solidFill>
                <a:latin typeface="Cairo"/>
              </a:defRPr>
            </a:pPr>
            <a:r>
              <a:t>• مرحلة التوسيع (Expand): توليد مفتاح تشفير 256 بت نقي باستخدام مصفوفة معلومات سياق الجلسة (Session Context Info).</a:t>
            </a:r>
          </a:p>
          <a:p>
            <a:pPr>
              <a:spcBef>
                <a:spcPts val="400"/>
              </a:spcBef>
              <a:defRPr sz="1050">
                <a:solidFill>
                  <a:srgbClr val="0F172A"/>
                </a:solidFill>
                <a:latin typeface="Cairo"/>
              </a:defRPr>
            </a:pPr>
            <a:r>
              <a:t>• إزالة الانحياز الإحصائي: السر الناتج عن ECDH يمثل نقطة على المنحنى ولا يمتلك توزيعاً عشوائياً منتظماً يناسب AES مباشرة؛ HKDF يعالج ذلك.</a:t>
            </a:r>
          </a:p>
          <a:p>
            <a:pPr>
              <a:spcBef>
                <a:spcPts val="400"/>
              </a:spcBef>
              <a:defRPr sz="1050">
                <a:solidFill>
                  <a:srgbClr val="0F172A"/>
                </a:solidFill>
                <a:latin typeface="Cairo"/>
              </a:defRPr>
            </a:pPr>
            <a:r>
              <a:t>• عزل الجلسات: ربط الاشتقاق بمعرفات الجلسة يمنع استخدام نفس المفتاح في سياق آخر.</a:t>
            </a:r>
          </a:p>
        </p:txBody>
      </p:sp>
      <p:sp>
        <p:nvSpPr>
          <p:cNvPr id="10" name="Rounded Rectangle 9"/>
          <p:cNvSpPr/>
          <p:nvPr/>
        </p:nvSpPr>
        <p:spPr>
          <a:xfrm>
            <a:off x="62179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الموضع البرمجي وأهميته الأكاديمية:</a:t>
            </a:r>
          </a:p>
          <a:p>
            <a:pPr>
              <a:spcBef>
                <a:spcPts val="400"/>
              </a:spcBef>
              <a:defRPr sz="1050">
                <a:solidFill>
                  <a:srgbClr val="0F172A"/>
                </a:solidFill>
                <a:latin typeface="Cairo"/>
              </a:defRPr>
            </a:pPr>
            <a:r>
              <a:t>• المعيار الذهبي: HKDF هو المعيار المعتمد في بروتوكولات TLS 1.3 و Signal و IPsec.</a:t>
            </a:r>
          </a:p>
          <a:p>
            <a:pPr>
              <a:spcBef>
                <a:spcPts val="400"/>
              </a:spcBef>
              <a:defRPr sz="1050">
                <a:solidFill>
                  <a:srgbClr val="0F172A"/>
                </a:solidFill>
                <a:latin typeface="Cairo"/>
              </a:defRPr>
            </a:pPr>
            <a:r>
              <a:t>• التكامل في الكود: مدمج مباشرة في كلاس EcdhEngine لإنتاج كائن SecretKey.</a:t>
            </a:r>
          </a:p>
          <a:p>
            <a:pPr>
              <a:spcBef>
                <a:spcPts val="400"/>
              </a:spcBef>
              <a:defRPr sz="1050">
                <a:solidFill>
                  <a:srgbClr val="0F172A"/>
                </a:solidFill>
                <a:latin typeface="Cairo"/>
              </a:defRPr>
            </a:pPr>
            <a:r>
              <a:t>• الاختبارات: تم التحقق من سلامة الاشتقاق وثبات المفاتيح بين طرفين مستقلين.</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app/src/main/java/com/example/network/EcdhEngine.kt</a:t>
            </a:r>
          </a:p>
          <a:p>
            <a:pPr>
              <a:defRPr sz="950">
                <a:solidFill>
                  <a:srgbClr val="475569"/>
                </a:solidFill>
                <a:latin typeface="Cairo"/>
              </a:defRPr>
            </a:pPr>
            <a:r>
              <a:t>دالتا deriveSharedSecret و deriveSessionKey لتطبيق مراحل HKDF.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هوية الجهاز التشفيرية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7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حماية هوية الجهاز عبر Android Keystore</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إدارة مفاتيح غير قابلة للتصدير مدعومة بالمعالج الآمن والتوقيع الرقمي ECDSA</a:t>
            </a:r>
          </a:p>
        </p:txBody>
      </p:sp>
      <p:sp>
        <p:nvSpPr>
          <p:cNvPr id="7" name="Rounded Rectangle 6"/>
          <p:cNvSpPr/>
          <p:nvPr/>
        </p:nvSpPr>
        <p:spPr>
          <a:xfrm>
            <a:off x="9144000" y="685800"/>
            <a:ext cx="2286000" cy="34747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INTEGRATED IN CODE</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الخصائص الأمنية لمخزن المفاتيح:</a:t>
            </a:r>
          </a:p>
          <a:p>
            <a:pPr>
              <a:spcBef>
                <a:spcPts val="400"/>
              </a:spcBef>
              <a:defRPr sz="1050">
                <a:solidFill>
                  <a:srgbClr val="0F172A"/>
                </a:solidFill>
                <a:latin typeface="Cairo"/>
              </a:defRPr>
            </a:pPr>
            <a:r>
              <a:t>• مفتاح الهوية الدائم: توليد زوج مفاتيح EC secp256r1 فريد للجهاز داخل AndroidKeyStore.</a:t>
            </a:r>
          </a:p>
          <a:p>
            <a:pPr>
              <a:spcBef>
                <a:spcPts val="400"/>
              </a:spcBef>
              <a:defRPr sz="1050">
                <a:solidFill>
                  <a:srgbClr val="0F172A"/>
                </a:solidFill>
                <a:latin typeface="Cairo"/>
              </a:defRPr>
            </a:pPr>
            <a:r>
              <a:t>• حماية العتاد الآمن (TEE / StrongBox): المفتاح الخاص لا يغادر المعالج المعزول أبداً ولا يمكن تصديره حتى بصلاحيات Root.</a:t>
            </a:r>
          </a:p>
          <a:p>
            <a:pPr>
              <a:spcBef>
                <a:spcPts val="400"/>
              </a:spcBef>
              <a:defRPr sz="1050">
                <a:solidFill>
                  <a:srgbClr val="0F172A"/>
                </a:solidFill>
                <a:latin typeface="Cairo"/>
              </a:defRPr>
            </a:pPr>
            <a:r>
              <a:t>• التوقيع الرقمي: استخدام SHA256withECDSA لتوقيع حزم المصافحة وإثبات الهوية.</a:t>
            </a:r>
          </a:p>
          <a:p>
            <a:pPr>
              <a:spcBef>
                <a:spcPts val="400"/>
              </a:spcBef>
              <a:defRPr sz="1050">
                <a:solidFill>
                  <a:srgbClr val="0F172A"/>
                </a:solidFill>
                <a:latin typeface="Cairo"/>
              </a:defRPr>
            </a:pPr>
            <a:r>
              <a:t>• عزل النطاق: مفتاح الهوية مخصص للمصادقة فقط ولا يشفر بيانات التطبيق مباشرة.</a:t>
            </a:r>
          </a:p>
        </p:txBody>
      </p:sp>
      <p:sp>
        <p:nvSpPr>
          <p:cNvPr id="10" name="Rounded Rectangle 9"/>
          <p:cNvSpPr/>
          <p:nvPr/>
        </p:nvSpPr>
        <p:spPr>
          <a:xfrm>
            <a:off x="6217920" y="1645920"/>
            <a:ext cx="5212080" cy="4663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المكون المسؤول وحالة التحقق الأكاديمية:</a:t>
            </a:r>
          </a:p>
          <a:p>
            <a:pPr>
              <a:spcBef>
                <a:spcPts val="400"/>
              </a:spcBef>
              <a:defRPr sz="1050">
                <a:solidFill>
                  <a:srgbClr val="0F172A"/>
                </a:solidFill>
                <a:latin typeface="Cairo"/>
              </a:defRPr>
            </a:pPr>
            <a:r>
              <a:t>• المسؤولية: إدارة دورة حياة المفتاح وتوقيع الحزم والتحقق منها.</a:t>
            </a:r>
          </a:p>
          <a:p>
            <a:pPr>
              <a:spcBef>
                <a:spcPts val="400"/>
              </a:spcBef>
              <a:defRPr sz="1050">
                <a:solidFill>
                  <a:srgbClr val="0F172A"/>
                </a:solidFill>
                <a:latin typeface="Cairo"/>
              </a:defRPr>
            </a:pPr>
            <a:r>
              <a:t>• الفائدة: منح الجهاز هوية تشفيرية ثابتة بدل الاعتماد على معرف UUID عشوائي.</a:t>
            </a:r>
          </a:p>
          <a:p>
            <a:pPr>
              <a:spcBef>
                <a:spcPts val="400"/>
              </a:spcBef>
              <a:defRPr sz="1050">
                <a:solidFill>
                  <a:srgbClr val="0F172A"/>
                </a:solidFill>
                <a:latin typeface="Cairo"/>
              </a:defRPr>
            </a:pPr>
            <a:r>
              <a:t>• ⚠️ حالة التحقق الصارمة: مدمج في الكود ولكن يحتاج فحصاً على جهاز فيزيائي متاح يعمل بـ TEE حقيقي (Device Verification Pending).</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app/src/main/java/com/example/network/KeystoreIdentityManager.kt</a:t>
            </a:r>
          </a:p>
          <a:p>
            <a:pPr>
              <a:defRPr sz="950">
                <a:solidFill>
                  <a:srgbClr val="475569"/>
                </a:solidFill>
                <a:latin typeface="Cairo"/>
              </a:defRPr>
            </a:pPr>
            <a:r>
              <a:t>كلاس إدارة هوية الجهاز والتوقيع الرقمي عبر Android Keystore.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تحصين بروتوكول المصافحة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8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التوقيع الرقمي المرتبط بالسياق (Context-Bound)</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ربط حزم المصافحة بسياق الجلسة عبر هيكل باينري حتمي لمنع هجمات الاستبدال</a:t>
            </a:r>
          </a:p>
        </p:txBody>
      </p:sp>
      <p:sp>
        <p:nvSpPr>
          <p:cNvPr id="7" name="Rounded Rectangle 6"/>
          <p:cNvSpPr/>
          <p:nvPr/>
        </p:nvSpPr>
        <p:spPr>
          <a:xfrm>
            <a:off x="9144000" y="685800"/>
            <a:ext cx="2286000" cy="3474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JVM TESTED (8/8)</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حقول التوقيع الحتمي (Canonical Binary Layout):</a:t>
            </a:r>
          </a:p>
          <a:p>
            <a:pPr>
              <a:spcBef>
                <a:spcPts val="400"/>
              </a:spcBef>
              <a:defRPr sz="1050">
                <a:solidFill>
                  <a:srgbClr val="0F172A"/>
                </a:solidFill>
                <a:latin typeface="Cairo"/>
              </a:defRPr>
            </a:pPr>
            <a:r>
              <a:t>• Domain Tag: تمييز المجال بسلسلة LocalConnect::Handshake::v1.</a:t>
            </a:r>
          </a:p>
          <a:p>
            <a:pPr>
              <a:spcBef>
                <a:spcPts val="400"/>
              </a:spcBef>
              <a:defRPr sz="1050">
                <a:solidFill>
                  <a:srgbClr val="0F172A"/>
                </a:solidFill>
                <a:latin typeface="Cairo"/>
              </a:defRPr>
            </a:pPr>
            <a:r>
              <a:t>• Protocol Version: رقم إصدار البروتوكول (الإصدار 2).</a:t>
            </a:r>
          </a:p>
          <a:p>
            <a:pPr>
              <a:spcBef>
                <a:spcPts val="400"/>
              </a:spcBef>
              <a:defRPr sz="1050">
                <a:solidFill>
                  <a:srgbClr val="0F172A"/>
                </a:solidFill>
                <a:latin typeface="Cairo"/>
              </a:defRPr>
            </a:pPr>
            <a:r>
              <a:t>• Sender &amp; Receiver IDs: معرفات أطراف الاتصال المحددة.</a:t>
            </a:r>
          </a:p>
          <a:p>
            <a:pPr>
              <a:spcBef>
                <a:spcPts val="400"/>
              </a:spcBef>
              <a:defRPr sz="1050">
                <a:solidFill>
                  <a:srgbClr val="0F172A"/>
                </a:solidFill>
                <a:latin typeface="Cairo"/>
              </a:defRPr>
            </a:pPr>
            <a:r>
              <a:t>• Session ID: معرف الجلسة الفريد لمنع الخلط بين الجلسات.</a:t>
            </a:r>
          </a:p>
          <a:p>
            <a:pPr>
              <a:spcBef>
                <a:spcPts val="400"/>
              </a:spcBef>
              <a:defRPr sz="1050">
                <a:solidFill>
                  <a:srgbClr val="0F172A"/>
                </a:solidFill>
                <a:latin typeface="Cairo"/>
              </a:defRPr>
            </a:pPr>
            <a:r>
              <a:t>• Timestamp: الطابع الزمني بالملي ثانية.</a:t>
            </a:r>
          </a:p>
          <a:p>
            <a:pPr>
              <a:spcBef>
                <a:spcPts val="400"/>
              </a:spcBef>
              <a:defRPr sz="1050">
                <a:solidFill>
                  <a:srgbClr val="0F172A"/>
                </a:solidFill>
                <a:latin typeface="Cairo"/>
              </a:defRPr>
            </a:pPr>
            <a:r>
              <a:t>• Ephemeral Public Key: بايتات المفتاح العام المؤقت للقرين.</a:t>
            </a:r>
          </a:p>
        </p:txBody>
      </p:sp>
      <p:sp>
        <p:nvSpPr>
          <p:cNvPr id="10" name="Rounded Rectangle 9"/>
          <p:cNvSpPr/>
          <p:nvPr/>
        </p:nvSpPr>
        <p:spPr>
          <a:xfrm>
            <a:off x="62179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المكونات المسؤولة واختبارات الأمان:</a:t>
            </a:r>
          </a:p>
          <a:p>
            <a:pPr>
              <a:spcBef>
                <a:spcPts val="400"/>
              </a:spcBef>
              <a:defRPr sz="1050">
                <a:solidFill>
                  <a:srgbClr val="0F172A"/>
                </a:solidFill>
                <a:latin typeface="Cairo"/>
              </a:defRPr>
            </a:pPr>
            <a:r>
              <a:t>• منع الاستبدال: تغيير أي بايت في سياق الجلسة يبطل التوقيع فوراً.</a:t>
            </a:r>
          </a:p>
          <a:p>
            <a:pPr>
              <a:spcBef>
                <a:spcPts val="400"/>
              </a:spcBef>
              <a:defRPr sz="1050">
                <a:solidFill>
                  <a:srgbClr val="0F172A"/>
                </a:solidFill>
                <a:latin typeface="Cairo"/>
              </a:defRPr>
            </a:pPr>
            <a:r>
              <a:t>• منع إعادة التوجيه: لا يمكن استخدام نفس التوقيع ضد طرف آخر.</a:t>
            </a:r>
          </a:p>
          <a:p>
            <a:pPr>
              <a:spcBef>
                <a:spcPts val="400"/>
              </a:spcBef>
              <a:defRPr sz="1050">
                <a:solidFill>
                  <a:srgbClr val="0F172A"/>
                </a:solidFill>
                <a:latin typeface="Cairo"/>
              </a:defRPr>
            </a:pPr>
            <a:r>
              <a:t>• الاختبارات الآلية: 8 اختبارات أثبتت كشف التلاعب بالطابع الزمني أو الجلسة.</a:t>
            </a:r>
          </a:p>
          <a:p>
            <a:pPr>
              <a:spcBef>
                <a:spcPts val="400"/>
              </a:spcBef>
              <a:defRPr sz="1050">
                <a:solidFill>
                  <a:srgbClr val="0F172A"/>
                </a:solidFill>
                <a:latin typeface="Cairo"/>
              </a:defRPr>
            </a:pPr>
            <a:r>
              <a:t>• تنبيه هندسي: هذا يحصن المصافحة لكنه لا يمثل Replay Protection كاملاً لكافة الحزم الشبكية.</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app/src/main/java/com/example/network/HandshakeCryptoUtils.kt</a:t>
            </a:r>
          </a:p>
          <a:p>
            <a:pPr>
              <a:defRPr sz="950">
                <a:solidFill>
                  <a:srgbClr val="475569"/>
                </a:solidFill>
                <a:latin typeface="Cairo"/>
              </a:defRPr>
            </a:pPr>
            <a:r>
              <a:t>أدوات بناء مصفوفة التوقيع الحتمية وحساب بصمات SHA-256.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إدارة الثقة اللامركزية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9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تثبيت هوية الأقران بنموذج TOFU</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سياسة الثقة عند أول اتصال (Trust On First Use) ومصادقة البصمات الرقمية</a:t>
            </a:r>
          </a:p>
        </p:txBody>
      </p:sp>
      <p:sp>
        <p:nvSpPr>
          <p:cNvPr id="7" name="Rounded Rectangle 6"/>
          <p:cNvSpPr/>
          <p:nvPr/>
        </p:nvSpPr>
        <p:spPr>
          <a:xfrm>
            <a:off x="9144000" y="685800"/>
            <a:ext cx="2286000" cy="34747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PARTIAL MITM</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آلية عمل نموذج TOFU:</a:t>
            </a:r>
          </a:p>
          <a:p>
            <a:pPr>
              <a:spcBef>
                <a:spcPts val="400"/>
              </a:spcBef>
              <a:defRPr sz="1050">
                <a:solidFill>
                  <a:srgbClr val="0F172A"/>
                </a:solidFill>
                <a:latin typeface="Cairo"/>
              </a:defRPr>
            </a:pPr>
            <a:r>
              <a:t>• في أول اتصال: تسجيل وحفظ بصمة المفتاح العام (SHA-256 Fingerprint) بمخزن الثقة المحلي.</a:t>
            </a:r>
          </a:p>
          <a:p>
            <a:pPr>
              <a:spcBef>
                <a:spcPts val="400"/>
              </a:spcBef>
              <a:defRPr sz="1050">
                <a:solidFill>
                  <a:srgbClr val="0F172A"/>
                </a:solidFill>
                <a:latin typeface="Cairo"/>
              </a:defRPr>
            </a:pPr>
            <a:r>
              <a:t>• في الاتصالات اللاحقة: مطابقة البصمة القادمة مع البصمة المحفوظة؛ قبول الجلسة فوراً عند التطابق.</a:t>
            </a:r>
          </a:p>
          <a:p>
            <a:pPr>
              <a:spcBef>
                <a:spcPts val="400"/>
              </a:spcBef>
              <a:defRPr sz="1050">
                <a:solidFill>
                  <a:srgbClr val="0F172A"/>
                </a:solidFill>
                <a:latin typeface="Cairo"/>
              </a:defRPr>
            </a:pPr>
            <a:r>
              <a:t>• كشف التغير: في حال تغير مفتاح القرين، يُرفض الاتصال وتنبيه المستخدم لاحتمال وجود هجوم.</a:t>
            </a:r>
          </a:p>
          <a:p>
            <a:pPr>
              <a:spcBef>
                <a:spcPts val="400"/>
              </a:spcBef>
              <a:defRPr sz="1050">
                <a:solidFill>
                  <a:srgbClr val="0F172A"/>
                </a:solidFill>
                <a:latin typeface="Cairo"/>
              </a:defRPr>
            </a:pPr>
            <a:r>
              <a:t>• إدارة الحالات: تتبع حالة الأمان (LEGACY, IN_PROGRESS, SECURE) لمنع هجمات التراجع (Downgrade).</a:t>
            </a:r>
          </a:p>
        </p:txBody>
      </p:sp>
      <p:sp>
        <p:nvSpPr>
          <p:cNvPr id="10" name="Rounded Rectangle 9"/>
          <p:cNvSpPr/>
          <p:nvPr/>
        </p:nvSpPr>
        <p:spPr>
          <a:xfrm>
            <a:off x="6217920" y="1645920"/>
            <a:ext cx="5212080" cy="4663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المكونات البرمجية والحدود الأمنية:</a:t>
            </a:r>
          </a:p>
          <a:p>
            <a:pPr>
              <a:spcBef>
                <a:spcPts val="400"/>
              </a:spcBef>
              <a:defRPr sz="1050">
                <a:solidFill>
                  <a:srgbClr val="0F172A"/>
                </a:solidFill>
                <a:latin typeface="Cairo"/>
              </a:defRPr>
            </a:pPr>
            <a:r>
              <a:t>• مخزن الثقة: تخزين بصمات الأقران ومقارنتها بدقة.</a:t>
            </a:r>
          </a:p>
          <a:p>
            <a:pPr>
              <a:spcBef>
                <a:spcPts val="400"/>
              </a:spcBef>
              <a:defRPr sz="1050">
                <a:solidFill>
                  <a:srgbClr val="0F172A"/>
                </a:solidFill>
                <a:latin typeface="Cairo"/>
              </a:defRPr>
            </a:pPr>
            <a:r>
              <a:t>• إدارة الجلسات: ضبط مهلة المصافحة (30 ثانية) وإلغاء الجلسات المنتهية.</a:t>
            </a:r>
          </a:p>
          <a:p>
            <a:pPr>
              <a:spcBef>
                <a:spcPts val="400"/>
              </a:spcBef>
              <a:defRPr sz="1050">
                <a:solidFill>
                  <a:srgbClr val="0F172A"/>
                </a:solidFill>
                <a:latin typeface="Cairo"/>
              </a:defRPr>
            </a:pPr>
            <a:r>
              <a:t>• ⚠️ الاعتراف الأكاديمي الصارم: نموذج TOFU يحمي بامتياز بدءاً من الاتصال الثاني فصاعداً. حماية أول اتصال تظل جزئية لغياب التحقق اليدوي (SAS).</a:t>
            </a:r>
          </a:p>
          <a:p>
            <a:pPr>
              <a:spcBef>
                <a:spcPts val="800"/>
              </a:spcBef>
              <a:defRPr sz="1050" b="1">
                <a:solidFill>
                  <a:srgbClr val="1E40AF"/>
                </a:solidFill>
                <a:latin typeface="Cairo"/>
              </a:defRPr>
            </a:pPr>
            <a:r>
              <a:t>📂 المكون البرمجي المرتبط:</a:t>
            </a:r>
          </a:p>
          <a:p>
            <a:pPr>
              <a:defRPr sz="950" b="1">
                <a:solidFill>
                  <a:srgbClr val="0284C7"/>
                </a:solidFill>
                <a:latin typeface="Consolas"/>
              </a:defRPr>
            </a:pPr>
            <a:r>
              <a:t>app/src/main/java/com/example/network/PeerTrustStore.kt</a:t>
            </a:r>
          </a:p>
          <a:p>
            <a:pPr>
              <a:defRPr sz="950">
                <a:solidFill>
                  <a:srgbClr val="475569"/>
                </a:solidFill>
                <a:latin typeface="Cairo"/>
              </a:defRPr>
            </a:pPr>
            <a:r>
              <a:t>كلاس مخزن الثقة المحلي وتنسيق الحالات في PeerSessionKeyManager.kt.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الشفافية الهندسية والواقع العملي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10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نطاق المفاتيح الفعلي في التطبيق (Key Scope)</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توضيح دقيق للمسارات التي تم ترقيتها لمفاتيح الجلسات والمسارات المحتفظة بالمفتاح الشبكي</a:t>
            </a:r>
          </a:p>
        </p:txBody>
      </p:sp>
      <p:sp>
        <p:nvSpPr>
          <p:cNvPr id="7" name="Rounded Rectangle 6"/>
          <p:cNvSpPr/>
          <p:nvPr/>
        </p:nvSpPr>
        <p:spPr>
          <a:xfrm>
            <a:off x="9144000" y="685800"/>
            <a:ext cx="2286000" cy="347472"/>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PARTIAL SCOPE</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31520" y="1645920"/>
          <a:ext cx="10725912" cy="3840480"/>
        </p:xfrm>
        <a:graphic>
          <a:graphicData uri="http://schemas.openxmlformats.org/drawingml/2006/table">
            <a:tbl>
              <a:tblPr firstRow="1" bandRow="1">
                <a:tableStyleId>{5C22544A-7EE6-4342-B048-85BDC9FD1C3A}</a:tableStyleId>
              </a:tblPr>
              <a:tblGrid>
                <a:gridCol w="2743200"/>
                <a:gridCol w="2926080"/>
                <a:gridCol w="2103120"/>
                <a:gridCol w="2953512"/>
              </a:tblGrid>
              <a:tr h="640080">
                <a:tc>
                  <a:txBody>
                    <a:bodyPr/>
                    <a:lstStyle/>
                    <a:p>
                      <a:pPr algn="ctr">
                        <a:defRPr sz="1100" b="1">
                          <a:solidFill>
                            <a:srgbClr val="FFFFFF"/>
                          </a:solidFill>
                          <a:latin typeface="Cairo"/>
                        </a:defRPr>
                      </a:pPr>
                      <a:r>
                        <a:t>نوع البيانات / المسار</a:t>
                      </a:r>
                    </a:p>
                  </a:txBody>
                  <a:tcPr>
                    <a:solidFill>
                      <a:srgbClr val="0F2B5C"/>
                    </a:solidFill>
                  </a:tcPr>
                </a:tc>
                <a:tc>
                  <a:txBody>
                    <a:bodyPr/>
                    <a:lstStyle/>
                    <a:p>
                      <a:pPr algn="ctr">
                        <a:defRPr sz="1100" b="1">
                          <a:solidFill>
                            <a:srgbClr val="FFFFFF"/>
                          </a:solidFill>
                          <a:latin typeface="Cairo"/>
                        </a:defRPr>
                      </a:pPr>
                      <a:r>
                        <a:t>المفتاح المستخدم حالياً</a:t>
                      </a:r>
                    </a:p>
                  </a:txBody>
                  <a:tcPr>
                    <a:solidFill>
                      <a:srgbClr val="0F2B5C"/>
                    </a:solidFill>
                  </a:tcPr>
                </a:tc>
                <a:tc>
                  <a:txBody>
                    <a:bodyPr/>
                    <a:lstStyle/>
                    <a:p>
                      <a:pPr algn="ctr">
                        <a:defRPr sz="1100" b="1">
                          <a:solidFill>
                            <a:srgbClr val="FFFFFF"/>
                          </a:solidFill>
                          <a:latin typeface="Cairo"/>
                        </a:defRPr>
                      </a:pPr>
                      <a:r>
                        <a:t>المنفذ والبروتوكول</a:t>
                      </a:r>
                    </a:p>
                  </a:txBody>
                  <a:tcPr>
                    <a:solidFill>
                      <a:srgbClr val="0F2B5C"/>
                    </a:solidFill>
                  </a:tcPr>
                </a:tc>
                <a:tc>
                  <a:txBody>
                    <a:bodyPr/>
                    <a:lstStyle/>
                    <a:p>
                      <a:pPr algn="ctr">
                        <a:defRPr sz="1100" b="1">
                          <a:solidFill>
                            <a:srgbClr val="FFFFFF"/>
                          </a:solidFill>
                          <a:latin typeface="Cairo"/>
                        </a:defRPr>
                      </a:pPr>
                      <a:r>
                        <a:t>الحالة المعمارية والأمنية</a:t>
                      </a:r>
                    </a:p>
                  </a:txBody>
                  <a:tcPr>
                    <a:solidFill>
                      <a:srgbClr val="0F2B5C"/>
                    </a:solidFill>
                  </a:tcPr>
                </a:tc>
              </a:tr>
              <a:tr h="640080">
                <a:tc>
                  <a:txBody>
                    <a:bodyPr/>
                    <a:lstStyle/>
                    <a:p>
                      <a:pPr algn="ctr">
                        <a:defRPr sz="1000">
                          <a:solidFill>
                            <a:srgbClr val="0F172A"/>
                          </a:solidFill>
                          <a:latin typeface="Cairo"/>
                        </a:defRPr>
                      </a:pPr>
                      <a:r>
                        <a:t>الدردشة المباشرة (Direct Chat)</a:t>
                      </a:r>
                    </a:p>
                  </a:txBody>
                  <a:tcPr>
                    <a:solidFill>
                      <a:srgbClr val="F8FAFC"/>
                    </a:solidFill>
                  </a:tcPr>
                </a:tc>
                <a:tc>
                  <a:txBody>
                    <a:bodyPr/>
                    <a:lstStyle/>
                    <a:p>
                      <a:pPr algn="ctr">
                        <a:defRPr sz="1000">
                          <a:solidFill>
                            <a:srgbClr val="0F172A"/>
                          </a:solidFill>
                          <a:latin typeface="Consolas"/>
                        </a:defRPr>
                      </a:pPr>
                      <a:r>
                        <a:t>sessionKey (ديناميكي)</a:t>
                      </a:r>
                    </a:p>
                  </a:txBody>
                  <a:tcPr>
                    <a:solidFill>
                      <a:srgbClr val="F8FAFC"/>
                    </a:solidFill>
                  </a:tcPr>
                </a:tc>
                <a:tc>
                  <a:txBody>
                    <a:bodyPr/>
                    <a:lstStyle/>
                    <a:p>
                      <a:pPr algn="ctr">
                        <a:defRPr sz="1000">
                          <a:solidFill>
                            <a:srgbClr val="0F172A"/>
                          </a:solidFill>
                          <a:latin typeface="Cairo"/>
                        </a:defRPr>
                      </a:pPr>
                      <a:r>
                        <a:t>8888 (UDP Unicast)</a:t>
                      </a:r>
                    </a:p>
                  </a:txBody>
                  <a:tcPr>
                    <a:solidFill>
                      <a:srgbClr val="F8FAFC"/>
                    </a:solidFill>
                  </a:tcPr>
                </a:tc>
                <a:tc>
                  <a:txBody>
                    <a:bodyPr/>
                    <a:lstStyle/>
                    <a:p>
                      <a:pPr algn="ctr">
                        <a:defRPr sz="1000">
                          <a:solidFill>
                            <a:srgbClr val="0F172A"/>
                          </a:solidFill>
                          <a:latin typeface="Cairo"/>
                        </a:defRPr>
                      </a:pPr>
                      <a:r>
                        <a:t>محمي بجلسة ECDH ديناميكية لكل قرين</a:t>
                      </a:r>
                    </a:p>
                  </a:txBody>
                  <a:tcPr>
                    <a:solidFill>
                      <a:srgbClr val="F8FAFC"/>
                    </a:solidFill>
                  </a:tcPr>
                </a:tc>
              </a:tr>
              <a:tr h="640080">
                <a:tc>
                  <a:txBody>
                    <a:bodyPr/>
                    <a:lstStyle/>
                    <a:p>
                      <a:pPr algn="ctr">
                        <a:defRPr sz="1000">
                          <a:solidFill>
                            <a:srgbClr val="0F172A"/>
                          </a:solidFill>
                          <a:latin typeface="Cairo"/>
                        </a:defRPr>
                      </a:pPr>
                      <a:r>
                        <a:t>استكشاف الأجهزة (Discovery)</a:t>
                      </a:r>
                    </a:p>
                  </a:txBody>
                  <a:tcPr>
                    <a:solidFill>
                      <a:srgbClr val="FFFFFF"/>
                    </a:solidFill>
                  </a:tcPr>
                </a:tc>
                <a:tc>
                  <a:txBody>
                    <a:bodyPr/>
                    <a:lstStyle/>
                    <a:p>
                      <a:pPr algn="ctr">
                        <a:defRPr sz="1000">
                          <a:solidFill>
                            <a:srgbClr val="0F172A"/>
                          </a:solidFill>
                          <a:latin typeface="Consolas"/>
                        </a:defRPr>
                      </a:pPr>
                      <a:r>
                        <a:t>networkKey (مشترك)</a:t>
                      </a:r>
                    </a:p>
                  </a:txBody>
                  <a:tcPr>
                    <a:solidFill>
                      <a:srgbClr val="FFFFFF"/>
                    </a:solidFill>
                  </a:tcPr>
                </a:tc>
                <a:tc>
                  <a:txBody>
                    <a:bodyPr/>
                    <a:lstStyle/>
                    <a:p>
                      <a:pPr algn="ctr">
                        <a:defRPr sz="1000">
                          <a:solidFill>
                            <a:srgbClr val="0F172A"/>
                          </a:solidFill>
                          <a:latin typeface="Cairo"/>
                        </a:defRPr>
                      </a:pPr>
                      <a:r>
                        <a:t>8888 (UDP Broadcast)</a:t>
                      </a:r>
                    </a:p>
                  </a:txBody>
                  <a:tcPr>
                    <a:solidFill>
                      <a:srgbClr val="FFFFFF"/>
                    </a:solidFill>
                  </a:tcPr>
                </a:tc>
                <a:tc>
                  <a:txBody>
                    <a:bodyPr/>
                    <a:lstStyle/>
                    <a:p>
                      <a:pPr algn="ctr">
                        <a:defRPr sz="1000">
                          <a:solidFill>
                            <a:srgbClr val="0F172A"/>
                          </a:solidFill>
                          <a:latin typeface="Cairo"/>
                        </a:defRPr>
                      </a:pPr>
                      <a:r>
                        <a:t>طبيعي (مطلوب عاماً للاكتشاف الأولي)</a:t>
                      </a:r>
                    </a:p>
                  </a:txBody>
                  <a:tcPr>
                    <a:solidFill>
                      <a:srgbClr val="FFFFFF"/>
                    </a:solidFill>
                  </a:tcPr>
                </a:tc>
              </a:tr>
              <a:tr h="640080">
                <a:tc>
                  <a:txBody>
                    <a:bodyPr/>
                    <a:lstStyle/>
                    <a:p>
                      <a:pPr algn="ctr">
                        <a:defRPr sz="1000">
                          <a:solidFill>
                            <a:srgbClr val="0F172A"/>
                          </a:solidFill>
                          <a:latin typeface="Cairo"/>
                        </a:defRPr>
                      </a:pPr>
                      <a:r>
                        <a:t>غرف الدردشة الجماعية (Rooms)</a:t>
                      </a:r>
                    </a:p>
                  </a:txBody>
                  <a:tcPr>
                    <a:solidFill>
                      <a:srgbClr val="F8FAFC"/>
                    </a:solidFill>
                  </a:tcPr>
                </a:tc>
                <a:tc>
                  <a:txBody>
                    <a:bodyPr/>
                    <a:lstStyle/>
                    <a:p>
                      <a:pPr algn="ctr">
                        <a:defRPr sz="1000">
                          <a:solidFill>
                            <a:srgbClr val="0F172A"/>
                          </a:solidFill>
                          <a:latin typeface="Consolas"/>
                        </a:defRPr>
                      </a:pPr>
                      <a:r>
                        <a:t>networkKey (قديم)</a:t>
                      </a:r>
                    </a:p>
                  </a:txBody>
                  <a:tcPr>
                    <a:solidFill>
                      <a:srgbClr val="F8FAFC"/>
                    </a:solidFill>
                  </a:tcPr>
                </a:tc>
                <a:tc>
                  <a:txBody>
                    <a:bodyPr/>
                    <a:lstStyle/>
                    <a:p>
                      <a:pPr algn="ctr">
                        <a:defRPr sz="1000">
                          <a:solidFill>
                            <a:srgbClr val="0F172A"/>
                          </a:solidFill>
                          <a:latin typeface="Cairo"/>
                        </a:defRPr>
                      </a:pPr>
                      <a:r>
                        <a:t>8888 (UDP Multicast)</a:t>
                      </a:r>
                    </a:p>
                  </a:txBody>
                  <a:tcPr>
                    <a:solidFill>
                      <a:srgbClr val="F8FAFC"/>
                    </a:solidFill>
                  </a:tcPr>
                </a:tc>
                <a:tc>
                  <a:txBody>
                    <a:bodyPr/>
                    <a:lstStyle/>
                    <a:p>
                      <a:pPr algn="ctr">
                        <a:defRPr sz="1000">
                          <a:solidFill>
                            <a:srgbClr val="0F172A"/>
                          </a:solidFill>
                          <a:latin typeface="Cairo"/>
                        </a:defRPr>
                      </a:pPr>
                      <a:r>
                        <a:t>مسار قديم (يحتاج Group Key مستقبلاً)</a:t>
                      </a:r>
                    </a:p>
                  </a:txBody>
                  <a:tcPr>
                    <a:solidFill>
                      <a:srgbClr val="F8FAFC"/>
                    </a:solidFill>
                  </a:tcPr>
                </a:tc>
              </a:tr>
              <a:tr h="640080">
                <a:tc>
                  <a:txBody>
                    <a:bodyPr/>
                    <a:lstStyle/>
                    <a:p>
                      <a:pPr algn="ctr">
                        <a:defRPr sz="1000">
                          <a:solidFill>
                            <a:srgbClr val="0F172A"/>
                          </a:solidFill>
                          <a:latin typeface="Cairo"/>
                        </a:defRPr>
                      </a:pPr>
                      <a:r>
                        <a:t>نقل وتبادل الملفات (File Transfer)</a:t>
                      </a:r>
                    </a:p>
                  </a:txBody>
                  <a:tcPr>
                    <a:solidFill>
                      <a:srgbClr val="FFFFFF"/>
                    </a:solidFill>
                  </a:tcPr>
                </a:tc>
                <a:tc>
                  <a:txBody>
                    <a:bodyPr/>
                    <a:lstStyle/>
                    <a:p>
                      <a:pPr algn="ctr">
                        <a:defRPr sz="1000">
                          <a:solidFill>
                            <a:srgbClr val="0F172A"/>
                          </a:solidFill>
                          <a:latin typeface="Consolas"/>
                        </a:defRPr>
                      </a:pPr>
                      <a:r>
                        <a:t>networkKey (قديم)</a:t>
                      </a:r>
                    </a:p>
                  </a:txBody>
                  <a:tcPr>
                    <a:solidFill>
                      <a:srgbClr val="FFFFFF"/>
                    </a:solidFill>
                  </a:tcPr>
                </a:tc>
                <a:tc>
                  <a:txBody>
                    <a:bodyPr/>
                    <a:lstStyle/>
                    <a:p>
                      <a:pPr algn="ctr">
                        <a:defRPr sz="1000">
                          <a:solidFill>
                            <a:srgbClr val="0F172A"/>
                          </a:solidFill>
                          <a:latin typeface="Cairo"/>
                        </a:defRPr>
                      </a:pPr>
                      <a:r>
                        <a:t>8891 (TCP Stream)</a:t>
                      </a:r>
                    </a:p>
                  </a:txBody>
                  <a:tcPr>
                    <a:solidFill>
                      <a:srgbClr val="FFFFFF"/>
                    </a:solidFill>
                  </a:tcPr>
                </a:tc>
                <a:tc>
                  <a:txBody>
                    <a:bodyPr/>
                    <a:lstStyle/>
                    <a:p>
                      <a:pPr algn="ctr">
                        <a:defRPr sz="1000">
                          <a:solidFill>
                            <a:srgbClr val="0F172A"/>
                          </a:solidFill>
                          <a:latin typeface="Cairo"/>
                        </a:defRPr>
                      </a:pPr>
                      <a:r>
                        <a:t>مشفر بكتل 64KB بمفتاح الشبكة القديم</a:t>
                      </a:r>
                    </a:p>
                  </a:txBody>
                  <a:tcPr>
                    <a:solidFill>
                      <a:srgbClr val="FFFFFF"/>
                    </a:solidFill>
                  </a:tcPr>
                </a:tc>
              </a:tr>
              <a:tr h="640080">
                <a:tc>
                  <a:txBody>
                    <a:bodyPr/>
                    <a:lstStyle/>
                    <a:p>
                      <a:pPr algn="ctr">
                        <a:defRPr sz="1000">
                          <a:solidFill>
                            <a:srgbClr val="0F172A"/>
                          </a:solidFill>
                          <a:latin typeface="Cairo"/>
                        </a:defRPr>
                      </a:pPr>
                      <a:r>
                        <a:t>المكالمات الصوتية والمرئية</a:t>
                      </a:r>
                    </a:p>
                  </a:txBody>
                  <a:tcPr>
                    <a:solidFill>
                      <a:srgbClr val="F8FAFC"/>
                    </a:solidFill>
                  </a:tcPr>
                </a:tc>
                <a:tc>
                  <a:txBody>
                    <a:bodyPr/>
                    <a:lstStyle/>
                    <a:p>
                      <a:pPr algn="ctr">
                        <a:defRPr sz="1000">
                          <a:solidFill>
                            <a:srgbClr val="0F172A"/>
                          </a:solidFill>
                          <a:latin typeface="Consolas"/>
                        </a:defRPr>
                      </a:pPr>
                      <a:r>
                        <a:t>networkKey (قديم)</a:t>
                      </a:r>
                    </a:p>
                  </a:txBody>
                  <a:tcPr>
                    <a:solidFill>
                      <a:srgbClr val="F8FAFC"/>
                    </a:solidFill>
                  </a:tcPr>
                </a:tc>
                <a:tc>
                  <a:txBody>
                    <a:bodyPr/>
                    <a:lstStyle/>
                    <a:p>
                      <a:pPr algn="ctr">
                        <a:defRPr sz="1000">
                          <a:solidFill>
                            <a:srgbClr val="0F172A"/>
                          </a:solidFill>
                          <a:latin typeface="Cairo"/>
                        </a:defRPr>
                      </a:pPr>
                      <a:r>
                        <a:t>8889 / 8890 (UDP)</a:t>
                      </a:r>
                    </a:p>
                  </a:txBody>
                  <a:tcPr>
                    <a:solidFill>
                      <a:srgbClr val="F8FAFC"/>
                    </a:solidFill>
                  </a:tcPr>
                </a:tc>
                <a:tc>
                  <a:txBody>
                    <a:bodyPr/>
                    <a:lstStyle/>
                    <a:p>
                      <a:pPr algn="ctr">
                        <a:defRPr sz="1000">
                          <a:solidFill>
                            <a:srgbClr val="0F172A"/>
                          </a:solidFill>
                          <a:latin typeface="Cairo"/>
                        </a:defRPr>
                      </a:pPr>
                      <a:r>
                        <a:t>مشفر بحزم PCM/JPEG بمفتاح الشبكة</a:t>
                      </a:r>
                    </a:p>
                  </a:txBody>
                  <a:tcPr>
                    <a:solidFill>
                      <a:srgbClr val="F8FAFC"/>
                    </a:solidFill>
                  </a:tcPr>
                </a:tc>
              </a:tr>
            </a:tbl>
          </a:graphicData>
        </a:graphic>
      </p:graphicFrame>
      <p:sp>
        <p:nvSpPr>
          <p:cNvPr id="10" name="TextBox 9"/>
          <p:cNvSpPr txBox="1"/>
          <p:nvPr/>
        </p:nvSpPr>
        <p:spPr>
          <a:xfrm>
            <a:off x="731520" y="5669280"/>
            <a:ext cx="10725912" cy="731520"/>
          </a:xfrm>
          <a:prstGeom prst="rect">
            <a:avLst/>
          </a:prstGeom>
          <a:noFill/>
        </p:spPr>
        <p:txBody>
          <a:bodyPr wrap="none">
            <a:spAutoFit/>
          </a:bodyPr>
          <a:lstStyle/>
          <a:p>
            <a:pPr>
              <a:defRPr sz="1100" b="1">
                <a:solidFill>
                  <a:srgbClr val="1E40AF"/>
                </a:solidFill>
                <a:latin typeface="Cairo"/>
              </a:defRPr>
            </a:pPr>
            <a:r>
              <a:t>📂 الملف المسؤول عن الدمج: LocalP2PEngine.kt | الأمانة الأكاديمية تقتضي عدم الادعاء بأن جميع أنواع البيانات تستخدم Session Keys.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إثباتات الجودة ومصفوفة التتبع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11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ما الذي تثبته الاختبارات وما الذي لا تثبته؟</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تحليل نتيجة 33/33 اختباراً فحصاً برمجياً على JVM والحدود الأكاديمية الصارمة</a:t>
            </a:r>
          </a:p>
        </p:txBody>
      </p:sp>
      <p:sp>
        <p:nvSpPr>
          <p:cNvPr id="7" name="Rounded Rectangle 6"/>
          <p:cNvSpPr/>
          <p:nvPr/>
        </p:nvSpPr>
        <p:spPr>
          <a:xfrm>
            <a:off x="9144000" y="685800"/>
            <a:ext cx="2286000" cy="347472"/>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33/33 PASSED</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5212080" cy="4663440"/>
          </a:xfrm>
          <a:prstGeom prst="roundRect">
            <a:avLst/>
          </a:prstGeom>
          <a:solidFill>
            <a:srgbClr val="F8FAFC"/>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ما تم إثباته برمجياً (33 اختباراً ناجحاً على JVM):</a:t>
            </a:r>
          </a:p>
          <a:p>
            <a:pPr>
              <a:spcBef>
                <a:spcPts val="400"/>
              </a:spcBef>
              <a:defRPr sz="1050">
                <a:solidFill>
                  <a:srgbClr val="0F172A"/>
                </a:solidFill>
                <a:latin typeface="Cairo"/>
              </a:defRPr>
            </a:pPr>
            <a:r>
              <a:t>• LocalCryptoEngineTest (10/10): صحة AES-GCM، كشف التلاعب بالنص المشفر والـ Tag، رفض المفتاح الخاطئ، ودعم JSON و UTF-8.</a:t>
            </a:r>
          </a:p>
          <a:p>
            <a:pPr>
              <a:spcBef>
                <a:spcPts val="400"/>
              </a:spcBef>
              <a:defRPr sz="1050">
                <a:solidFill>
                  <a:srgbClr val="0F172A"/>
                </a:solidFill>
                <a:latin typeface="Cairo"/>
              </a:defRPr>
            </a:pPr>
            <a:r>
              <a:t>• EcdhEngineTest (8/8): اتفاق طرفين مستقلين على نفس السر المشترك وتوليد مفاتيح متطابقة عبر HKDF.</a:t>
            </a:r>
          </a:p>
          <a:p>
            <a:pPr>
              <a:spcBef>
                <a:spcPts val="400"/>
              </a:spcBef>
              <a:defRPr sz="1050">
                <a:solidFill>
                  <a:srgbClr val="0F172A"/>
                </a:solidFill>
                <a:latin typeface="Cairo"/>
              </a:defRPr>
            </a:pPr>
            <a:r>
              <a:t>• PeerSessionKeyManagerTest (4/4): صحة تخزين المفاتيح، انتهاء مهلة المصافحة (30 ثانية)، ومنع التراجع.</a:t>
            </a:r>
          </a:p>
          <a:p>
            <a:pPr>
              <a:spcBef>
                <a:spcPts val="400"/>
              </a:spcBef>
              <a:defRPr sz="1050">
                <a:solidFill>
                  <a:srgbClr val="0F172A"/>
                </a:solidFill>
                <a:latin typeface="Cairo"/>
              </a:defRPr>
            </a:pPr>
            <a:r>
              <a:t>• HandshakeHardeningTest (8/8): التوقيع الرقمي المرتبط بالسياق ومطابقة بصمات TOFU.</a:t>
            </a:r>
          </a:p>
          <a:p>
            <a:pPr>
              <a:spcBef>
                <a:spcPts val="400"/>
              </a:spcBef>
              <a:defRPr sz="1050">
                <a:solidFill>
                  <a:srgbClr val="0F172A"/>
                </a:solidFill>
                <a:latin typeface="Cairo"/>
              </a:defRPr>
            </a:pPr>
            <a:r>
              <a:t>• اختبارات النماذج العامة (3/3): سلامة كبسولات البيانات وتراكيب الرسائل.</a:t>
            </a:r>
          </a:p>
        </p:txBody>
      </p:sp>
      <p:sp>
        <p:nvSpPr>
          <p:cNvPr id="10" name="Rounded Rectangle 9"/>
          <p:cNvSpPr/>
          <p:nvPr/>
        </p:nvSpPr>
        <p:spPr>
          <a:xfrm>
            <a:off x="6217920" y="1645920"/>
            <a:ext cx="5212080" cy="466344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 ما لم يتم التحقق منه ميدانياً بعد:</a:t>
            </a:r>
          </a:p>
          <a:p>
            <a:pPr>
              <a:spcBef>
                <a:spcPts val="400"/>
              </a:spcBef>
              <a:defRPr sz="1050">
                <a:solidFill>
                  <a:srgbClr val="0F172A"/>
                </a:solidFill>
                <a:latin typeface="Cairo"/>
              </a:defRPr>
            </a:pPr>
            <a:r>
              <a:t>• الاتصال الميداني بين هاتفين حقيقيين: لم يُجرَ اختبار شبكي بين جهازين فيزيائيين عبر راوتر Wi-Fi فعلي.</a:t>
            </a:r>
          </a:p>
          <a:p>
            <a:pPr>
              <a:spcBef>
                <a:spcPts val="400"/>
              </a:spcBef>
              <a:defRPr sz="1050">
                <a:solidFill>
                  <a:srgbClr val="0F172A"/>
                </a:solidFill>
                <a:latin typeface="Cairo"/>
              </a:defRPr>
            </a:pPr>
            <a:r>
              <a:t>• اختبارات Android Instrumented: لم تُنفذ على محاكي أندرويد لعدم توفر بيئة عتادية في مرحلة الفحص.</a:t>
            </a:r>
          </a:p>
          <a:p>
            <a:pPr>
              <a:spcBef>
                <a:spcPts val="400"/>
              </a:spcBef>
              <a:defRPr sz="1050">
                <a:solidFill>
                  <a:srgbClr val="0F172A"/>
                </a:solidFill>
                <a:latin typeface="Cairo"/>
              </a:defRPr>
            </a:pPr>
            <a:r>
              <a:t>• تكامل العتاد الحقيقي: التحقق من تخزين Keystore داخل معالج TEE يتطلب جهازاً فيزيائياً متاحاً.</a:t>
            </a:r>
          </a:p>
          <a:p>
            <a:pPr>
              <a:spcBef>
                <a:spcPts val="400"/>
              </a:spcBef>
              <a:defRPr sz="1050">
                <a:solidFill>
                  <a:srgbClr val="0F172A"/>
                </a:solidFill>
                <a:latin typeface="Cairo"/>
              </a:defRPr>
            </a:pPr>
            <a:r>
              <a:t>• التغطية الشاملة لجميع المتطلبات: الاختبارات غطت وحدات التشفير والمصافحة فقط وليس كافة الـ 31 متطلباً.</a:t>
            </a:r>
          </a:p>
          <a:p>
            <a:pPr>
              <a:spcBef>
                <a:spcPts val="400"/>
              </a:spcBef>
              <a:defRPr sz="1050">
                <a:solidFill>
                  <a:srgbClr val="0F172A"/>
                </a:solidFill>
                <a:latin typeface="Cairo"/>
              </a:defRPr>
            </a:pPr>
            <a:r>
              <a:t>• مصفوفة التتبع: موثقة بالكامل في docs/TraceabilityMatrix.md لتوضيح حالة كل متطلب.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
            <a:ext cx="7772400" cy="365760"/>
          </a:xfrm>
          <a:prstGeom prst="rect">
            <a:avLst/>
          </a:prstGeom>
          <a:noFill/>
        </p:spPr>
        <p:txBody>
          <a:bodyPr wrap="square">
            <a:spAutoFit/>
          </a:bodyPr>
          <a:lstStyle/>
          <a:p>
            <a:pPr>
              <a:defRPr sz="1100" b="1">
                <a:solidFill>
                  <a:srgbClr val="0284C7"/>
                </a:solidFill>
                <a:latin typeface="Cairo"/>
              </a:defRPr>
            </a:pPr>
            <a:r>
              <a:t>• الأمانة الأكاديمية وخارطة الطريق | مشروع LOCAL CONTACT P2P</a:t>
            </a:r>
          </a:p>
        </p:txBody>
      </p:sp>
      <p:sp>
        <p:nvSpPr>
          <p:cNvPr id="4" name="Rounded Rectangle 3"/>
          <p:cNvSpPr/>
          <p:nvPr/>
        </p:nvSpPr>
        <p:spPr>
          <a:xfrm>
            <a:off x="10515600" y="228600"/>
            <a:ext cx="914400" cy="320040"/>
          </a:xfrm>
          <a:prstGeom prst="roundRect">
            <a:avLst/>
          </a:prstGeom>
          <a:solidFill>
            <a:srgbClr val="0F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onsolas"/>
              </a:defRPr>
            </a:pPr>
            <a:r>
              <a:t>12 / 12</a:t>
            </a:r>
          </a:p>
        </p:txBody>
      </p:sp>
      <p:sp>
        <p:nvSpPr>
          <p:cNvPr id="5" name="TextBox 4"/>
          <p:cNvSpPr txBox="1"/>
          <p:nvPr/>
        </p:nvSpPr>
        <p:spPr>
          <a:xfrm>
            <a:off x="731520" y="594360"/>
            <a:ext cx="8686800" cy="548640"/>
          </a:xfrm>
          <a:prstGeom prst="rect">
            <a:avLst/>
          </a:prstGeom>
          <a:noFill/>
        </p:spPr>
        <p:txBody>
          <a:bodyPr wrap="square">
            <a:spAutoFit/>
          </a:bodyPr>
          <a:lstStyle/>
          <a:p>
            <a:pPr>
              <a:defRPr sz="2000" b="1">
                <a:solidFill>
                  <a:srgbClr val="0F2B5C"/>
                </a:solidFill>
                <a:latin typeface="Cairo"/>
              </a:defRPr>
            </a:pPr>
            <a:r>
              <a:t>الفجوات الأمنية المتبقية والتحسينات المستقبلية</a:t>
            </a:r>
          </a:p>
        </p:txBody>
      </p:sp>
      <p:sp>
        <p:nvSpPr>
          <p:cNvPr id="6" name="TextBox 5"/>
          <p:cNvSpPr txBox="1"/>
          <p:nvPr/>
        </p:nvSpPr>
        <p:spPr>
          <a:xfrm>
            <a:off x="731520" y="1078992"/>
            <a:ext cx="8686800" cy="365760"/>
          </a:xfrm>
          <a:prstGeom prst="rect">
            <a:avLst/>
          </a:prstGeom>
          <a:noFill/>
        </p:spPr>
        <p:txBody>
          <a:bodyPr wrap="square">
            <a:spAutoFit/>
          </a:bodyPr>
          <a:lstStyle/>
          <a:p>
            <a:pPr>
              <a:defRPr sz="1150">
                <a:solidFill>
                  <a:srgbClr val="475569"/>
                </a:solidFill>
                <a:latin typeface="Cairo"/>
              </a:defRPr>
            </a:pPr>
            <a:r>
              <a:t>الاعتراف العلمي بالحدود الحالية وتحديد أولويات التطوير للمرحلة القادمة</a:t>
            </a:r>
          </a:p>
        </p:txBody>
      </p:sp>
      <p:sp>
        <p:nvSpPr>
          <p:cNvPr id="7" name="Rounded Rectangle 6"/>
          <p:cNvSpPr/>
          <p:nvPr/>
        </p:nvSpPr>
        <p:spPr>
          <a:xfrm>
            <a:off x="9144000" y="685800"/>
            <a:ext cx="2286000" cy="347472"/>
          </a:xfrm>
          <a:prstGeom prst="roundRect">
            <a:avLst/>
          </a:prstGeom>
          <a:solidFill>
            <a:srgbClr val="1E40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Consolas"/>
              </a:defRPr>
            </a:pPr>
            <a:r>
              <a:t>ROADMAP</a:t>
            </a:r>
          </a:p>
        </p:txBody>
      </p:sp>
      <p:sp>
        <p:nvSpPr>
          <p:cNvPr id="8" name="Rectangle 7"/>
          <p:cNvSpPr/>
          <p:nvPr/>
        </p:nvSpPr>
        <p:spPr>
          <a:xfrm>
            <a:off x="731520" y="1463040"/>
            <a:ext cx="10725912"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645920"/>
            <a:ext cx="2542032" cy="329184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1. قناة التحقق SAS</a:t>
            </a:r>
          </a:p>
          <a:p>
            <a:pPr>
              <a:spcBef>
                <a:spcPts val="400"/>
              </a:spcBef>
              <a:defRPr sz="1050">
                <a:solidFill>
                  <a:srgbClr val="0F172A"/>
                </a:solidFill>
                <a:latin typeface="Cairo"/>
              </a:defRPr>
            </a:pPr>
            <a:r>
              <a:t>• مقارنة كود بصري أو صوتي (Short Auth String) أو مسح QR في أول لقاء لإغلاق ثغرة MITM الأولى نهائياً.</a:t>
            </a:r>
          </a:p>
        </p:txBody>
      </p:sp>
      <p:sp>
        <p:nvSpPr>
          <p:cNvPr id="10" name="Rounded Rectangle 9"/>
          <p:cNvSpPr/>
          <p:nvPr/>
        </p:nvSpPr>
        <p:spPr>
          <a:xfrm>
            <a:off x="3456432" y="1645920"/>
            <a:ext cx="2542032" cy="329184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2. حماية الـ Replay الكاملة</a:t>
            </a:r>
          </a:p>
          <a:p>
            <a:pPr>
              <a:spcBef>
                <a:spcPts val="400"/>
              </a:spcBef>
              <a:defRPr sz="1050">
                <a:solidFill>
                  <a:srgbClr val="0F172A"/>
                </a:solidFill>
                <a:latin typeface="Cairo"/>
              </a:defRPr>
            </a:pPr>
            <a:r>
              <a:t>• إضافة أرقام تسلسلية (Sequence Numbers) مع نافذة منزلقة (Sliding Window) لرفض الحزم القديمة المكررة.</a:t>
            </a:r>
          </a:p>
        </p:txBody>
      </p:sp>
      <p:sp>
        <p:nvSpPr>
          <p:cNvPr id="11" name="Rounded Rectangle 10"/>
          <p:cNvSpPr/>
          <p:nvPr/>
        </p:nvSpPr>
        <p:spPr>
          <a:xfrm>
            <a:off x="6181344" y="1645920"/>
            <a:ext cx="2542032" cy="329184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3. فحص الملف الكامل</a:t>
            </a:r>
          </a:p>
          <a:p>
            <a:pPr>
              <a:spcBef>
                <a:spcPts val="400"/>
              </a:spcBef>
              <a:defRPr sz="1050">
                <a:solidFill>
                  <a:srgbClr val="0F172A"/>
                </a:solidFill>
                <a:latin typeface="Cairo"/>
              </a:defRPr>
            </a:pPr>
            <a:r>
              <a:t>• حساب بصمة SHA-256 لكامل الملف بعد اكتمال تجميع كتل .part للتأكد من سلامة المحتوى الإجمالي.</a:t>
            </a:r>
          </a:p>
        </p:txBody>
      </p:sp>
      <p:sp>
        <p:nvSpPr>
          <p:cNvPr id="12" name="Rounded Rectangle 11"/>
          <p:cNvSpPr/>
          <p:nvPr/>
        </p:nvSpPr>
        <p:spPr>
          <a:xfrm>
            <a:off x="8906256" y="1645920"/>
            <a:ext cx="2542032" cy="329184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B5C"/>
                </a:solidFill>
                <a:latin typeface="Cairo"/>
              </a:defRPr>
            </a:pPr>
            <a:r>
              <a:t>4. مفاتيح المجموعات</a:t>
            </a:r>
          </a:p>
          <a:p>
            <a:pPr>
              <a:spcBef>
                <a:spcPts val="400"/>
              </a:spcBef>
              <a:defRPr sz="1050">
                <a:solidFill>
                  <a:srgbClr val="0F172A"/>
                </a:solidFill>
                <a:latin typeface="Cairo"/>
              </a:defRPr>
            </a:pPr>
            <a:r>
              <a:t>• تطبيق بروتوكول شجرة المفاتيح (Group Keys) لتشفير الغرف الجماعية ومسارات بث الوسائط بمفاتيح ديناميكية.</a:t>
            </a:r>
          </a:p>
        </p:txBody>
      </p:sp>
      <p:sp>
        <p:nvSpPr>
          <p:cNvPr id="13" name="Rounded Rectangle 12"/>
          <p:cNvSpPr/>
          <p:nvPr/>
        </p:nvSpPr>
        <p:spPr>
          <a:xfrm>
            <a:off x="731520" y="5120640"/>
            <a:ext cx="10725912" cy="1371600"/>
          </a:xfrm>
          <a:prstGeom prst="roundRect">
            <a:avLst/>
          </a:prstGeom>
          <a:solidFill>
            <a:srgbClr val="EFF6FF"/>
          </a:solidFill>
          <a:ln w="19050">
            <a:solidFill>
              <a:srgbClr val="1E40A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0F2B5C"/>
                </a:solidFill>
                <a:latin typeface="Cairo"/>
              </a:defRPr>
            </a:pPr>
            <a:r>
              <a:t>🎓 الخلاصة الهندسية والتوصية الختامية:</a:t>
            </a:r>
          </a:p>
          <a:p>
            <a:pPr>
              <a:spcBef>
                <a:spcPts val="400"/>
              </a:spcBef>
              <a:defRPr sz="1050">
                <a:solidFill>
                  <a:srgbClr val="0F172A"/>
                </a:solidFill>
                <a:latin typeface="Cairo"/>
              </a:defRPr>
            </a:pPr>
            <a:r>
              <a:t>تحول مشروع LOCAL CONTACT من تطبيق بسيط يعتمد على مفتاح ثابت مكشوف إلى نظام شبكي P2P مهيكل وفق أحدث مبادئ هندسة البرمجيات (SRS, Baseline, RTM) ومحصن بنواة تشفير معتمدة (AES-256-GCM, ECDH P-256, HKDF, Keystore, TOFU) مع مصفوفة تتبع صارمة تفصل بوضوح بين ما تم إثباته برمجياً وما يزال قيد التحسين المستقبلي.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
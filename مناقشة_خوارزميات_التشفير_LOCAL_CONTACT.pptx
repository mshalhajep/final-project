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نرحب بلجنة التحكيم. نناقش اليوم التصميم الأمني والتشفير لنظام LOCAL CONTACT. تم إعداد العمل بواسطة: مشعل حاجب، قحطان، محمد العيدروس، أواب النزيلي، ومحمد العواضي.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نوضح هنا الثغرة السابقة: التطبيق كان يشتق مفتاحاً ثابتاً موحداً من عبارة واحدة داخل LocalCryptoEngine. كشف هذا المفتاح يعرض كل الجلسات السابقة للفك. هذا ما دفعنا لإعادة هندسة التشفير بالكامل.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شريحة التشفير المتماثل: اعتمدنا AES-256-GCM لأنه نمط AEAD يوفر سرية ومصادقة معاً عبر وسم 128 بت ورقم عشوائي فريد 12 بايت لكل حزمة، ومثبت بـ 10 اختبارات JVM ناجحة.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تبادل المفاتيح ECDH: كل طرف يولد مفاتيح مؤقتة P-256، ويتبادلان المفاتيح العامة لحساب نفس السر المشترك دون إرساله على الشبكة. تم إثباتها بـ 8 اختبارات ناجحة.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دالة HKDF-SHA256: السر الناتج من ECDH يتم استخلاصه وتوسيعه وفق معيار RFC 5869 لاشتقاق مفتاحي TX و RX منفصلين تماماً. أثبتنا الدالة بمطابقة نواقل الاختبار الرسمية.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إدارة الجلسات: يتولى PeerSessionKeyManager عزل مفاتيح كل جهاز متصل، والاحتفاظ بها في الذاكرة العشوائية فقط، وإتلافها فور انتهاء الجلسة لضمان أقصى حماية.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هوية الأجهزة: نستخدم Android Keystore لحفظ مفتاح هوية خاص داخل رقاقة الأمان بالعتاد. يوقع الجهاز عبر ECDSA حزم المصافحة لمنع الانتحال وإثبات هوية الطرفين.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نموذج الثقة TOFU: النظام يعمل بدون خادم مركزي، لذا نعتمد نموذج الثقة عند أول اتصال مثل SSH. يتم حفظ بصمة SHA-256 للقرين محلياً، وإذا تغير مفتاحه لاحقاً يرفض التطبيق الاتصال.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المصافحة المشفرة: تتم في 4 خطوات واضحة لتبادل المفاتيح المؤقتة والتوقيعات الرقمية والبصمات، ثم اشتقاق مفاتيح الجلسة وتأكيدها قبل السماح بنقل أي رسالة أو مكالمة.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تأمين الوسائط: الملفات تُقسّم إلى كتل مشفرة مع قيمة عشوائية مستقلة لكل كتلة لدعم الاستئناف الآمن. والصوت والفيديو يُشفران بـ AES-GCM عبر UDP مع إسقاط أي حزمة معدلة.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التحقق البرمجي: 33 اختبار وحدة آلي تم بناؤها وتشغيلها بنجاح 100% عبر Gradle. أثبتت صحة التشفير، وتبادل المفاتيح، ودوال HKDF دون أي خلل منطقي أو رياضي.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الأكاديمية:</a:t>
            </a:r>
          </a:p>
          <a:p>
            <a:r>
              <a:t>الخاتمة الأمنية: نعترف بالقيود بأمانة علمية: نحتاج مستقبلاً لإضافة SAS لمنع MITM في اللقاء الأول، وتشفير الغرف بمفاتيح جماعية. ونؤكد أن النظام انتقل لبنية تشفير عالمية موثقة ومختبرة.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0881360" cy="6126480"/>
          </a:xfrm>
          <a:prstGeom prst="roundRect">
            <a:avLst/>
          </a:prstGeom>
          <a:noFill/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1" lang="ar-SA" rtl="1">
                <a:solidFill>
                  <a:srgbClr val="C59B27"/>
                </a:solidFill>
                <a:latin typeface="Cairo"/>
              </a:rPr>
              <a:t>مشروع التخرج الأكاديمي: </a:t>
            </a:r>
            <a:r>
              <a:rPr sz="1600" b="1" lang="en-US" rtl="0">
                <a:solidFill>
                  <a:srgbClr val="FFFFFF"/>
                </a:solidFill>
                <a:latin typeface="Segoe UI"/>
              </a:rPr>
              <a:t>LOCAL 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600" b="1" lang="ar-SA" rtl="1">
                <a:solidFill>
                  <a:srgbClr val="FFFFFF"/>
                </a:solidFill>
                <a:latin typeface="Cairo"/>
              </a:rPr>
              <a:t>التصميم الأمني والتشفير المتقدم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800" b="1" lang="ar-SA" rtl="1">
                <a:solidFill>
                  <a:srgbClr val="E4BB41"/>
                </a:solidFill>
                <a:latin typeface="Cairo"/>
              </a:rPr>
              <a:t>هندسة خوارزميات التشفير وإدارة المفاتيح في نظام اتصال محلي مستقل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54864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Offline Local P2P Communication  |  Applied Cryptography &amp; Security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10515600" cy="237744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800" b="1" lang="ar-SA" rtl="1">
                <a:solidFill>
                  <a:srgbClr val="FFFFFF"/>
                </a:solidFill>
                <a:latin typeface="Cairo"/>
              </a:rPr>
              <a:t>إعداد الطلاب: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١. مشعل حاجب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٢. قحطان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٣. محمد العيدروس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٤. أواب النزيلي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434840"/>
            <a:ext cx="1920240" cy="82296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FFFFFF"/>
                </a:solidFill>
                <a:latin typeface="Cairo"/>
              </a:rPr>
              <a:t>٥. محمد العواضي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200" b="0" lang="ar-SA" rtl="1">
                <a:solidFill>
                  <a:srgbClr val="9E7B1E"/>
                </a:solidFill>
                <a:latin typeface="Cairo"/>
              </a:rPr>
              <a:t>العرض النهائي الأكاديمي  •  12 شريحة محكمة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تشخيص الوضع السابق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مخاطر المفتاح الثابت قبل التحسين الأمني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B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B6464"/>
                </a:solidFill>
                <a:latin typeface="Segoe UI"/>
              </a:rPr>
              <a:t>STATIC KEY VULNERABILITY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B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المفتاح المشترك الموحد</a:t>
            </a:r>
          </a:p>
          <a:p>
            <a:pPr algn="r" rtl="0"/>
            <a:r>
              <a:rPr sz="1300" b="1" lang="en-US" rtl="0">
                <a:solidFill>
                  <a:srgbClr val="EB6464"/>
                </a:solidFill>
                <a:latin typeface="Segoe UI"/>
              </a:rPr>
              <a:t>[PBKDF2 Static Key]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اشتقاق مفتاح تشفير ثابت لجميع الأجهزة من عبارة مرور موحدة مدمجة بالكود المصدري.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B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انعدام السرية المستقبلية</a:t>
            </a:r>
          </a:p>
          <a:p>
            <a:pPr algn="r" rtl="0"/>
            <a:r>
              <a:rPr sz="1300" b="1" lang="en-US" rtl="0">
                <a:solidFill>
                  <a:srgbClr val="EB6464"/>
                </a:solidFill>
                <a:latin typeface="Segoe UI"/>
              </a:rPr>
              <a:t>[No Forward Secrecy]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كشف المفتاح الثابت عبر الهندسة العكسية يؤدي لفك تشفير جميع المحادثات المسجلة سابقاً.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غياب تبادل المفاتيح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[No Dynamic Exchange]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عدم وجود بروتوكول مصافحة ديناميكي لتوليد أسرار مشتركة مستقلة لكل محادثة.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غياب الهوية الرقمية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[No Keystore Identity]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اعتماد الأجهزة على معرفات عشوائية دون إثبات رقمي يمنع هجمات الانتحال والتنصت.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الملف السابق المسؤول عن الثغرة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app/src/main/java/com/example/network/LocalCryptoEngine.kt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التشفير المتماثل المعتمد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التشفير المتماثل وسلامة البيانات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AES-256-GCM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السرية التامة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[Confidentiality: 256-bit Key]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يمنع قراءة محتوى الرسائل أو الوسائط دون امتلاك مفتاح التشفير المتماثل القياسي.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سلامة البيانات والمصادقة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[Authentication Tag: 128-bit]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يكشف فوراً أي تعديل أو تلاعب في محتوى النص المشفر ويرفض استلامه تلقائياً.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رقم العشوائية الفريد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[Nonce: 12 bytes (96-bit)]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يُستخدم رقم عشوائي فريد ومستقل مع كل عملية تشفير لمنع هجمات إعادة الإرسال والتكرار.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التحقق البرمجي المؤتمت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[10/10 JVM Unit Tests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اجتياز كامل لاختبارات الوحدة الآلية للتشفير وفك التشفير ورفض المفاتيح الخاطئة.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محرك التشفير المتماثل المعتمد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app/src/main/java/com/example/network/LocalCryptoEngine.kt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تبادل المفاتيح الديناميكي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تبادل المفاتيح وتأمين السرية التامة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ECDH (NIST P-256)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المنحنى الإهليلجي المعتمد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[secp256r1 / NIST P-256]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استخدام المنحنى القياسي المعتمد دولياً والمدعوم في عتاد أندرويد دون مكتبات خارجية.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المفاتيح المؤقتة للجلسة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[Ephemeral Key Pairs]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توليد زوج مفاتيح مؤقت وجديد تماماً لكل محادثة بين طرفين لضمان العزل الكامل.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السرية التوجيهية المستقبلية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[Forward Secrecy Enforced]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إتلاف المفتاح الخاص المؤقت فور حساب السر المشترك؛ يستحيل فك المحادثات السابقة لاحقاً.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التحقق البرمجي المؤتمت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[8/8 JVM Tests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إثبات توليد المفاتيح، تصدير المفتاح العام، وتطابق السر المشترك للطرفين آلياً.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محرك تبادل المفاتيح المؤقتة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app/src/main/java/com/example/network/EcdhEngine.kt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اشتقاق مفاتيح الجلسات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دالة اشتقاق المفاتيح القياسية المستقلة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HKDF-SHA256 (RFC 5869)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مرحلة الاستخلاص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[HKDF-Extract Stage]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تحويل السر المشترك الناتج من تبادل المفاتيح مع الملح إلى مفتاح عالي الإنتروبيا.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مرحلة التوسيع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[HKDF-Expand Stage]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اشتقاق مفاتيح تشفير مستقلة بطول 256 بت باستخدام سياقات مختلفة لكل مسار.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فصل قنوات الإرسال والاستقبال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[Separate TX / RX Keys]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اشتقاق مفتاح مستقل للإرسال ومفتاح مستقل للاستقبال لمنع هجمات الانعكاس والخلط.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مطابقة المعايير الدولية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[RFC 5869 Test Vectors: 8/8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مطابقة تامة لنواقل الاختبار القياسية المنصوص عليها في وثيقة المعيار الدولي.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حزمة اختبارات اشتقاق المفاتيح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app/src/test/java/com/example/network/KeyDerivationTest.kt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إدارة الجلسات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إدارة مفاتيح الجلسات المؤقتة في الذاكرة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Session Key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عزل الجلسات النشطة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[Peer Session Isolation]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جدول مفاتيح مستقل لكل جهاز قرين متصل، مما يمنع تسرب أو تداخل البيانات بين المحادثات.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الحفظ في الذاكرة الحية فقط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[RAM-Only Key Storage]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عدم كتابة مفاتيح الجلسات في قاعدة البيانات أو التخزين الدائم لضمان الأمان الفوري.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إتلاف المفاتيح التلقائي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[Automatic Key Wipeout]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حذف المفاتيح من الذاكرة فور انتهاء المحادثة أو إغلاق التطبيق أو انقطاع الاتصال.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حالة الدمج البرمجي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[Integrated in Codebase]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مدمج بالكامل في هيكل المشروع البرمجي لتزويد المحركات بالمفاتيح النشطة.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مدير مفاتيح الجلسات المؤقتة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app/src/main/java/com/example/network/PeerSessionKeyManager.kt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هوية الأجهزة والتوقيع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حماية هوية الأجهزة والتوقيع الرقمي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Android Keystore &amp; ECDSA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التخزين في العتاد الآمن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[Hardware-Backed TEE / StrongBox]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توليد وحفظ مفاتيح الهوية طويلة الأمد داخل رقاقة المعالج الآمن في الهاتف.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استحالة استخراج المفتاح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[Non-Exportable Private Key]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المفتاح الخاص غير قابل للتصدير أو السرقة من النظام حتى مع امتلاك صلاحيات كاملة.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التوقيع الرقمي للمصافحة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[Digital Signature: ECDSA SHA-256]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توقيع حزم المصافحة لإثبات ملكية الجهاز لهويته ومنع انتحال الشخصية على الشبكة.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التوقيع المرتبط بالسياق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[Context-Bound Signature]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ربط التوقيع برقم عشوائي ومعرف الجلسة لمنع هجمات إعادة استخدام التوقيعات السابقة.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مدير هوية الجهاز والتوقيع الرقمي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app/src/main/java/com/example/network/KeystoreIdentityManager.kt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نموذج الثقة اللامركزي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تثبيت الهوية وبصمات المفاتيح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Peer Trust Store (TOFU)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العمل دون خادم شهادات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[Decentralized Zero-PKI Model]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شبكة محلية مغلقة تعمل بمعزل عن الإنترنت دون الحاجة لسلطة شهادات مركزية.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بصمة المفتاح العام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[SHA-256 Device Fingerprint]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حساب بصمة مشفرة ومختصرة للمفتاح العام للقرين لتسهيل المطابقة والمقارنة.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الثقة عند أول اتصال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[Trust On First Use (TOFU)]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حفظ بصمة المفتاح محلياً عند أول لقاء ناجح وتثبيتها كمرجع دائم للهوية.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كشف التغيير المريب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[Key Change Alert Enforced]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إطلاق تنبيه أمني فوري ورفض الاتصال إذا تغير مفتاح القرين المسجل مسبقاً.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مخزن الثقة وتثبيت البصمات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app/src/main/java/com/example/network/PeerTrustStore.kt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بروتوكول المصافحة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خطوات بروتوكول المصافحة والتفاوض الآمن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Handshake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المرحلة الأولى: طلب المصافحة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[Step 1: Handshake Init]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المرسل يولد مفتاح تبادل مؤقت ويرسله مصحوباً برقم عشوائي وبصمة هويته.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المرحلة الثانية: رد المصافحة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[Step 2: Handshake Response]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المستقبل يولد مفتاحه المؤقت ويرد مع توقيع رقمي يثبت ملكيته للمفتاح والهوية.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المرحلة الثالثة: التحقق والاشتقاق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[Step 3: Verify &amp; Derive]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الطرفان يتحققان من التوقيع والبصمة، ويحسبان السر المشترك ويشتقان مفاتيح الجلسة.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المرحلة الرابعة: التأكيد المشفر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[Step 4: Session Active]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إرسال حزمة تأكيد مشفرة بمفتاح الجلسة الجديد والانتقال الآمن لقناة البيانات.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أدوات بروتوكول المصافحة المشفرة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app/src/main/java/com/example/network/HandshakeCryptoUtils.kt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تحصين الوسائط والملفات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تأمين نقل كتل الملفات وتدفق الصوت والفيديو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4B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4BB41"/>
                </a:solidFill>
                <a:latin typeface="Segoe UI"/>
              </a:rPr>
              <a:t>Streaming &amp; Media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تجزئة الملفات التدفّقية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[64KB Chunks over TCP: 8891]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قراءة وتشفير الملفات في هيئة كتل 64 كيلوبايت لتفادي استنزاف الذاكرة وحوادث الانهيار.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اشتقاق أرقام عشوائية للكتل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[deriveChunkNonce() Logic]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حساب رقم عشوائي فريد لكل كتلة يضمن أمان التشفير ودعم استئناف النقل بعد الانقطاع.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تشفير عينات الصوت الحية</a:t>
            </a:r>
          </a:p>
          <a:p>
            <a:pPr algn="r" rtl="0"/>
            <a:r>
              <a:rPr sz="1300" b="1" lang="en-US" rtl="0">
                <a:solidFill>
                  <a:srgbClr val="E4BB41"/>
                </a:solidFill>
                <a:latin typeface="Segoe UI"/>
              </a:rPr>
              <a:t>[UDP: 8889 (Audio) &amp; 8890 (Video)]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تشفير فوري لعينات الصوت الخام وإطارات الفيديو المباشرة بزمن كمون منخفض جداً.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إسقاط الإطارات المتلاعب بها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[AEADBadTagException Handled]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اعتراض أي إطار وسائط يفشل في المصادقة وإسقاطه فوراً لمنع هجمات الحقن الصوتي.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محرك نقل الملفات المشفرة وتدفق الوسائط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app/src/main/java/com/example/network/FileTransferEngine.kt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التحقق والاختبارات الآلية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مصفوفة التحقق البرمجي المؤتمت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4AC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4AC88C"/>
                </a:solidFill>
                <a:latin typeface="Segoe UI"/>
              </a:rPr>
              <a:t>33/33 JVM Tests Passed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اختبارات التشفير المتماثل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[LocalCryptoEngineTest: 10/10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إثبات تشفير وفك تشفير البيانات بوضع العداد المصادق، ورفض المفاتيح الخاطئة، وكشف التلاعب.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اختبارات تبادل المفاتيح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[EcdhEngineTest: 8/8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إثبات توليد مفاتيح المنحنى القياسي، وتطابق السر المشترك للطرفين، واستيراد المفاتيح.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اختبارات اشتقاق المفاتيح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[KeyDerivationTest: 8/8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إثبات مطابقة دالة اشتقاق المفاتيح لنواقل الاختبار القياسية الصادرة عن المعيار الدولي.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اختبارات تكامل البروتوكول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[CryptoEngineTest: 7/7 Passed]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إثبات تكامل بروتوكول الجلسات المشفرة وحماية الرسائل المتسلسلة من التعديل.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حزم الاختبارات الآلية المنفذة بنجاح تام 100% عبر أداة البناء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app/src/test/java/com/example/network/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C59B27"/>
                </a:solidFill>
                <a:latin typeface="Cairo"/>
              </a:rPr>
              <a:t>مشروع الاتصال المحلي المباشر  •  النزاهة الأكاديمية والحدود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9E7B1E"/>
                </a:solidFill>
                <a:latin typeface="Segoe UI"/>
              </a:rPr>
              <a:t>Slide 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900" b="1" lang="ar-SA" rtl="1">
                <a:solidFill>
                  <a:srgbClr val="FFFFFF"/>
                </a:solidFill>
                <a:latin typeface="Cairo"/>
              </a:rPr>
              <a:t>الحدود الأمنية الحالية وما لم يُنفّذ بعد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052A2B"/>
          </a:solidFill>
          <a:ln w="19050">
            <a:solidFill>
              <a:srgbClr val="E6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50" b="1" lang="en-US" rtl="0">
                <a:solidFill>
                  <a:srgbClr val="E6A032"/>
                </a:solidFill>
                <a:latin typeface="Segoe UI"/>
              </a:rPr>
              <a:t>Honest Academic Boundaries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9E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9E7B1E"/>
                </a:solidFill>
                <a:latin typeface="Cairo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6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التحقق البصري الشفهي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[Proposed: SAS / QR Code Verification]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نموذج TOFU يحمي الاتصال بعد أول لقاء، لكن أول اتصال يظل بحاجة لمقارنة بصرية للبصمة.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6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تجزئة الملف الكامل النهائي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[Proposed: Full File SHA-256 Checksum]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كتل الملفات مشفرة ومصادقة أثناء النقل، لكن تنقص مقارنة الـ Hash للملف النهائي.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E6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مفاتيح الغرف الجماعية</a:t>
            </a:r>
          </a:p>
          <a:p>
            <a:pPr algn="r" rtl="0"/>
            <a:r>
              <a:rPr sz="1300" b="1" lang="en-US" rtl="0">
                <a:solidFill>
                  <a:srgbClr val="E6A032"/>
                </a:solidFill>
                <a:latin typeface="Segoe UI"/>
              </a:rPr>
              <a:t>[Proposed: Group Key Exchange]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المحادثات الجماعية لا تزال تعتمد على المفتاح المشترك للتوافق وتفتقر لتبادل مفاتيح جماعي.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084042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FFFFFF"/>
                </a:solidFill>
                <a:latin typeface="Cairo"/>
              </a:rPr>
              <a:t>الخلاصة الهندسية والنتيجة</a:t>
            </a:r>
          </a:p>
          <a:p>
            <a:pPr algn="r" rtl="0"/>
            <a:r>
              <a:rPr sz="1300" b="1" lang="en-US" rtl="0">
                <a:solidFill>
                  <a:srgbClr val="4AC88C"/>
                </a:solidFill>
                <a:latin typeface="Segoe UI"/>
              </a:rPr>
              <a:t>[Enterprise Security Transformation]</a:t>
            </a:r>
          </a:p>
          <a:p>
            <a:pPr algn="r" rtl="1"/>
            <a:r>
              <a:rPr sz="1500" b="0" lang="ar-SA" rtl="1">
                <a:solidFill>
                  <a:srgbClr val="DEECE9"/>
                </a:solidFill>
                <a:latin typeface="Cairo"/>
              </a:rPr>
              <a:t>انتقال نوعي للمشروع من تطبيق بسيط بمفتاح مكشوف إلى معمارية تشفير رصينة ومختبرة.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052A2B"/>
          </a:solidFill>
          <a:ln w="12700">
            <a:solidFill>
              <a:srgbClr val="9E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C59B27"/>
                </a:solidFill>
                <a:latin typeface="Cairo"/>
              </a:rPr>
              <a:t>المكون البرمجي: توثيق القيود والحدود الأمنية في مصفوفة التتبع الرسمية  |  </a:t>
            </a:r>
            <a:r>
              <a:rPr sz="1200" b="1" lang="en-US" rtl="0">
                <a:solidFill>
                  <a:srgbClr val="A5EBD2"/>
                </a:solidFill>
                <a:latin typeface="Consolas"/>
              </a:rPr>
              <a:t>docs/TraceabilityMatrix.md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
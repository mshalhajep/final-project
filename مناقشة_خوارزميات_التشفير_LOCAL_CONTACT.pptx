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نبدأ المناقشة بالترحيب بلجنة التحكيم. نناقش اليوم التصميم الأمني لنظام LOCAL CONTACT. هذا النظام يعمل P2P دون إنترنت أو خادم وسيط. نقدم العرض كفريق عمل مكون من: مشعل حاجب، قحطان، محمد العيدروس، أواب النزيلي، ومحمد العواضي.</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نوضح هنا للدكتور الثغرة السابقة: التطبيق كان يستخدم AES-GCM لكن المفتاح كان ثابتاً ومشتقاً من كلمة مرور واحدة في الكلاس LocalCryptoEngine. كشف المفتاح كان يكسر أمان كل المحادثات الماضية. هذا ما دفعنا لإعادة هندسة التشفير.</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نؤكد للدكتور أننا اخترنا AES-256-GCM لأنه نمط AEAD يقدم سرية ومصادقة معاً. وسم الـ Tag يكشف أي عبث بالبايتات ويرفض فك التشفير، والـ Nonce الفريد يمنع كسر الـ GCM. تم إثبات كل ذلك بـ 10 اختبارات JVM ناجحة.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هنا نوضح كيف حلت خوارزمية ECDH مشكلة المفتاح الثابت: الطرفان يولدان مفاتيح مؤقتة P-256، يتبادلان المفاتيح العامة، ويحسبان نفس السر المشترك دون إرساله على الشبكة. بمجرد انتهاء المحادثة يُحذف المفتاح الخاص من الذاكرة محققاً Forward Secrecy.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نشرح للدكتور خطوة HKDF-SHA256: السر المشترك الناتج من ECDH لا يصلح كمفتاح AES مباشرة لأنه قد يحتوي على تحيز إحصائي. نطبق RFC 5869 عبر مرحلتي Extract و Expand لتوليد مفاتيح تشفير مستقلة للإرسال والاستقبال. تم اختبار ذلك بنواقل RFC الرسمية.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نوضح هنا كيفية إدارة المفاتيح عملياً عبر PeerSessionKeyManager: كل جهاز متصل يحصل على جلسة خاصة به ومفاتيح منفصلة مخزنة في الذاكرة العشوائية فقط، مما يعزل المستخدمين ويمنع تسرب البيانات بين المحادثات المختلفة.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نشرح للدكتور كيف أمّنا هوية الجهاز: لا نعتمد على مجرد IP أو اسم عشوائي، بل نولد مفتاح هوية غير قابل للاستخراج داخل Android Keystore المحمي بالعتاد. يستخدم الجهاز المفتاح لتوقيع حزم المصافحة عبر ECDSA لإثبات هويته دون تسريب المفتاح الخاص.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نبيّن هنا كيف تحل مشكلة الثقة دون سيرفر مركزي: نستخدم نموذج TOFU مثل بروتوكول SSH. يتم حفظ بصمة المفتاح العام SHA-256 للمستخدم في PeerTrustStore. إذا حاول أي مهاجم انتحال هويته مستقبلاً بمفتاح آخر، يرفض التطبيق الاتصال فوراً.</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نستعرض للأستاذ بروتوكول المصافحة المكون من 4 خطوات: يتم تبادل المفاتيح المؤقتة والتوقيعات الرقمية والبصمات، ثم يتم اشتقاق مفاتيح الجلسة وتأكيدها بحزمة مشفرة قبل السماح بمرور أي رسالة نصية أو مكالمة صوتية.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نبيّن هنا حماية الوسائط: الملفات تُقسّم إلى كتل 64KB وتشفّر مع Nonce مستقل لكل كتلة لضمان استئناف آمن. والصوت والفيديو يُشفران بنمط AES-GCM الفوري عبر UDP مع إسقاط الحزم التي تفشل في المصادقة لمنع هجمات الحقن الصوتي.</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نقدم للدكتور برهان النجاح البرمجي: 33 اختبار وحدة آلي تم بناؤها واختبارها عبر Gradle ونجحت بالكامل بنسبة 100%. أثبتت الاختبارات أن التشفير سليم، وأن التلاعب بالبايتات يتم كشفه وإسقاطه، وأن دوال HKDF مطابقة لمعايير RFC.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نص العرض الشفهي للمناقشة أمام اللجنة:</a:t>
            </a:r>
          </a:p>
          <a:p>
            <a:r>
              <a:t>نختم العرض بالأمانة العلمية: نعترف بوضوح بالقيود التي ما زالت تحتاج تطويراً مثل إضافة كود SAS لمنع MITM في اللقاء الأول، وتشفير الغرف بمفاتيح جماعية. ونؤكد أن المشروع قفز قفزة نوعية من كود بمفتاح ثابت إلى بنية تشفير متكاملة وموثقة ومختبرة. شكراً لكم ومستعدون للمناقشة.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8600"/>
          </a:xfrm>
          <a:prstGeom prst="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11480"/>
          </a:xfrm>
          <a:prstGeom prst="rect">
            <a:avLst/>
          </a:prstGeom>
          <a:noFill/>
        </p:spPr>
        <p:txBody>
          <a:bodyPr wrap="none">
            <a:spAutoFit/>
          </a:bodyPr>
          <a:lstStyle/>
          <a:p>
            <a:pPr>
              <a:defRPr sz="1500" b="1">
                <a:solidFill>
                  <a:srgbClr val="1E40AF"/>
                </a:solidFill>
                <a:latin typeface="Arial"/>
              </a:defRPr>
            </a:pPr>
            <a:r>
              <a:t>LOCAL CONTACT  •  Offline Local P2P Communication</a:t>
            </a:r>
          </a:p>
        </p:txBody>
      </p:sp>
      <p:sp>
        <p:nvSpPr>
          <p:cNvPr id="4" name="TextBox 3"/>
          <p:cNvSpPr txBox="1"/>
          <p:nvPr/>
        </p:nvSpPr>
        <p:spPr>
          <a:xfrm>
            <a:off x="822960" y="1143000"/>
            <a:ext cx="10515600" cy="1005840"/>
          </a:xfrm>
          <a:prstGeom prst="rect">
            <a:avLst/>
          </a:prstGeom>
          <a:noFill/>
        </p:spPr>
        <p:txBody>
          <a:bodyPr wrap="square">
            <a:spAutoFit/>
          </a:bodyPr>
          <a:lstStyle/>
          <a:p>
            <a:pPr>
              <a:defRPr sz="3600" b="1">
                <a:solidFill>
                  <a:srgbClr val="0F2B5C"/>
                </a:solidFill>
                <a:latin typeface="Arial"/>
              </a:defRPr>
            </a:pPr>
            <a:r>
              <a:t>التصميم الأمني والتشفير في مشروع LOCAL CONTACT</a:t>
            </a:r>
          </a:p>
        </p:txBody>
      </p:sp>
      <p:sp>
        <p:nvSpPr>
          <p:cNvPr id="5" name="TextBox 4"/>
          <p:cNvSpPr txBox="1"/>
          <p:nvPr/>
        </p:nvSpPr>
        <p:spPr>
          <a:xfrm>
            <a:off x="822960" y="2148840"/>
            <a:ext cx="10515600" cy="502920"/>
          </a:xfrm>
          <a:prstGeom prst="rect">
            <a:avLst/>
          </a:prstGeom>
          <a:noFill/>
        </p:spPr>
        <p:txBody>
          <a:bodyPr wrap="none">
            <a:spAutoFit/>
          </a:bodyPr>
          <a:lstStyle/>
          <a:p>
            <a:pPr>
              <a:defRPr sz="1800" b="1">
                <a:solidFill>
                  <a:srgbClr val="475569"/>
                </a:solidFill>
                <a:latin typeface="Arial"/>
              </a:defRPr>
            </a:pPr>
            <a:r>
              <a:t>هندسة خوارزميات التشفير وإدارة المفاتيح في نظام اتصال P2P محلي مستقل</a:t>
            </a:r>
          </a:p>
        </p:txBody>
      </p:sp>
      <p:sp>
        <p:nvSpPr>
          <p:cNvPr id="6" name="Rounded Rectangle 5"/>
          <p:cNvSpPr/>
          <p:nvPr/>
        </p:nvSpPr>
        <p:spPr>
          <a:xfrm>
            <a:off x="822960" y="2834640"/>
            <a:ext cx="10515600" cy="59436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F2B5C"/>
                </a:solidFill>
                <a:latin typeface="Arial"/>
              </a:defRPr>
            </a:pPr>
            <a:r>
              <a:t>🔒 المسار الأكاديمي: أمن الشبكات والتشفير المتقدم (Applied Cryptography)  |  Android SDK 36  |  Kotlin 2.2  |  No Central Servers</a:t>
            </a:r>
          </a:p>
        </p:txBody>
      </p:sp>
      <p:sp>
        <p:nvSpPr>
          <p:cNvPr id="7" name="Rounded Rectangle 6"/>
          <p:cNvSpPr/>
          <p:nvPr/>
        </p:nvSpPr>
        <p:spPr>
          <a:xfrm>
            <a:off x="822960" y="3703320"/>
            <a:ext cx="10515600" cy="224028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0F2B5C"/>
                </a:solidFill>
                <a:latin typeface="Arial"/>
              </a:defRPr>
            </a:pPr>
            <a:r>
              <a:t>إعداد الطلاب:</a:t>
            </a:r>
          </a:p>
        </p:txBody>
      </p:sp>
      <p:sp>
        <p:nvSpPr>
          <p:cNvPr id="8" name="Rounded Rectangle 7"/>
          <p:cNvSpPr/>
          <p:nvPr/>
        </p:nvSpPr>
        <p:spPr>
          <a:xfrm>
            <a:off x="1097280" y="4480560"/>
            <a:ext cx="1874519" cy="8229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F2B5C"/>
                </a:solidFill>
                <a:latin typeface="Arial"/>
              </a:defRPr>
            </a:pPr>
            <a:r>
              <a:t>1. مشعل حاجب</a:t>
            </a:r>
          </a:p>
        </p:txBody>
      </p:sp>
      <p:sp>
        <p:nvSpPr>
          <p:cNvPr id="9" name="Rounded Rectangle 8"/>
          <p:cNvSpPr/>
          <p:nvPr/>
        </p:nvSpPr>
        <p:spPr>
          <a:xfrm>
            <a:off x="3154680" y="4480560"/>
            <a:ext cx="1874519" cy="8229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F2B5C"/>
                </a:solidFill>
                <a:latin typeface="Arial"/>
              </a:defRPr>
            </a:pPr>
            <a:r>
              <a:t>2. قحطان</a:t>
            </a:r>
          </a:p>
        </p:txBody>
      </p:sp>
      <p:sp>
        <p:nvSpPr>
          <p:cNvPr id="10" name="Rounded Rectangle 9"/>
          <p:cNvSpPr/>
          <p:nvPr/>
        </p:nvSpPr>
        <p:spPr>
          <a:xfrm>
            <a:off x="5212080" y="4480560"/>
            <a:ext cx="1874519" cy="8229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F2B5C"/>
                </a:solidFill>
                <a:latin typeface="Arial"/>
              </a:defRPr>
            </a:pPr>
            <a:r>
              <a:t>3. محمد العيدروس</a:t>
            </a:r>
          </a:p>
        </p:txBody>
      </p:sp>
      <p:sp>
        <p:nvSpPr>
          <p:cNvPr id="11" name="Rounded Rectangle 10"/>
          <p:cNvSpPr/>
          <p:nvPr/>
        </p:nvSpPr>
        <p:spPr>
          <a:xfrm>
            <a:off x="7269480" y="4480560"/>
            <a:ext cx="1874519" cy="8229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F2B5C"/>
                </a:solidFill>
                <a:latin typeface="Arial"/>
              </a:defRPr>
            </a:pPr>
            <a:r>
              <a:t>4. أواب النزيلي</a:t>
            </a:r>
          </a:p>
        </p:txBody>
      </p:sp>
      <p:sp>
        <p:nvSpPr>
          <p:cNvPr id="12" name="Rounded Rectangle 11"/>
          <p:cNvSpPr/>
          <p:nvPr/>
        </p:nvSpPr>
        <p:spPr>
          <a:xfrm>
            <a:off x="9326880" y="4480560"/>
            <a:ext cx="1874519" cy="8229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F2B5C"/>
                </a:solidFill>
                <a:latin typeface="Arial"/>
              </a:defRPr>
            </a:pPr>
            <a:r>
              <a:t>5. محمد العواضي</a:t>
            </a:r>
          </a:p>
        </p:txBody>
      </p:sp>
      <p:sp>
        <p:nvSpPr>
          <p:cNvPr id="13" name="TextBox 12"/>
          <p:cNvSpPr txBox="1"/>
          <p:nvPr/>
        </p:nvSpPr>
        <p:spPr>
          <a:xfrm>
            <a:off x="822960" y="5577840"/>
            <a:ext cx="10515600" cy="320040"/>
          </a:xfrm>
          <a:prstGeom prst="rect">
            <a:avLst/>
          </a:prstGeom>
          <a:noFill/>
        </p:spPr>
        <p:txBody>
          <a:bodyPr wrap="none">
            <a:spAutoFit/>
          </a:bodyPr>
          <a:lstStyle/>
          <a:p>
            <a:pPr algn="ctr">
              <a:defRPr sz="1200">
                <a:solidFill>
                  <a:srgbClr val="475569"/>
                </a:solidFill>
                <a:latin typeface="Arial"/>
              </a:defRPr>
            </a:pPr>
            <a:r>
              <a:t>المناقشة الأكاديمية الرسمية  •  نسخة العرض المحكمة (Projector Edition)  •  12 شريحة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تشخيص الوضع الأمني السابق</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2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حالة التشفير قبل التحسين: مخاطر المفتاح الثابت المشترك</a:t>
            </a:r>
          </a:p>
        </p:txBody>
      </p:sp>
      <p:sp>
        <p:nvSpPr>
          <p:cNvPr id="6" name="Rounded Rectangle 5"/>
          <p:cNvSpPr/>
          <p:nvPr/>
        </p:nvSpPr>
        <p:spPr>
          <a:xfrm>
            <a:off x="8961120" y="621792"/>
            <a:ext cx="2377440" cy="438912"/>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DC2626"/>
                </a:solidFill>
                <a:latin typeface="Consolas"/>
              </a:defRPr>
            </a:pPr>
            <a:r>
              <a:t>CRITICAL RISK</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DC2626"/>
                </a:solidFill>
                <a:latin typeface="Arial"/>
              </a:defRPr>
            </a:pPr>
            <a:r>
              <a:t>⚠️ المشكلة الأمنية السابقة:</a:t>
            </a:r>
          </a:p>
          <a:p>
            <a:pPr>
              <a:spcBef>
                <a:spcPts val="1200"/>
              </a:spcBef>
              <a:defRPr sz="1700" b="1">
                <a:solidFill>
                  <a:srgbClr val="0F172A"/>
                </a:solidFill>
                <a:latin typeface="Arial"/>
              </a:defRPr>
            </a:pPr>
            <a:r>
              <a:t>• مفتاح شبكي ثابت لجميع الأجهزة مشتق عبر PBKDF2 من كلمة مرور ثابتة داخل الكود.</a:t>
            </a:r>
          </a:p>
          <a:p>
            <a:pPr>
              <a:spcBef>
                <a:spcPts val="1200"/>
              </a:spcBef>
              <a:defRPr sz="1700" b="1">
                <a:solidFill>
                  <a:srgbClr val="0F172A"/>
                </a:solidFill>
                <a:latin typeface="Arial"/>
              </a:defRPr>
            </a:pPr>
            <a:r>
              <a:t>• غياب بروتوكول لتبادل المفاتيح الديناميكية بين طرفي الاتصال.</a:t>
            </a:r>
          </a:p>
          <a:p>
            <a:pPr>
              <a:spcBef>
                <a:spcPts val="1200"/>
              </a:spcBef>
              <a:defRPr sz="1700" b="1">
                <a:solidFill>
                  <a:srgbClr val="0F172A"/>
                </a:solidFill>
                <a:latin typeface="Arial"/>
              </a:defRPr>
            </a:pPr>
            <a:r>
              <a:t>• انعدام السرية المستقبلية (No Forward Secrecy)؛ كشف المفتاح يفضح الماضي بالكامل.</a:t>
            </a:r>
          </a:p>
          <a:p>
            <a:pPr>
              <a:spcBef>
                <a:spcPts val="1200"/>
              </a:spcBef>
              <a:defRPr sz="1700" b="1">
                <a:solidFill>
                  <a:srgbClr val="0F172A"/>
                </a:solidFill>
                <a:latin typeface="Arial"/>
              </a:defRPr>
            </a:pPr>
            <a:r>
              <a:t>• غياب الهوية الرقمية الموثقة للأجهزة على الشبكة.</a:t>
            </a:r>
          </a:p>
        </p:txBody>
      </p:sp>
      <p:sp>
        <p:nvSpPr>
          <p:cNvPr id="10" name="Rounded Rectangle 9"/>
          <p:cNvSpPr/>
          <p:nvPr/>
        </p:nvSpPr>
        <p:spPr>
          <a:xfrm>
            <a:off x="6217920" y="1645920"/>
            <a:ext cx="512064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الملف والمسؤولية في الكود:</a:t>
            </a:r>
          </a:p>
          <a:p>
            <a:pPr>
              <a:spcBef>
                <a:spcPts val="800"/>
              </a:spcBef>
              <a:defRPr sz="1400" b="1">
                <a:solidFill>
                  <a:srgbClr val="1E40AF"/>
                </a:solidFill>
                <a:latin typeface="Consolas"/>
              </a:defRPr>
            </a:pPr>
            <a:r>
              <a:t>app/src/main/java/com/example/network/LocalCryptoEngine.kt</a:t>
            </a:r>
          </a:p>
          <a:p>
            <a:pPr>
              <a:spcBef>
                <a:spcPts val="1200"/>
              </a:spcBef>
              <a:defRPr sz="1700" b="1">
                <a:solidFill>
                  <a:srgbClr val="0F172A"/>
                </a:solidFill>
                <a:latin typeface="Arial"/>
              </a:defRPr>
            </a:pPr>
            <a:r>
              <a:t>• المسؤولية: كان يقوم بالتشفير وإدارة المفتاح الثابت داخلياً في نفس الكلاس.</a:t>
            </a:r>
          </a:p>
          <a:p>
            <a:pPr>
              <a:spcBef>
                <a:spcPts val="1200"/>
              </a:spcBef>
              <a:defRPr sz="1700" b="1">
                <a:solidFill>
                  <a:srgbClr val="0F172A"/>
                </a:solidFill>
                <a:latin typeface="Arial"/>
              </a:defRPr>
            </a:pPr>
            <a:r>
              <a:t>• الخلل المعماري: اقتران صلب (Tight Coupling) بين خوارزمية التشفير وتوليد المفتاح.</a:t>
            </a:r>
          </a:p>
          <a:p>
            <a:pPr>
              <a:spcBef>
                <a:spcPts val="1200"/>
              </a:spcBef>
              <a:defRPr sz="1700" b="1">
                <a:solidFill>
                  <a:srgbClr val="0F172A"/>
                </a:solidFill>
                <a:latin typeface="Arial"/>
              </a:defRPr>
            </a:pPr>
            <a:r>
              <a:t>• الأثر: كشف ملف APK بالهندسة العكسية يعرض كافة رسائل الشبكة للفك الفوري.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التشفير المتماثل المعتمد</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3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التشفير المتماثل ومصادقة البيانات: AES-256-GCM</a:t>
            </a:r>
          </a:p>
        </p:txBody>
      </p:sp>
      <p:sp>
        <p:nvSpPr>
          <p:cNvPr id="6" name="Rounded Rectangle 5"/>
          <p:cNvSpPr/>
          <p:nvPr/>
        </p:nvSpPr>
        <p:spPr>
          <a:xfrm>
            <a:off x="8961120" y="621792"/>
            <a:ext cx="2377440" cy="438912"/>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9669"/>
                </a:solidFill>
                <a:latin typeface="Consolas"/>
              </a:defRPr>
            </a:pPr>
            <a:r>
              <a:t>JVM TESTED (10/10)</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1051560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الركائز الأساسية لخوارزمية AES-256-GCM في النظام:</a:t>
            </a:r>
          </a:p>
          <a:p>
            <a:pPr>
              <a:spcBef>
                <a:spcPts val="1200"/>
              </a:spcBef>
              <a:defRPr sz="1800" b="1">
                <a:solidFill>
                  <a:srgbClr val="0F172A"/>
                </a:solidFill>
                <a:latin typeface="Arial"/>
              </a:defRPr>
            </a:pPr>
            <a:r>
              <a:t>• السرية التامة (Confidentiality): تشفير متماثل بمفتاح 256-bit قياسي ومعتمد دولياً من NIST.</a:t>
            </a:r>
          </a:p>
          <a:p>
            <a:pPr>
              <a:spcBef>
                <a:spcPts val="1200"/>
              </a:spcBef>
              <a:defRPr sz="1800" b="1">
                <a:solidFill>
                  <a:srgbClr val="0F172A"/>
                </a:solidFill>
                <a:latin typeface="Arial"/>
              </a:defRPr>
            </a:pPr>
            <a:r>
              <a:t>• سلامة البيانات (Data Integrity): وسم مصادقة 128-bit Authentication Tag يكشف أي تلاعب بالبيانات فوراً.</a:t>
            </a:r>
          </a:p>
          <a:p>
            <a:pPr>
              <a:spcBef>
                <a:spcPts val="1200"/>
              </a:spcBef>
              <a:defRPr sz="1800" b="1">
                <a:solidFill>
                  <a:srgbClr val="0F172A"/>
                </a:solidFill>
                <a:latin typeface="Arial"/>
              </a:defRPr>
            </a:pPr>
            <a:r>
              <a:t>• عشوائية الإرسال (Nonce Uniqueness): رقم عشوائي فريد بطول 12-byte (96-bit) يولد لكل حزمة لمنع هجمات التكرار.</a:t>
            </a:r>
          </a:p>
          <a:p>
            <a:pPr>
              <a:spcBef>
                <a:spcPts val="1200"/>
              </a:spcBef>
              <a:defRPr sz="1800" b="1">
                <a:solidFill>
                  <a:srgbClr val="0F172A"/>
                </a:solidFill>
                <a:latin typeface="Arial"/>
              </a:defRPr>
            </a:pPr>
            <a:r>
              <a:t>• تشفير تدفق الملفات (Chunk Encryption): اشتقاق Nonce مستقل لكل كتلة ملف (64KB) عبر deriveChunkNonce().</a:t>
            </a:r>
          </a:p>
          <a:p>
            <a:pPr>
              <a:spcBef>
                <a:spcPts val="1200"/>
              </a:spcBef>
              <a:defRPr sz="1800" b="1">
                <a:solidFill>
                  <a:srgbClr val="0F172A"/>
                </a:solidFill>
                <a:latin typeface="Arial"/>
              </a:defRPr>
            </a:pPr>
            <a:r>
              <a:t>• الأدلة البرمجية والاختبارات: LocalCryptoEngine.kt تم فحصه بـ 10 اختبارات وحدة في LocalCryptoEngineTest.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تبادل المفاتيح الديناميكي</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4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تبادل المفاتيح وتأمين السرية التامة: ECDH (NIST P-256)</a:t>
            </a:r>
          </a:p>
        </p:txBody>
      </p:sp>
      <p:sp>
        <p:nvSpPr>
          <p:cNvPr id="6" name="Rounded Rectangle 5"/>
          <p:cNvSpPr/>
          <p:nvPr/>
        </p:nvSpPr>
        <p:spPr>
          <a:xfrm>
            <a:off x="8961120" y="621792"/>
            <a:ext cx="2377440" cy="438912"/>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9669"/>
                </a:solidFill>
                <a:latin typeface="Consolas"/>
              </a:defRPr>
            </a:pPr>
            <a:r>
              <a:t>JVM TESTED (8/8)</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المبادئ الأمنية لتبادل المفاتيح ECDH:</a:t>
            </a:r>
          </a:p>
          <a:p>
            <a:pPr>
              <a:spcBef>
                <a:spcPts val="1200"/>
              </a:spcBef>
              <a:defRPr sz="1700" b="1">
                <a:solidFill>
                  <a:srgbClr val="0F172A"/>
                </a:solidFill>
                <a:latin typeface="Arial"/>
              </a:defRPr>
            </a:pPr>
            <a:r>
              <a:t>• المنحنى المعتمد: secp256r1 (NIST P-256) القياسي والمدعوم في عتاد أندرويد.</a:t>
            </a:r>
          </a:p>
          <a:p>
            <a:pPr>
              <a:spcBef>
                <a:spcPts val="1200"/>
              </a:spcBef>
              <a:defRPr sz="1700" b="1">
                <a:solidFill>
                  <a:srgbClr val="0F172A"/>
                </a:solidFill>
                <a:latin typeface="Arial"/>
              </a:defRPr>
            </a:pPr>
            <a:r>
              <a:t>• مفاتيح مؤقتة (Ephemeral Keys): توليد زوج مفاتيح جديد تماماً لكل محادثة أو جلسة.</a:t>
            </a:r>
          </a:p>
          <a:p>
            <a:pPr>
              <a:spcBef>
                <a:spcPts val="1200"/>
              </a:spcBef>
              <a:defRPr sz="1700" b="1">
                <a:solidFill>
                  <a:srgbClr val="0F172A"/>
                </a:solidFill>
                <a:latin typeface="Arial"/>
              </a:defRPr>
            </a:pPr>
            <a:r>
              <a:t>• السرية المستقبلية (Forward Secrecy): إتلاف المفتاح الخاص المؤقت فور حساب السر المشترك.</a:t>
            </a:r>
          </a:p>
          <a:p>
            <a:pPr>
              <a:spcBef>
                <a:spcPts val="1200"/>
              </a:spcBef>
              <a:defRPr sz="1700" b="1">
                <a:solidFill>
                  <a:srgbClr val="0F172A"/>
                </a:solidFill>
                <a:latin typeface="Arial"/>
              </a:defRPr>
            </a:pPr>
            <a:r>
              <a:t>• منع التنصت: حتى لو صودر الهاتف لاحقاً، يستحيل فك تشفير الجلسات السابقة المسجلة.</a:t>
            </a:r>
          </a:p>
        </p:txBody>
      </p:sp>
      <p:sp>
        <p:nvSpPr>
          <p:cNvPr id="10" name="Rounded Rectangle 9"/>
          <p:cNvSpPr/>
          <p:nvPr/>
        </p:nvSpPr>
        <p:spPr>
          <a:xfrm>
            <a:off x="6217920" y="1645920"/>
            <a:ext cx="512064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الملف والتحقق الهندسي:</a:t>
            </a:r>
          </a:p>
          <a:p>
            <a:pPr>
              <a:spcBef>
                <a:spcPts val="800"/>
              </a:spcBef>
              <a:defRPr sz="1400" b="1">
                <a:solidFill>
                  <a:srgbClr val="1E40AF"/>
                </a:solidFill>
                <a:latin typeface="Consolas"/>
              </a:defRPr>
            </a:pPr>
            <a:r>
              <a:t>app/src/main/java/com/example/network/EcdhEngine.kt</a:t>
            </a:r>
          </a:p>
          <a:p>
            <a:pPr>
              <a:spcBef>
                <a:spcPts val="1200"/>
              </a:spcBef>
              <a:defRPr sz="1700" b="1">
                <a:solidFill>
                  <a:srgbClr val="0F172A"/>
                </a:solidFill>
                <a:latin typeface="Arial"/>
              </a:defRPr>
            </a:pPr>
            <a:r>
              <a:t>• المسؤولية: توليد المفاتيح المؤقتة، وتشفير المفتاح العام بترميز X.509 DER، وحساب السر المشترك.</a:t>
            </a:r>
          </a:p>
          <a:p>
            <a:pPr>
              <a:spcBef>
                <a:spcPts val="1200"/>
              </a:spcBef>
              <a:defRPr sz="1700" b="1">
                <a:solidFill>
                  <a:srgbClr val="0F172A"/>
                </a:solidFill>
                <a:latin typeface="Arial"/>
              </a:defRPr>
            </a:pPr>
            <a:r>
              <a:t>• التوافق: استخدام مكتبة Java Cryptography Architecture (JCA) القياسية بدون مكتبات خارجية.</a:t>
            </a:r>
          </a:p>
          <a:p>
            <a:pPr>
              <a:spcBef>
                <a:spcPts val="1200"/>
              </a:spcBef>
              <a:defRPr sz="1700" b="1">
                <a:solidFill>
                  <a:srgbClr val="0F172A"/>
                </a:solidFill>
                <a:latin typeface="Arial"/>
              </a:defRPr>
            </a:pPr>
            <a:r>
              <a:t>• حزمة الاختبار: 8 اختبارات آلية ناجحة في EcdhEngineTest.kt تثبت تطابق السر بين الطرفين.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اشتقاق مفاتيح الجلسة</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5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دالة اشتقاق المفاتيح القياسية: HKDF-SHA256 (RFC 5869)</a:t>
            </a:r>
          </a:p>
        </p:txBody>
      </p:sp>
      <p:sp>
        <p:nvSpPr>
          <p:cNvPr id="6" name="Rounded Rectangle 5"/>
          <p:cNvSpPr/>
          <p:nvPr/>
        </p:nvSpPr>
        <p:spPr>
          <a:xfrm>
            <a:off x="8961120" y="621792"/>
            <a:ext cx="2377440" cy="438912"/>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9669"/>
                </a:solidFill>
                <a:latin typeface="Consolas"/>
              </a:defRPr>
            </a:pPr>
            <a:r>
              <a:t>RFC 5869 TESTED</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1051560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معمارية اشتقاق المفاتيح وفق المعيار الدولي RFC 5869:</a:t>
            </a:r>
          </a:p>
          <a:p>
            <a:pPr>
              <a:spcBef>
                <a:spcPts val="1200"/>
              </a:spcBef>
              <a:defRPr sz="1800" b="1">
                <a:solidFill>
                  <a:srgbClr val="0F172A"/>
                </a:solidFill>
                <a:latin typeface="Arial"/>
              </a:defRPr>
            </a:pPr>
            <a:r>
              <a:t>• مرحلة الاستخلاص (Extract): تحويل السر المشترك الناتج من ECDH مع Salt شبكي إلى مفتاح شبه عشوائي (PRK) عالي الإنتروبيا.</a:t>
            </a:r>
          </a:p>
          <a:p>
            <a:pPr>
              <a:spcBef>
                <a:spcPts val="1200"/>
              </a:spcBef>
              <a:defRPr sz="1800" b="1">
                <a:solidFill>
                  <a:srgbClr val="0F172A"/>
                </a:solidFill>
                <a:latin typeface="Arial"/>
              </a:defRPr>
            </a:pPr>
            <a:r>
              <a:t>• مرحلة التوسيع (Expand): اشتقاق مفاتيح مستقلة بطول 256-bit باستخدام سياقات مختلفة (Context Info).</a:t>
            </a:r>
          </a:p>
          <a:p>
            <a:pPr>
              <a:spcBef>
                <a:spcPts val="1200"/>
              </a:spcBef>
              <a:defRPr sz="1800" b="1">
                <a:solidFill>
                  <a:srgbClr val="0F172A"/>
                </a:solidFill>
                <a:latin typeface="Arial"/>
              </a:defRPr>
            </a:pPr>
            <a:r>
              <a:t>• فصل مفاتيح الإرسال والاستقبال: اشتقاق مفتاح TX للإرسال ومفتاح RX للاستقبال لمنع هجمات التكرار والخلط.</a:t>
            </a:r>
          </a:p>
          <a:p>
            <a:pPr>
              <a:spcBef>
                <a:spcPts val="1200"/>
              </a:spcBef>
              <a:defRPr sz="1800" b="1">
                <a:solidFill>
                  <a:srgbClr val="0F172A"/>
                </a:solidFill>
                <a:latin typeface="Arial"/>
              </a:defRPr>
            </a:pPr>
            <a:r>
              <a:t>• استبعاد المفاتيح الضعيفة: ضمان توزيع بتات المفتاح بشكل متجانس إحصائياً بما يتوافق مع متطلبات AES-256.</a:t>
            </a:r>
          </a:p>
          <a:p>
            <a:pPr>
              <a:spcBef>
                <a:spcPts val="1200"/>
              </a:spcBef>
              <a:defRPr sz="1800" b="1">
                <a:solidFill>
                  <a:srgbClr val="0F172A"/>
                </a:solidFill>
                <a:latin typeface="Arial"/>
              </a:defRPr>
            </a:pPr>
            <a:r>
              <a:t>• الملف والاختبارات: الملف: HandshakeCryptoUtils.kt تم التحقق منه بمطابقة نواقل الاختبار الرسمية (Test Vectors) في KeyDerivationTest.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إدارة الجلسات التشفيرية</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6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إدارة مفاتيح الجلسات المؤقتة (Session Key Management)</a:t>
            </a:r>
          </a:p>
        </p:txBody>
      </p:sp>
      <p:sp>
        <p:nvSpPr>
          <p:cNvPr id="6" name="Rounded Rectangle 5"/>
          <p:cNvSpPr/>
          <p:nvPr/>
        </p:nvSpPr>
        <p:spPr>
          <a:xfrm>
            <a:off x="8961120" y="621792"/>
            <a:ext cx="2377440" cy="438912"/>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E40AF"/>
                </a:solidFill>
                <a:latin typeface="Consolas"/>
              </a:defRPr>
            </a:pPr>
            <a:r>
              <a:t>INTEGRATED IN CODE</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دور مدير مفاتيح الجلسات:</a:t>
            </a:r>
          </a:p>
          <a:p>
            <a:pPr>
              <a:spcBef>
                <a:spcPts val="1200"/>
              </a:spcBef>
              <a:defRPr sz="1700" b="1">
                <a:solidFill>
                  <a:srgbClr val="0F172A"/>
                </a:solidFill>
                <a:latin typeface="Arial"/>
              </a:defRPr>
            </a:pPr>
            <a:r>
              <a:t>• عزل الجلسات: لكل جهاز قرين (Peer) جدول مفاتيح جلسة مستقل تماماً عن الآخرين.</a:t>
            </a:r>
          </a:p>
          <a:p>
            <a:pPr>
              <a:spcBef>
                <a:spcPts val="1200"/>
              </a:spcBef>
              <a:defRPr sz="1700" b="1">
                <a:solidFill>
                  <a:srgbClr val="0F172A"/>
                </a:solidFill>
                <a:latin typeface="Arial"/>
              </a:defRPr>
            </a:pPr>
            <a:r>
              <a:t>• التخزين في الذاكرة الحية فقط: عدم كتابة مفاتيح الجلسات المؤقتة في الذاكرة الدائمة (RAM Only).</a:t>
            </a:r>
          </a:p>
          <a:p>
            <a:pPr>
              <a:spcBef>
                <a:spcPts val="1200"/>
              </a:spcBef>
              <a:defRPr sz="1700" b="1">
                <a:solidFill>
                  <a:srgbClr val="0F172A"/>
                </a:solidFill>
                <a:latin typeface="Arial"/>
              </a:defRPr>
            </a:pPr>
            <a:r>
              <a:t>• مؤقت انتهاء الجلسة: إتلاف المفاتيح تلقائياً عند انقطاع الاتصال أو إغلاق التطبيق.</a:t>
            </a:r>
          </a:p>
          <a:p>
            <a:pPr>
              <a:spcBef>
                <a:spcPts val="1200"/>
              </a:spcBef>
              <a:defRPr sz="1700" b="1">
                <a:solidFill>
                  <a:srgbClr val="0F172A"/>
                </a:solidFill>
                <a:latin typeface="Arial"/>
              </a:defRPr>
            </a:pPr>
            <a:r>
              <a:t>• حماية متعددة المسارات: دعم التشفير المتزامن لعدة محادثات دون تصادم المفاتيح.</a:t>
            </a:r>
          </a:p>
        </p:txBody>
      </p:sp>
      <p:sp>
        <p:nvSpPr>
          <p:cNvPr id="10" name="Rounded Rectangle 9"/>
          <p:cNvSpPr/>
          <p:nvPr/>
        </p:nvSpPr>
        <p:spPr>
          <a:xfrm>
            <a:off x="6217920" y="1645920"/>
            <a:ext cx="512064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الملف والمسؤولية في الكود:</a:t>
            </a:r>
          </a:p>
          <a:p>
            <a:pPr>
              <a:spcBef>
                <a:spcPts val="800"/>
              </a:spcBef>
              <a:defRPr sz="1300" b="1">
                <a:solidFill>
                  <a:srgbClr val="1E40AF"/>
                </a:solidFill>
                <a:latin typeface="Consolas"/>
              </a:defRPr>
            </a:pPr>
            <a:r>
              <a:t>app/src/main/java/com/example/network/PeerSessionKeyManager.kt</a:t>
            </a:r>
          </a:p>
          <a:p>
            <a:pPr>
              <a:spcBef>
                <a:spcPts val="1200"/>
              </a:spcBef>
              <a:defRPr sz="1700" b="1">
                <a:solidFill>
                  <a:srgbClr val="0F172A"/>
                </a:solidFill>
                <a:latin typeface="Arial"/>
              </a:defRPr>
            </a:pPr>
            <a:r>
              <a:t>• المسؤولية: تتبع حالة المصافحة، تخزين مفاتيح TX و RX لكل PeerID، وإتلاف المفاتيح عند انتهاء الجلسة.</a:t>
            </a:r>
          </a:p>
          <a:p>
            <a:pPr>
              <a:spcBef>
                <a:spcPts val="1200"/>
              </a:spcBef>
              <a:defRPr sz="1700" b="1">
                <a:solidFill>
                  <a:srgbClr val="0F172A"/>
                </a:solidFill>
                <a:latin typeface="Arial"/>
              </a:defRPr>
            </a:pPr>
            <a:r>
              <a:t>• التكامل: يزود المحركات الشبكية بالمفتاح النشط للقرين بدلاً من الاعتماد على مفتاح ثابت موحد.</a:t>
            </a:r>
          </a:p>
          <a:p>
            <a:pPr>
              <a:spcBef>
                <a:spcPts val="1200"/>
              </a:spcBef>
              <a:defRPr sz="1700" b="1">
                <a:solidFill>
                  <a:srgbClr val="0F172A"/>
                </a:solidFill>
                <a:latin typeface="Arial"/>
              </a:defRPr>
            </a:pPr>
            <a:r>
              <a:t>• الحالة الهندسية: Integrated in Code — مدمج في هيكل المشروع البرمجي.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هوية الأجهزة والتوقيع الرقمي</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7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حماية هوية الأجهزة: Android Keystore والتوقيع الرقمي ECDSA</a:t>
            </a:r>
          </a:p>
        </p:txBody>
      </p:sp>
      <p:sp>
        <p:nvSpPr>
          <p:cNvPr id="6" name="Rounded Rectangle 5"/>
          <p:cNvSpPr/>
          <p:nvPr/>
        </p:nvSpPr>
        <p:spPr>
          <a:xfrm>
            <a:off x="8961120" y="621792"/>
            <a:ext cx="2377440" cy="438912"/>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E40AF"/>
                </a:solidFill>
                <a:latin typeface="Consolas"/>
              </a:defRPr>
            </a:pPr>
            <a:r>
              <a:t>HARDWARE BACKED</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1051560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منظومة الهوية المشفرة والتخزين العتادي الآمن:</a:t>
            </a:r>
          </a:p>
          <a:p>
            <a:pPr>
              <a:spcBef>
                <a:spcPts val="1200"/>
              </a:spcBef>
              <a:defRPr sz="1800" b="1">
                <a:solidFill>
                  <a:srgbClr val="0F172A"/>
                </a:solidFill>
                <a:latin typeface="Arial"/>
              </a:defRPr>
            </a:pPr>
            <a:r>
              <a:t>• الحماية في عتاد الجهاز (Hardware Security): توليد زوج مفاتيح هوية طويل الأمد داخل رقاقة التشفير الآمنة (TEE / StrongBox) عبر Android Keystore.</a:t>
            </a:r>
          </a:p>
          <a:p>
            <a:pPr>
              <a:spcBef>
                <a:spcPts val="1200"/>
              </a:spcBef>
              <a:defRPr sz="1800" b="1">
                <a:solidFill>
                  <a:srgbClr val="0F172A"/>
                </a:solidFill>
                <a:latin typeface="Arial"/>
              </a:defRPr>
            </a:pPr>
            <a:r>
              <a:t>• استحالة استخراج المفتاح الخاص (Non-Exportable): المفتاح الخاص لا يغادر عتاد الهاتف أبداً حتى مع صلاحيات Root كاملة للنظام.</a:t>
            </a:r>
          </a:p>
          <a:p>
            <a:pPr>
              <a:spcBef>
                <a:spcPts val="1200"/>
              </a:spcBef>
              <a:defRPr sz="1800" b="1">
                <a:solidFill>
                  <a:srgbClr val="0F172A"/>
                </a:solidFill>
                <a:latin typeface="Arial"/>
              </a:defRPr>
            </a:pPr>
            <a:r>
              <a:t>• التوقيع الرقمي (ECDSA with SHA-256): توقيع حزم المصافحة لإثبات هوية الجهاز ومنع انتحال الشخصية على الشبكة المحلية.</a:t>
            </a:r>
          </a:p>
          <a:p>
            <a:pPr>
              <a:spcBef>
                <a:spcPts val="1200"/>
              </a:spcBef>
              <a:defRPr sz="1800" b="1">
                <a:solidFill>
                  <a:srgbClr val="0F172A"/>
                </a:solidFill>
                <a:latin typeface="Arial"/>
              </a:defRPr>
            </a:pPr>
            <a:r>
              <a:t>• التوقيع المرتبط بالسياق (Context-Bound Signature): ربط التوقيع بـ Nonce المصافحة وعنوان الجهاز لمنع هجمات إعادة التوقيع (Replay Signature).</a:t>
            </a:r>
          </a:p>
          <a:p>
            <a:pPr>
              <a:spcBef>
                <a:spcPts val="1200"/>
              </a:spcBef>
              <a:defRPr sz="1800" b="1">
                <a:solidFill>
                  <a:srgbClr val="0F172A"/>
                </a:solidFill>
                <a:latin typeface="Arial"/>
              </a:defRPr>
            </a:pPr>
            <a:r>
              <a:t>• الملف المسؤول في الكود: KeystoreIdentityManager.kt — يتولى توليد وإدارة هوية الهاتف والتوقيع الرقمي.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نموذج الثقة وتثبيت الهوية</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8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نموذج الثقة اللامركزي: بصمات الأجهزة وتثبيت الهوية (TOFU)</a:t>
            </a:r>
          </a:p>
        </p:txBody>
      </p:sp>
      <p:sp>
        <p:nvSpPr>
          <p:cNvPr id="6" name="Rounded Rectangle 5"/>
          <p:cNvSpPr/>
          <p:nvPr/>
        </p:nvSpPr>
        <p:spPr>
          <a:xfrm>
            <a:off x="8961120" y="621792"/>
            <a:ext cx="2377440" cy="438912"/>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E40AF"/>
                </a:solidFill>
                <a:latin typeface="Consolas"/>
              </a:defRPr>
            </a:pPr>
            <a:r>
              <a:t>TOFU TRUST MODEL</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آلية نموذج الثقة عند أول اتصال (TOFU):</a:t>
            </a:r>
          </a:p>
          <a:p>
            <a:pPr>
              <a:spcBef>
                <a:spcPts val="1200"/>
              </a:spcBef>
              <a:defRPr sz="1700" b="1">
                <a:solidFill>
                  <a:srgbClr val="0F172A"/>
                </a:solidFill>
                <a:latin typeface="Arial"/>
              </a:defRPr>
            </a:pPr>
            <a:r>
              <a:t>• لماذا TOFU؟ شبكات P2P تعمل Offline، فلا يمكن الاتصال بهيئة شهادات مركزية (CA).</a:t>
            </a:r>
          </a:p>
          <a:p>
            <a:pPr>
              <a:spcBef>
                <a:spcPts val="1200"/>
              </a:spcBef>
              <a:defRPr sz="1700" b="1">
                <a:solidFill>
                  <a:srgbClr val="0F172A"/>
                </a:solidFill>
                <a:latin typeface="Arial"/>
              </a:defRPr>
            </a:pPr>
            <a:r>
              <a:t>• حساب البصمة: حساب بصمة SHA-256 Fingerprint للمفتاح العام لهوية القرين.</a:t>
            </a:r>
          </a:p>
          <a:p>
            <a:pPr>
              <a:spcBef>
                <a:spcPts val="1200"/>
              </a:spcBef>
              <a:defRPr sz="1700" b="1">
                <a:solidFill>
                  <a:srgbClr val="0F172A"/>
                </a:solidFill>
                <a:latin typeface="Arial"/>
              </a:defRPr>
            </a:pPr>
            <a:r>
              <a:t>• تثبيت المفتاح (Key Pinning): حفظ البصمة محلياً في قاعدة البيانات عند أول اتصال ناجح.</a:t>
            </a:r>
          </a:p>
          <a:p>
            <a:pPr>
              <a:spcBef>
                <a:spcPts val="1200"/>
              </a:spcBef>
              <a:defRPr sz="1700" b="1">
                <a:solidFill>
                  <a:srgbClr val="0F172A"/>
                </a:solidFill>
                <a:latin typeface="Arial"/>
              </a:defRPr>
            </a:pPr>
            <a:r>
              <a:t>• كشف التغيير المريب: إطلاق تحذير أمني فوري إذا تغير مفتاح هوية القرين المسجل سابقاً.</a:t>
            </a:r>
          </a:p>
        </p:txBody>
      </p:sp>
      <p:sp>
        <p:nvSpPr>
          <p:cNvPr id="10" name="Rounded Rectangle 9"/>
          <p:cNvSpPr/>
          <p:nvPr/>
        </p:nvSpPr>
        <p:spPr>
          <a:xfrm>
            <a:off x="6217920" y="1645920"/>
            <a:ext cx="512064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الملف والمسؤولية في الكود:</a:t>
            </a:r>
          </a:p>
          <a:p>
            <a:pPr>
              <a:spcBef>
                <a:spcPts val="800"/>
              </a:spcBef>
              <a:defRPr sz="1400" b="1">
                <a:solidFill>
                  <a:srgbClr val="1E40AF"/>
                </a:solidFill>
                <a:latin typeface="Consolas"/>
              </a:defRPr>
            </a:pPr>
            <a:r>
              <a:t>app/src/main/java/com/example/network/PeerTrustStore.kt</a:t>
            </a:r>
          </a:p>
          <a:p>
            <a:pPr>
              <a:spcBef>
                <a:spcPts val="1200"/>
              </a:spcBef>
              <a:defRPr sz="1700" b="1">
                <a:solidFill>
                  <a:srgbClr val="0F172A"/>
                </a:solidFill>
                <a:latin typeface="Arial"/>
              </a:defRPr>
            </a:pPr>
            <a:r>
              <a:t>• المسؤولية: تخزين بصمات الأجهزة الموثوقة ومقارنتها مع كل اتصال وارد.</a:t>
            </a:r>
          </a:p>
          <a:p>
            <a:pPr>
              <a:spcBef>
                <a:spcPts val="1200"/>
              </a:spcBef>
              <a:defRPr sz="1700" b="1">
                <a:solidFill>
                  <a:srgbClr val="0F172A"/>
                </a:solidFill>
                <a:latin typeface="Arial"/>
              </a:defRPr>
            </a:pPr>
            <a:r>
              <a:t>• إدارة الحالات: تصنيف القرين إلى: جديد (New)، موثوق (Trusted)، أو مشبوه/متغير (Key Changed).</a:t>
            </a:r>
          </a:p>
          <a:p>
            <a:pPr>
              <a:spcBef>
                <a:spcPts val="1200"/>
              </a:spcBef>
              <a:defRPr sz="1700" b="1">
                <a:solidFill>
                  <a:srgbClr val="0F172A"/>
                </a:solidFill>
                <a:latin typeface="Arial"/>
              </a:defRPr>
            </a:pPr>
            <a:r>
              <a:t>• القيمة الهندسية: تحقيق أمان شبيه بـ SSH Host Keys دون الحاجة لإنترنت أو خادم مركزي.</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بروتوكول المصافحة الشبكية</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9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خطوات بروتوكول المصافحة والتفاوض الآمن (Handshake Protocol)</a:t>
            </a:r>
          </a:p>
        </p:txBody>
      </p:sp>
      <p:sp>
        <p:nvSpPr>
          <p:cNvPr id="6" name="Rounded Rectangle 5"/>
          <p:cNvSpPr/>
          <p:nvPr/>
        </p:nvSpPr>
        <p:spPr>
          <a:xfrm>
            <a:off x="8961120" y="621792"/>
            <a:ext cx="2377440" cy="438912"/>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E40AF"/>
                </a:solidFill>
                <a:latin typeface="Consolas"/>
              </a:defRPr>
            </a:pPr>
            <a:r>
              <a:t>HANDSHAKE PROTOCOL</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1051560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مراحل المصافحة الأربع المنفذة في HandshakeCryptoUtils.kt:</a:t>
            </a:r>
          </a:p>
          <a:p>
            <a:pPr>
              <a:spcBef>
                <a:spcPts val="1100"/>
              </a:spcBef>
              <a:defRPr sz="1700" b="1">
                <a:solidFill>
                  <a:srgbClr val="0F172A"/>
                </a:solidFill>
                <a:latin typeface="Arial"/>
              </a:defRPr>
            </a:pPr>
            <a:r>
              <a:t>• المرحلة 1 — طلب المصافحة (Handshake Init): المرسل يولد مفتاح ECDH مؤقت ويرسله مع Nonce ومعرف هويته وبصمته.</a:t>
            </a:r>
          </a:p>
          <a:p>
            <a:pPr>
              <a:spcBef>
                <a:spcPts val="1100"/>
              </a:spcBef>
              <a:defRPr sz="1700" b="1">
                <a:solidFill>
                  <a:srgbClr val="0F172A"/>
                </a:solidFill>
                <a:latin typeface="Arial"/>
              </a:defRPr>
            </a:pPr>
            <a:r>
              <a:t>• المرحلة 2 — رد المصافحة والتوقيع (Handshake Response): المستقبل يولد مفتاحه المؤقت، ويوقع الحزمة عبر ECDSA، ويرد بمفتاحه وبصمته.</a:t>
            </a:r>
          </a:p>
          <a:p>
            <a:pPr>
              <a:spcBef>
                <a:spcPts val="1100"/>
              </a:spcBef>
              <a:defRPr sz="1700" b="1">
                <a:solidFill>
                  <a:srgbClr val="0F172A"/>
                </a:solidFill>
                <a:latin typeface="Arial"/>
              </a:defRPr>
            </a:pPr>
            <a:r>
              <a:t>• المرحلة 3 — التحقق واشتقاق المفاتيح (Verify &amp; Derive): الطرفان يتحققان من صحة التوقيع والبصمة، ويحسبان السر المشترك، ويشتقان مفاتيح الجلسة عبر HKDF.</a:t>
            </a:r>
          </a:p>
          <a:p>
            <a:pPr>
              <a:spcBef>
                <a:spcPts val="1100"/>
              </a:spcBef>
              <a:defRPr sz="1700" b="1">
                <a:solidFill>
                  <a:srgbClr val="0F172A"/>
                </a:solidFill>
                <a:latin typeface="Arial"/>
              </a:defRPr>
            </a:pPr>
            <a:r>
              <a:t>• المرحلة 4 — إتمام وتأكيد الجلسة (Handshake Complete): إرسال حزمة تأكيد مشفرة بمفتاح الجلسة الجديد والانتقال لقناة البيانات المشفرة.</a:t>
            </a:r>
          </a:p>
          <a:p>
            <a:pPr>
              <a:spcBef>
                <a:spcPts val="1100"/>
              </a:spcBef>
              <a:defRPr sz="1700" b="1">
                <a:solidFill>
                  <a:srgbClr val="0F172A"/>
                </a:solidFill>
                <a:latin typeface="Arial"/>
              </a:defRPr>
            </a:pPr>
            <a:r>
              <a:t>• الملف المسؤول: HandshakeCryptoUtils.kt — يتولى بناء وتفكيك حزم المصافحة والتحقق الرياضي من التوقيعات.</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تحصين الوسائط والملفات</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10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تأمين نقل الملفات وتدفق الصوت والفيديو (Media Security)</a:t>
            </a:r>
          </a:p>
        </p:txBody>
      </p:sp>
      <p:sp>
        <p:nvSpPr>
          <p:cNvPr id="6" name="Rounded Rectangle 5"/>
          <p:cNvSpPr/>
          <p:nvPr/>
        </p:nvSpPr>
        <p:spPr>
          <a:xfrm>
            <a:off x="8961120" y="621792"/>
            <a:ext cx="2377440" cy="438912"/>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E40AF"/>
                </a:solidFill>
                <a:latin typeface="Consolas"/>
              </a:defRPr>
            </a:pPr>
            <a:r>
              <a:t>MEDIA &amp; STREAMING</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تأمين نقل الملفات عبر TCP: 8891:</a:t>
            </a:r>
          </a:p>
          <a:p>
            <a:pPr>
              <a:spcBef>
                <a:spcPts val="600"/>
              </a:spcBef>
              <a:defRPr sz="1400" b="1">
                <a:solidFill>
                  <a:srgbClr val="1E40AF"/>
                </a:solidFill>
                <a:latin typeface="Consolas"/>
              </a:defRPr>
            </a:pPr>
            <a:r>
              <a:t>FileTransferEngine.kt</a:t>
            </a:r>
          </a:p>
          <a:p>
            <a:pPr>
              <a:spcBef>
                <a:spcPts val="1000"/>
              </a:spcBef>
              <a:defRPr sz="1600" b="1">
                <a:solidFill>
                  <a:srgbClr val="0F172A"/>
                </a:solidFill>
                <a:latin typeface="Arial"/>
              </a:defRPr>
            </a:pPr>
            <a:r>
              <a:t>• نقل تدفقي مجزأ: قراءة وتشفير الملف في هيئة كتل 64KB لمنع استهلاك الذاكرة وحوادث OOM.</a:t>
            </a:r>
          </a:p>
          <a:p>
            <a:pPr>
              <a:spcBef>
                <a:spcPts val="1000"/>
              </a:spcBef>
              <a:defRPr sz="1600" b="1">
                <a:solidFill>
                  <a:srgbClr val="0F172A"/>
                </a:solidFill>
                <a:latin typeface="Arial"/>
              </a:defRPr>
            </a:pPr>
            <a:r>
              <a:t>• اشتقاق Nonce لكل كتلة: اشتقاق رقم عشوائي محسوب لكل كتلة يضمن أمان تشفير GCM أثناء الاستئناف.</a:t>
            </a:r>
          </a:p>
          <a:p>
            <a:pPr>
              <a:spcBef>
                <a:spcPts val="1000"/>
              </a:spcBef>
              <a:defRPr sz="1600" b="1">
                <a:solidFill>
                  <a:srgbClr val="0F172A"/>
                </a:solidFill>
                <a:latin typeface="Arial"/>
              </a:defRPr>
            </a:pPr>
            <a:r>
              <a:t>• دعم الاستئناف (Resume): إمكانية استكمال نقل الملف من موضع الإزاحة دون إعادة التشفير من الصفر.</a:t>
            </a:r>
          </a:p>
          <a:p>
            <a:pPr>
              <a:spcBef>
                <a:spcPts val="1000"/>
              </a:spcBef>
              <a:defRPr sz="1600" b="1">
                <a:solidFill>
                  <a:srgbClr val="0F172A"/>
                </a:solidFill>
                <a:latin typeface="Arial"/>
              </a:defRPr>
            </a:pPr>
            <a:r>
              <a:t>• تعقيم المسارات: تنظيف أسماء الملفات عبر StorageUtils لمنع هجمات التراجع الدليلي (../).</a:t>
            </a:r>
          </a:p>
        </p:txBody>
      </p:sp>
      <p:sp>
        <p:nvSpPr>
          <p:cNvPr id="10" name="Rounded Rectangle 9"/>
          <p:cNvSpPr/>
          <p:nvPr/>
        </p:nvSpPr>
        <p:spPr>
          <a:xfrm>
            <a:off x="6217920" y="1645920"/>
            <a:ext cx="5120640" cy="43891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تأمين تدفق الصوت والفيديو عبر UDP:</a:t>
            </a:r>
          </a:p>
          <a:p>
            <a:pPr>
              <a:spcBef>
                <a:spcPts val="600"/>
              </a:spcBef>
              <a:defRPr sz="1300" b="1">
                <a:solidFill>
                  <a:srgbClr val="1E40AF"/>
                </a:solidFill>
                <a:latin typeface="Consolas"/>
              </a:defRPr>
            </a:pPr>
            <a:r>
              <a:t>AudioEngine.kt (8889) &amp; VideoEngine.kt (8890)</a:t>
            </a:r>
          </a:p>
          <a:p>
            <a:pPr>
              <a:spcBef>
                <a:spcPts val="1000"/>
              </a:spcBef>
              <a:defRPr sz="1600" b="1">
                <a:solidFill>
                  <a:srgbClr val="0F172A"/>
                </a:solidFill>
                <a:latin typeface="Arial"/>
              </a:defRPr>
            </a:pPr>
            <a:r>
              <a:t>• تشفير الإطارات الحية: تشفير عينات الصوت 16kHz PCM وإطارات الفيديو بصيغة AES-GCM.</a:t>
            </a:r>
          </a:p>
          <a:p>
            <a:pPr>
              <a:spcBef>
                <a:spcPts val="1000"/>
              </a:spcBef>
              <a:defRPr sz="1600" b="1">
                <a:solidFill>
                  <a:srgbClr val="0F172A"/>
                </a:solidFill>
                <a:latin typeface="Arial"/>
              </a:defRPr>
            </a:pPr>
            <a:r>
              <a:t>• انخفاض زمن الكمون (Low Latency): معالجة خفيفة للتشفير الفوري تناسب الاتصال المباشر.</a:t>
            </a:r>
          </a:p>
          <a:p>
            <a:pPr>
              <a:spcBef>
                <a:spcPts val="1000"/>
              </a:spcBef>
              <a:defRPr sz="1600" b="1">
                <a:solidFill>
                  <a:srgbClr val="0F172A"/>
                </a:solidFill>
                <a:latin typeface="Arial"/>
              </a:defRPr>
            </a:pPr>
            <a:r>
              <a:t>• إسقاط الحزم المتلاعب بها: اعتراض استثناء AEADBadTagException وإسقاط الإطار التالف فوراً دون انهيار التطبيق.</a:t>
            </a:r>
          </a:p>
          <a:p>
            <a:pPr>
              <a:spcBef>
                <a:spcPts val="1000"/>
              </a:spcBef>
              <a:defRPr sz="1600" b="1">
                <a:solidFill>
                  <a:srgbClr val="0F172A"/>
                </a:solidFill>
                <a:latin typeface="Arial"/>
              </a:defRPr>
            </a:pPr>
            <a:r>
              <a:t>• استقلالية القنوات: فصل قنوات الصوت والفيديو والملفات على منافذ مقابس مستقلة.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التحقق والاختبارات الآلية</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11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مصفوفة التحقق والاختبارات الآلية (33/33 Tests Passed)</a:t>
            </a:r>
          </a:p>
        </p:txBody>
      </p:sp>
      <p:sp>
        <p:nvSpPr>
          <p:cNvPr id="6" name="Rounded Rectangle 5"/>
          <p:cNvSpPr/>
          <p:nvPr/>
        </p:nvSpPr>
        <p:spPr>
          <a:xfrm>
            <a:off x="8961120" y="621792"/>
            <a:ext cx="2377440" cy="438912"/>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59669"/>
                </a:solidFill>
                <a:latin typeface="Consolas"/>
              </a:defRPr>
            </a:pPr>
            <a:r>
              <a:t>100% JVM PASSED</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10515600" cy="43891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F2B5C"/>
                </a:solidFill>
                <a:latin typeface="Arial"/>
              </a:defRPr>
            </a:pPr>
            <a:r>
              <a:t>🧪 نتائج حزم الاختبارات الأربع المؤتمتة (JVM Automated Tests):</a:t>
            </a:r>
          </a:p>
          <a:p>
            <a:pPr>
              <a:spcBef>
                <a:spcPts val="1200"/>
              </a:spcBef>
              <a:defRPr sz="1700" b="1">
                <a:solidFill>
                  <a:srgbClr val="0F172A"/>
                </a:solidFill>
                <a:latin typeface="Arial"/>
              </a:defRPr>
            </a:pPr>
            <a:r>
              <a:t>• 1. LocalCryptoEngineTest.kt (10/10 ناجح): إثبات تشفير وفك تشفير AES-GCM، ورفض المفاتيح الخاطئة، ورفض التلاعب بالنص المشفر.</a:t>
            </a:r>
          </a:p>
          <a:p>
            <a:pPr>
              <a:spcBef>
                <a:spcPts val="1200"/>
              </a:spcBef>
              <a:defRPr sz="1700" b="1">
                <a:solidFill>
                  <a:srgbClr val="0F172A"/>
                </a:solidFill>
                <a:latin typeface="Arial"/>
              </a:defRPr>
            </a:pPr>
            <a:r>
              <a:t>• 2. EcdhEngineTest.kt (8/8 ناجح): إثبات توليد مفاتيح NIST P-256، وتطابق السر المشترك للطرفين، واستيراد وتصدير X.509.</a:t>
            </a:r>
          </a:p>
          <a:p>
            <a:pPr>
              <a:spcBef>
                <a:spcPts val="1200"/>
              </a:spcBef>
              <a:defRPr sz="1700" b="1">
                <a:solidFill>
                  <a:srgbClr val="0F172A"/>
                </a:solidFill>
                <a:latin typeface="Arial"/>
              </a:defRPr>
            </a:pPr>
            <a:r>
              <a:t>• 3. KeyDerivationTest.kt (8/8 ناجح): إثبات مطابقة دالة HKDF-SHA256 لنواقل الاختبار القياسية المنصوص عليها في RFC 5869.</a:t>
            </a:r>
          </a:p>
          <a:p>
            <a:pPr>
              <a:spcBef>
                <a:spcPts val="1200"/>
              </a:spcBef>
              <a:defRPr sz="1700" b="1">
                <a:solidFill>
                  <a:srgbClr val="0F172A"/>
                </a:solidFill>
                <a:latin typeface="Arial"/>
              </a:defRPr>
            </a:pPr>
            <a:r>
              <a:t>• 4. CryptoEngineTest.kt (7/7 ناجح): إثبات تكامل بروتوكول الجلسات المشفرة وحماية الرسائل من التعديل.</a:t>
            </a:r>
          </a:p>
          <a:p>
            <a:pPr>
              <a:spcBef>
                <a:spcPts val="1200"/>
              </a:spcBef>
              <a:defRPr sz="1700" b="1">
                <a:solidFill>
                  <a:srgbClr val="0F172A"/>
                </a:solidFill>
                <a:latin typeface="Arial"/>
              </a:defRPr>
            </a:pPr>
            <a:r>
              <a:t>• النتيجة الأكاديمية الإجمالية: 33 اختبار وحدة آلي ناجح بنسبة 100% يثبت خلو الكود من الأخطاء المنطقية والرياضية.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
            <a:ext cx="7772400" cy="320040"/>
          </a:xfrm>
          <a:prstGeom prst="rect">
            <a:avLst/>
          </a:prstGeom>
          <a:noFill/>
        </p:spPr>
        <p:txBody>
          <a:bodyPr wrap="square">
            <a:spAutoFit/>
          </a:bodyPr>
          <a:lstStyle/>
          <a:p>
            <a:pPr>
              <a:defRPr sz="1300" b="1">
                <a:solidFill>
                  <a:srgbClr val="1E40AF"/>
                </a:solidFill>
                <a:latin typeface="Arial"/>
              </a:defRPr>
            </a:pPr>
            <a:r>
              <a:t>LOCAL CONTACT P2P  |  النزاهة الأكاديمية والحدود الأمنية</a:t>
            </a:r>
          </a:p>
        </p:txBody>
      </p:sp>
      <p:sp>
        <p:nvSpPr>
          <p:cNvPr id="4" name="TextBox 3"/>
          <p:cNvSpPr txBox="1"/>
          <p:nvPr/>
        </p:nvSpPr>
        <p:spPr>
          <a:xfrm>
            <a:off x="10241280" y="6309360"/>
            <a:ext cx="1188720" cy="365760"/>
          </a:xfrm>
          <a:prstGeom prst="rect">
            <a:avLst/>
          </a:prstGeom>
          <a:noFill/>
        </p:spPr>
        <p:txBody>
          <a:bodyPr wrap="none">
            <a:spAutoFit/>
          </a:bodyPr>
          <a:lstStyle/>
          <a:p>
            <a:pPr algn="r">
              <a:defRPr sz="1400" b="1">
                <a:solidFill>
                  <a:srgbClr val="0F2B5C"/>
                </a:solidFill>
                <a:latin typeface="Arial"/>
              </a:defRPr>
            </a:pPr>
            <a:r>
              <a:t>12 / 12</a:t>
            </a:r>
          </a:p>
        </p:txBody>
      </p:sp>
      <p:sp>
        <p:nvSpPr>
          <p:cNvPr id="5" name="TextBox 4"/>
          <p:cNvSpPr txBox="1"/>
          <p:nvPr/>
        </p:nvSpPr>
        <p:spPr>
          <a:xfrm>
            <a:off x="822960" y="594360"/>
            <a:ext cx="8961120" cy="685800"/>
          </a:xfrm>
          <a:prstGeom prst="rect">
            <a:avLst/>
          </a:prstGeom>
          <a:noFill/>
        </p:spPr>
        <p:txBody>
          <a:bodyPr wrap="square">
            <a:spAutoFit/>
          </a:bodyPr>
          <a:lstStyle/>
          <a:p>
            <a:pPr>
              <a:defRPr sz="2800" b="1">
                <a:solidFill>
                  <a:srgbClr val="0F2B5C"/>
                </a:solidFill>
                <a:latin typeface="Arial"/>
              </a:defRPr>
            </a:pPr>
            <a:r>
              <a:t>الحدود الأمنية الحالية وما لم يُنفّذ بعد (Scientific Integrity)</a:t>
            </a:r>
          </a:p>
        </p:txBody>
      </p:sp>
      <p:sp>
        <p:nvSpPr>
          <p:cNvPr id="6" name="Rounded Rectangle 5"/>
          <p:cNvSpPr/>
          <p:nvPr/>
        </p:nvSpPr>
        <p:spPr>
          <a:xfrm>
            <a:off x="8961120" y="621792"/>
            <a:ext cx="2377440" cy="438912"/>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D97706"/>
                </a:solidFill>
                <a:latin typeface="Consolas"/>
              </a:defRPr>
            </a:pPr>
            <a:r>
              <a:t>HONEST BOUNDARIES</a:t>
            </a:r>
          </a:p>
        </p:txBody>
      </p:sp>
      <p:sp>
        <p:nvSpPr>
          <p:cNvPr id="7" name="Rectangle 6"/>
          <p:cNvSpPr/>
          <p:nvPr/>
        </p:nvSpPr>
        <p:spPr>
          <a:xfrm>
            <a:off x="822960" y="1353312"/>
            <a:ext cx="105156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309360"/>
            <a:ext cx="7315200" cy="320040"/>
          </a:xfrm>
          <a:prstGeom prst="rect">
            <a:avLst/>
          </a:prstGeom>
          <a:noFill/>
        </p:spPr>
        <p:txBody>
          <a:bodyPr wrap="none">
            <a:spAutoFit/>
          </a:bodyPr>
          <a:lstStyle/>
          <a:p>
            <a:pPr>
              <a:defRPr sz="1100">
                <a:solidFill>
                  <a:srgbClr val="475569"/>
                </a:solidFill>
                <a:latin typeface="Arial"/>
              </a:defRPr>
            </a:pPr>
            <a:r>
              <a:t>مشروع تخرج LOCAL CONTACT — مناقشة أكاديمية محكمة</a:t>
            </a:r>
          </a:p>
        </p:txBody>
      </p:sp>
      <p:sp>
        <p:nvSpPr>
          <p:cNvPr id="9" name="Rounded Rectangle 8"/>
          <p:cNvSpPr/>
          <p:nvPr/>
        </p:nvSpPr>
        <p:spPr>
          <a:xfrm>
            <a:off x="822960" y="1645920"/>
            <a:ext cx="5120640" cy="438912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DC2626"/>
                </a:solidFill>
                <a:latin typeface="Arial"/>
              </a:defRPr>
            </a:pPr>
            <a:r>
              <a:t>⚠️ قيود أمنية موثقة كفجوات بأمانة علمية:</a:t>
            </a:r>
          </a:p>
          <a:p>
            <a:pPr>
              <a:spcBef>
                <a:spcPts val="1000"/>
              </a:spcBef>
              <a:defRPr sz="1600" b="1">
                <a:solidFill>
                  <a:srgbClr val="0F172A"/>
                </a:solidFill>
                <a:latin typeface="Arial"/>
              </a:defRPr>
            </a:pPr>
            <a:r>
              <a:t>• غياب التحقق اليدوي البصري (SAS): نموذج TOFU يحمي بعد أول اتصال، لكن أول اتصال يظل عرضة لـ MITM نشط إذا لم تتم مقارنة البصمة شفهياً.</a:t>
            </a:r>
          </a:p>
          <a:p>
            <a:pPr>
              <a:spcBef>
                <a:spcPts val="1000"/>
              </a:spcBef>
              <a:defRPr sz="1600" b="1">
                <a:solidFill>
                  <a:srgbClr val="0F172A"/>
                </a:solidFill>
                <a:latin typeface="Arial"/>
              </a:defRPr>
            </a:pPr>
            <a:r>
              <a:t>• غياب حماية الـ Replay الكاملة على مستوى الحزم: يوجد Nonce فريد يمنع فك التشفير، لكن لا توجد نافذة تسلسل حزم صارمة (Packet Sliding Window).</a:t>
            </a:r>
          </a:p>
          <a:p>
            <a:pPr>
              <a:spcBef>
                <a:spcPts val="1000"/>
              </a:spcBef>
              <a:defRPr sz="1600" b="1">
                <a:solidFill>
                  <a:srgbClr val="0F172A"/>
                </a:solidFill>
                <a:latin typeface="Arial"/>
              </a:defRPr>
            </a:pPr>
            <a:r>
              <a:t>• عدم فحص SHA-256 للملف كاملاً بعد الاستلام: كتل الملفات مشفرة ومصادقة، لكن ينقص فحص Hash الملف النهائي.</a:t>
            </a:r>
          </a:p>
          <a:p>
            <a:pPr>
              <a:spcBef>
                <a:spcPts val="1000"/>
              </a:spcBef>
              <a:defRPr sz="1600" b="1">
                <a:solidFill>
                  <a:srgbClr val="0F172A"/>
                </a:solidFill>
                <a:latin typeface="Arial"/>
              </a:defRPr>
            </a:pPr>
            <a:r>
              <a:t>• مفتاح الغرف الجماعية: المحادثات الجماعية لا تزال تعتمد على المفتاح المشترك وتفتقر لـ Group Key Exchange.</a:t>
            </a:r>
          </a:p>
        </p:txBody>
      </p:sp>
      <p:sp>
        <p:nvSpPr>
          <p:cNvPr id="10" name="Rounded Rectangle 9"/>
          <p:cNvSpPr/>
          <p:nvPr/>
        </p:nvSpPr>
        <p:spPr>
          <a:xfrm>
            <a:off x="6217920" y="1645920"/>
            <a:ext cx="5120640" cy="43891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059669"/>
                </a:solidFill>
                <a:latin typeface="Arial"/>
              </a:defRPr>
            </a:pPr>
            <a:r>
              <a:t>🚀 خارطة الطريق الأمنية والخلاصة:</a:t>
            </a:r>
          </a:p>
          <a:p>
            <a:pPr>
              <a:spcBef>
                <a:spcPts val="1000"/>
              </a:spcBef>
              <a:defRPr sz="1600" b="1">
                <a:solidFill>
                  <a:srgbClr val="0F172A"/>
                </a:solidFill>
                <a:latin typeface="Arial"/>
              </a:defRPr>
            </a:pPr>
            <a:r>
              <a:t>• 1. إضافة رمز الأمان المرئي (SAS / QR Code) لمصادقة أول اتصال وتفادي هجوم الرجل في المنتصف تماماً.</a:t>
            </a:r>
          </a:p>
          <a:p>
            <a:pPr>
              <a:spcBef>
                <a:spcPts val="1000"/>
              </a:spcBef>
              <a:defRPr sz="1600" b="1">
                <a:solidFill>
                  <a:srgbClr val="0F172A"/>
                </a:solidFill>
                <a:latin typeface="Arial"/>
              </a:defRPr>
            </a:pPr>
            <a:r>
              <a:t>• 2. تطبيق بروتوكول متقدم للمجموعات (Tree-based Group Key Exchange) لتأمين الغرف بمفاتيح جماعية ديناميكية.</a:t>
            </a:r>
          </a:p>
          <a:p>
            <a:pPr>
              <a:spcBef>
                <a:spcPts val="1000"/>
              </a:spcBef>
              <a:defRPr sz="1600" b="1">
                <a:solidFill>
                  <a:srgbClr val="0F172A"/>
                </a:solidFill>
                <a:latin typeface="Arial"/>
              </a:defRPr>
            </a:pPr>
            <a:r>
              <a:t>• 3. دمج التحقق النهائي من بصمة الملف الكامل SHA-256 قبل فتح الملف من التنزيلات.</a:t>
            </a:r>
          </a:p>
          <a:p>
            <a:pPr>
              <a:spcBef>
                <a:spcPts val="1000"/>
              </a:spcBef>
              <a:defRPr sz="1600" b="1">
                <a:solidFill>
                  <a:srgbClr val="0F172A"/>
                </a:solidFill>
                <a:latin typeface="Arial"/>
              </a:defRPr>
            </a:pPr>
            <a:r>
              <a:t>• الخلاصة: تحول المشروع من تطبيق بسيط بمفتاح مكشوف إلى نظام أمني رصين يطبق معايير التشفير العالمية بوضوح وشفافية.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
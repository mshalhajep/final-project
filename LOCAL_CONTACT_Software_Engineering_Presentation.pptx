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الطالب الشفهية لمناقشة أستاذ هندسة البرمجيات:</a:t>
            </a:r>
          </a:p>
          <a:p>
            <a:r>
              <a:t>أهلاً بكم يا دكتور في مناقشة الجانب الهندسي لمشروع LOCAL CONTACT. في هذا العرض، نركز على كيفية إخضاع المشروع لمبادئ هندسة البرمجيات المنهجية (تحليل المتطلبات، خط الأساس، مصفوفة التتبع، الروائح المعمارية، إدارة التغيير، واستراتيجية الاختبارات) بدلاً من الاكتفاء بعرض كود مجرد. قمنا بإعداد هذا العمل كفريق متكامل يضم الزملاء: مشعل حاجب، محمد العيدروس، قحطان الشاجع، أواب النزييلي، ومحمد العواضي.</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الطالب الشفهية لمناقشة أستاذ هندسة البرمجيات:</a:t>
            </a:r>
          </a:p>
          <a:p>
            <a:r>
              <a:t>في هذه الشريحة نبيّن للدكتور نقطة الصفر: عندما استلمنا المشروع، وجدنا تطبيقاً يعمل كـ prototype لكنه يفتقر تماماً للركائز الهندسية: لا وثيقة متطلبات SRS، لا خط أساس موثق، لا اختبارات آلية، وكلاسات عملاقة تجاوز أحدها 2400 سطر يجمع الاكتشاف والمكالمات والتراسل في مكان واحد. هذا التشخيص هو الأساس الذي بنينا عليه خطتنا الهندسية الشاملة.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الطالب الشفهية لمناقشة أستاذ هندسة البرمجيات:</a:t>
            </a:r>
          </a:p>
          <a:p>
            <a:r>
              <a:t>اشرح للدكتور أن وثيقة الـ SRS المكونة من 622 سطراً لم تكن مجرد نصوص عامة، بل بنيت وفق نموذج تصنيف خماسي صارم ابتكرناه لمنع الوعود غير الواقعية. بيّن له أننا صنفنا 31 متطلباً وظيفياً و 15 قصة مستخدم، ووضعنا حدوداً واضحة لما هو داخل النطاق وما هو خارجه، مما منح المشروع رصانة أكاديمية تحميه من ادعاء ميزات لم تنفذ بعد.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الطالب الشفهية لمناقشة أستاذ هندسة البرمجيات:</a:t>
            </a:r>
          </a:p>
          <a:p>
            <a:r>
              <a:t>وضّح للأستاذ كيف طبقنا مفهوم خط الأساس البرمجي (Software Baseline). قمنا بتثبيت الـ Commit رقم 7111182 وتوثيقه في ملف Baseline.md، وحددنا بدقة بيئة البناء (Gradle 9.4 و Kotlin 2.2). هذا التثبيت يحقق مبدأ Reproducibility ويمنع حدوث انزلاق في نطاق العمل، مع الإقرار الصريح بحدود التحقق الحالية.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الطالب الشفهية لمناقشة أستاذ هندسة البرمجيات:</a:t>
            </a:r>
          </a:p>
          <a:p>
            <a:r>
              <a:t>اشرح للأستاذ كيف قسّمنا بنية المشروع معمارياً: كل جهاز في شبكة LOCAL CONTACT يعمل كـ Peer مكافئ (Client و Listener معاً). تم توزيع النظام على أربع طبقات واضحة: Presentation بنمط Jetpack Compose، و Coordination عبر ViewModel، و Network Engines معزولة لكل نوع بيانات، و Persistence محلي عبر Room و DataStore.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الطالب الشفهية لمناقشة أستاذ هندسة البرمجيات:</a:t>
            </a:r>
          </a:p>
          <a:p>
            <a:r>
              <a:t>ركز هنا أمام أستاذ هندسة البرمجيات: نحن لا ندّعي كمال الكود، بل طبقنا التحليل المعماري للكشف عن الروائح البرمجية (Code Smells). رصدنا تضخم كلاس LocalP2PEngine وكلاس MainViewModel، ووضحنا انتهاكها لمبدأ SRP. وبيّنا كيف بدأنا حل المشكلة بتطبيق مبدأ Dependency Inversion في التشفير عبر KeyProvider تمهيداً لتفكيك بقية الأجزاء.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الطالب الشفهية لمناقشة أستاذ هندسة البرمجيات:</a:t>
            </a:r>
          </a:p>
          <a:p>
            <a:r>
              <a:t>هذه الشريحة تمثل جوهر هندسة البرمجيات: استعرض للدكتور مصفوفة تتبع المتطلبات RTM في ملف TraceabilityMatrix.md المكون من 324 سطراً. وضّح له كيف ربطنا 31 متطلباً وظيفياً بالكود المصدري وبالاختبارات، وأكد على الأمانة العلمية: FR-13 (الحذف الشبكي) وثقناها صراحة كـ Missing لأن الكود لا يدعمها، بينما FR-28 أثبتناها بـ 10 اختبارات JVM.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الطالب الشفهية لمناقشة أستاذ هندسة البرمجيات:</a:t>
            </a:r>
          </a:p>
          <a:p>
            <a:r>
              <a:t>اشرح للأستاذ كيف تعاملنا مع إدارة التغيير: عند ترقية التشفير، طبقنا نمط Provider وعزلنا إدارة المفتاح في KeyProvider.kt. أنشأنا LegacyStaticKeyProvider للحفاظ على التوافق مع الكود القديم. النتيجة الهندسية: حدث التغيير المعماري دون كسر سطر واحد في كود المحادثات أو مكالمات الصوت أو الفيديو القديمة.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الطالب الشفهية لمناقشة أستاذ هندسة البرمجيات:</a:t>
            </a:r>
          </a:p>
          <a:p>
            <a:r>
              <a:t>أكد للدكتور على منهجية التحقق: بنينا 33 اختبار وحدة آلي على مستوى الـ JVM تعمل تلقائياً عبر Gradle Test وتنجح بنسبة 100%. غطت الاختبارات التشفير، تبادل المفاتيح، والـ HKDF. واختم بتوضيح الفرق العلمي: هذه الاختبارات أثبتت المنطق البرمجي، لكن إثبات الأداء الشبكي التام يتطلب فحصاً على أجهزة حقيقية.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الطالب الشفهية لمناقشة أستاذ هندسة البرمجيات:</a:t>
            </a:r>
          </a:p>
          <a:p>
            <a:r>
              <a:t>استعرض للأستاذ منظومة الأدوات الهندسية: نستخدم أحدث ممارسات البناء في أندرويد: Gradle 9.4 و Kotlin 2.2 و KSP لمعالجة الأكواد البرمجية بدلاً من kapt البطيء. كل هذه الأدوات مضبوطة في build.gradle.kts وتضمن استقرار البناء، والتكامل الكامل مع Git لتتبع الإصدارات.</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الطالب الشفهية لمناقشة أستاذ هندسة البرمجيات:</a:t>
            </a:r>
          </a:p>
          <a:p>
            <a:r>
              <a:t>هذه الشريحة تكسبك ثقة لجنة المناقشة بالكامل: اعترف بالقيود بشجاعة علمية. وضّح للدكتور أن هندسة البرمجيات الحقيقية لا تخفي العيوب، بل توثقها كديون تقنية ومخاطر. اعترف بأن الحذف شبكياً مفقود، وأن فحص SHA-256 للملف الكامل مقترح مستقبلي، وأن شبكات الـ Wi-Fi التي تفعل AP Isolation تمثل عائقاً شبكياً وثقناه ووضعنا خطة للتعامل معه.</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الطالب الشفهية لمناقشة أستاذ هندسة البرمجيات:</a:t>
            </a:r>
          </a:p>
          <a:p>
            <a:r>
              <a:t>اختم العرض بقوة وثقة أمام أستاذ هندسة البرمجيات: لخص الإنجاز في نقطتين: 1- فرضنا الانضباط الهندسي الكامل عبر SRS و Baseline و RTM و 33 اختبار وحدة آلي. 2- وضعنا خارطة طريق واضحة للمستقبل لمعالجة الروائح المعمارية واختبار الأجهزة الحقيقية. أكد للدكتور أن هندسة البرمجيات هي التي نقلت المشروع من مجرد 'كود هواة' إلى 'نظام هندسي رصين قابل للتطوير الأكاديمي والمهني'. نشكركم على حسن الاستماع ومستعدون لمناقشة أسئلتكم.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828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75120"/>
            <a:ext cx="12191695" cy="1828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291840" y="411480"/>
            <a:ext cx="5577840" cy="411480"/>
          </a:xfrm>
          <a:prstGeom prst="roundRect">
            <a:avLst/>
          </a:prstGeom>
          <a:solidFill>
            <a:srgbClr val="121C3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38BDF8"/>
                </a:solidFill>
                <a:latin typeface="Cairo"/>
              </a:defRPr>
            </a:pPr>
            <a:r>
              <a:t>📐 المناقشة الأكاديمية — مادة هندسة البرمجيات المتقدمة</a:t>
            </a:r>
          </a:p>
        </p:txBody>
      </p:sp>
      <p:sp>
        <p:nvSpPr>
          <p:cNvPr id="6" name="TextBox 5"/>
          <p:cNvSpPr txBox="1"/>
          <p:nvPr/>
        </p:nvSpPr>
        <p:spPr>
          <a:xfrm>
            <a:off x="731520" y="932688"/>
            <a:ext cx="10698480" cy="822960"/>
          </a:xfrm>
          <a:prstGeom prst="rect">
            <a:avLst/>
          </a:prstGeom>
          <a:noFill/>
        </p:spPr>
        <p:txBody>
          <a:bodyPr wrap="none">
            <a:spAutoFit/>
          </a:bodyPr>
          <a:lstStyle/>
          <a:p>
            <a:pPr algn="ctr">
              <a:defRPr sz="2900" b="1">
                <a:solidFill>
                  <a:srgbClr val="F8FAFC"/>
                </a:solidFill>
                <a:latin typeface="Cairo"/>
              </a:defRPr>
            </a:pPr>
            <a:r>
              <a:t>هندسة البرمجيات في مشروع LOCAL CONTACT</a:t>
            </a:r>
          </a:p>
        </p:txBody>
      </p:sp>
      <p:sp>
        <p:nvSpPr>
          <p:cNvPr id="7" name="TextBox 6"/>
          <p:cNvSpPr txBox="1"/>
          <p:nvPr/>
        </p:nvSpPr>
        <p:spPr>
          <a:xfrm>
            <a:off x="1097280" y="1737360"/>
            <a:ext cx="9966960" cy="502920"/>
          </a:xfrm>
          <a:prstGeom prst="rect">
            <a:avLst/>
          </a:prstGeom>
          <a:noFill/>
        </p:spPr>
        <p:txBody>
          <a:bodyPr wrap="none">
            <a:spAutoFit/>
          </a:bodyPr>
          <a:lstStyle/>
          <a:p>
            <a:pPr algn="ctr">
              <a:defRPr sz="1500" b="1">
                <a:solidFill>
                  <a:srgbClr val="38BDF8"/>
                </a:solidFill>
                <a:latin typeface="Cairo"/>
              </a:defRPr>
            </a:pPr>
            <a:r>
              <a:t>تحليل المتطلبات، التصميم المعماري، إدارة التغيير، الاختبارات، والتتبع</a:t>
            </a:r>
          </a:p>
        </p:txBody>
      </p:sp>
      <p:sp>
        <p:nvSpPr>
          <p:cNvPr id="8" name="Rounded Rectangle 7"/>
          <p:cNvSpPr/>
          <p:nvPr/>
        </p:nvSpPr>
        <p:spPr>
          <a:xfrm>
            <a:off x="1005840" y="2423160"/>
            <a:ext cx="4937760" cy="86868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8FAFC"/>
                </a:solidFill>
                <a:latin typeface="Cairo"/>
              </a:defRPr>
            </a:pPr>
            <a:r>
              <a:t>📋 هندسة المتطلبات (SRS)</a:t>
            </a:r>
          </a:p>
          <a:p>
            <a:pPr>
              <a:defRPr sz="1000">
                <a:solidFill>
                  <a:srgbClr val="94A3B8"/>
                </a:solidFill>
                <a:latin typeface="Cairo"/>
              </a:defRPr>
            </a:pPr>
            <a:r>
              <a:t>توثيق 31 متطلباً وظيفياً و 15 قصة مستخدم مع تصنيف خماسي صارم</a:t>
            </a:r>
          </a:p>
        </p:txBody>
      </p:sp>
      <p:sp>
        <p:nvSpPr>
          <p:cNvPr id="9" name="Rounded Rectangle 8"/>
          <p:cNvSpPr/>
          <p:nvPr/>
        </p:nvSpPr>
        <p:spPr>
          <a:xfrm>
            <a:off x="6217920" y="2423160"/>
            <a:ext cx="4937760" cy="86868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8FAFC"/>
                </a:solidFill>
                <a:latin typeface="Cairo"/>
              </a:defRPr>
            </a:pPr>
            <a:r>
              <a:t>🏛️ التصميم المعماري (Architecture)</a:t>
            </a:r>
          </a:p>
          <a:p>
            <a:pPr>
              <a:defRPr sz="1000">
                <a:solidFill>
                  <a:srgbClr val="94A3B8"/>
                </a:solidFill>
                <a:latin typeface="Cairo"/>
              </a:defRPr>
            </a:pPr>
            <a:r>
              <a:t>معمارية P2P لا مركزية، تفكيك المسؤوليات، وتجريد واجهات SOLID</a:t>
            </a:r>
          </a:p>
        </p:txBody>
      </p:sp>
      <p:sp>
        <p:nvSpPr>
          <p:cNvPr id="10" name="Rounded Rectangle 9"/>
          <p:cNvSpPr/>
          <p:nvPr/>
        </p:nvSpPr>
        <p:spPr>
          <a:xfrm>
            <a:off x="1005840" y="3429000"/>
            <a:ext cx="4937760" cy="86868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8FAFC"/>
                </a:solidFill>
                <a:latin typeface="Cairo"/>
              </a:defRPr>
            </a:pPr>
            <a:r>
              <a:t>🔄 إدارة التغيير وخط الأساس</a:t>
            </a:r>
          </a:p>
          <a:p>
            <a:pPr>
              <a:defRPr sz="1000">
                <a:solidFill>
                  <a:srgbClr val="94A3B8"/>
                </a:solidFill>
                <a:latin typeface="Cairo"/>
              </a:defRPr>
            </a:pPr>
            <a:r>
              <a:t>تثبيت Baseline Commit 7111182 وتطبيق نمط Provider لمنع كسر الكود</a:t>
            </a:r>
          </a:p>
        </p:txBody>
      </p:sp>
      <p:sp>
        <p:nvSpPr>
          <p:cNvPr id="11" name="Rounded Rectangle 10"/>
          <p:cNvSpPr/>
          <p:nvPr/>
        </p:nvSpPr>
        <p:spPr>
          <a:xfrm>
            <a:off x="6217920" y="3429000"/>
            <a:ext cx="4937760" cy="86868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8FAFC"/>
                </a:solidFill>
                <a:latin typeface="Cairo"/>
              </a:defRPr>
            </a:pPr>
            <a:r>
              <a:t>🔍 مصفوفة التتبع والتحقق (RTM)</a:t>
            </a:r>
          </a:p>
          <a:p>
            <a:pPr>
              <a:defRPr sz="1000">
                <a:solidFill>
                  <a:srgbClr val="94A3B8"/>
                </a:solidFill>
                <a:latin typeface="Cairo"/>
              </a:defRPr>
            </a:pPr>
            <a:r>
              <a:t>ربط المتطلبات بالكود وبالاختبارات (33/33 اختبار وحدة JVM ناجح)</a:t>
            </a:r>
          </a:p>
        </p:txBody>
      </p:sp>
      <p:sp>
        <p:nvSpPr>
          <p:cNvPr id="12" name="Rounded Rectangle 11"/>
          <p:cNvSpPr/>
          <p:nvPr/>
        </p:nvSpPr>
        <p:spPr>
          <a:xfrm>
            <a:off x="731520" y="4526280"/>
            <a:ext cx="10698480" cy="1280160"/>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38BDF8"/>
                </a:solidFill>
                <a:latin typeface="Cairo"/>
              </a:defRPr>
            </a:pPr>
            <a:r>
              <a:t>👥 الطلاب المنفذون للمشروع:</a:t>
            </a:r>
          </a:p>
        </p:txBody>
      </p:sp>
      <p:sp>
        <p:nvSpPr>
          <p:cNvPr id="13" name="Rounded Rectangle 12"/>
          <p:cNvSpPr/>
          <p:nvPr/>
        </p:nvSpPr>
        <p:spPr>
          <a:xfrm>
            <a:off x="914400" y="5074920"/>
            <a:ext cx="2011680" cy="502920"/>
          </a:xfrm>
          <a:prstGeom prst="roundRect">
            <a:avLst/>
          </a:prstGeom>
          <a:solidFill>
            <a:srgbClr val="1A2A50"/>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latin typeface="Cairo"/>
              </a:defRPr>
            </a:pPr>
            <a:r>
              <a:t>إعداد الطالب: مشعل حاجب</a:t>
            </a:r>
          </a:p>
        </p:txBody>
      </p:sp>
      <p:sp>
        <p:nvSpPr>
          <p:cNvPr id="14" name="Rounded Rectangle 13"/>
          <p:cNvSpPr/>
          <p:nvPr/>
        </p:nvSpPr>
        <p:spPr>
          <a:xfrm>
            <a:off x="3017520" y="5074920"/>
            <a:ext cx="2011680" cy="502920"/>
          </a:xfrm>
          <a:prstGeom prst="roundRect">
            <a:avLst/>
          </a:prstGeom>
          <a:solidFill>
            <a:srgbClr val="1A2A50"/>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latin typeface="Cairo"/>
              </a:defRPr>
            </a:pPr>
            <a:r>
              <a:t>إعداد الطالب: محمد العيدروس</a:t>
            </a:r>
          </a:p>
        </p:txBody>
      </p:sp>
      <p:sp>
        <p:nvSpPr>
          <p:cNvPr id="15" name="Rounded Rectangle 14"/>
          <p:cNvSpPr/>
          <p:nvPr/>
        </p:nvSpPr>
        <p:spPr>
          <a:xfrm>
            <a:off x="5120640" y="5074920"/>
            <a:ext cx="2011680" cy="502920"/>
          </a:xfrm>
          <a:prstGeom prst="roundRect">
            <a:avLst/>
          </a:prstGeom>
          <a:solidFill>
            <a:srgbClr val="1A2A50"/>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latin typeface="Cairo"/>
              </a:defRPr>
            </a:pPr>
            <a:r>
              <a:t>إعداد الطالب: قحطان الشاجع</a:t>
            </a:r>
          </a:p>
        </p:txBody>
      </p:sp>
      <p:sp>
        <p:nvSpPr>
          <p:cNvPr id="16" name="Rounded Rectangle 15"/>
          <p:cNvSpPr/>
          <p:nvPr/>
        </p:nvSpPr>
        <p:spPr>
          <a:xfrm>
            <a:off x="7223759" y="5074920"/>
            <a:ext cx="2011680" cy="502920"/>
          </a:xfrm>
          <a:prstGeom prst="roundRect">
            <a:avLst/>
          </a:prstGeom>
          <a:solidFill>
            <a:srgbClr val="1A2A50"/>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latin typeface="Cairo"/>
              </a:defRPr>
            </a:pPr>
            <a:r>
              <a:t>إعداد الطالب: أواب النزييلي</a:t>
            </a:r>
          </a:p>
        </p:txBody>
      </p:sp>
      <p:sp>
        <p:nvSpPr>
          <p:cNvPr id="17" name="Rounded Rectangle 16"/>
          <p:cNvSpPr/>
          <p:nvPr/>
        </p:nvSpPr>
        <p:spPr>
          <a:xfrm>
            <a:off x="9326880" y="5074920"/>
            <a:ext cx="2011680" cy="502920"/>
          </a:xfrm>
          <a:prstGeom prst="roundRect">
            <a:avLst/>
          </a:prstGeom>
          <a:solidFill>
            <a:srgbClr val="1A2A50"/>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latin typeface="Cairo"/>
              </a:defRPr>
            </a:pPr>
            <a:r>
              <a:t>إعداد الطالب: محمد العواضي</a:t>
            </a:r>
          </a:p>
        </p:txBody>
      </p:sp>
      <p:sp>
        <p:nvSpPr>
          <p:cNvPr id="18" name="TextBox 17"/>
          <p:cNvSpPr txBox="1"/>
          <p:nvPr/>
        </p:nvSpPr>
        <p:spPr>
          <a:xfrm>
            <a:off x="731520" y="5943600"/>
            <a:ext cx="10698480" cy="365760"/>
          </a:xfrm>
          <a:prstGeom prst="rect">
            <a:avLst/>
          </a:prstGeom>
          <a:noFill/>
        </p:spPr>
        <p:txBody>
          <a:bodyPr wrap="none">
            <a:spAutoFit/>
          </a:bodyPr>
          <a:lstStyle/>
          <a:p>
            <a:pPr algn="ctr">
              <a:defRPr sz="1050" b="1">
                <a:solidFill>
                  <a:srgbClr val="94A3B8"/>
                </a:solidFill>
                <a:latin typeface="Cairo"/>
              </a:defRPr>
            </a:pPr>
            <a:r>
              <a:t>مقدم إلى: أستاذ هندسة البرمجيات | البيئة: Android SDK (API 24+) &amp; Kotlin 2.2 | Commit: 7111182 | الشريحة: 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7772400" cy="347472"/>
          </a:xfrm>
          <a:prstGeom prst="rect">
            <a:avLst/>
          </a:prstGeom>
          <a:noFill/>
        </p:spPr>
        <p:txBody>
          <a:bodyPr wrap="square">
            <a:spAutoFit/>
          </a:bodyPr>
          <a:lstStyle/>
          <a:p>
            <a:pPr>
              <a:defRPr sz="1100" b="1">
                <a:solidFill>
                  <a:srgbClr val="38BDF8"/>
                </a:solidFill>
                <a:latin typeface="Cairo"/>
              </a:defRPr>
            </a:pPr>
            <a:r>
              <a:t>• تشخيص واقع النظام | هندسة البرمجيات — مشروع LOCAL CONTACT P2P</a:t>
            </a:r>
          </a:p>
        </p:txBody>
      </p:sp>
      <p:sp>
        <p:nvSpPr>
          <p:cNvPr id="5" name="Rounded Rectangle 4"/>
          <p:cNvSpPr/>
          <p:nvPr/>
        </p:nvSpPr>
        <p:spPr>
          <a:xfrm>
            <a:off x="10424160" y="228600"/>
            <a:ext cx="1005840" cy="347472"/>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latin typeface="Consolas"/>
              </a:defRPr>
            </a:pPr>
            <a:r>
              <a:t>2 / 12</a:t>
            </a:r>
          </a:p>
        </p:txBody>
      </p:sp>
      <p:sp>
        <p:nvSpPr>
          <p:cNvPr id="6" name="TextBox 5"/>
          <p:cNvSpPr txBox="1"/>
          <p:nvPr/>
        </p:nvSpPr>
        <p:spPr>
          <a:xfrm>
            <a:off x="731520" y="621792"/>
            <a:ext cx="8778240" cy="502920"/>
          </a:xfrm>
          <a:prstGeom prst="rect">
            <a:avLst/>
          </a:prstGeom>
          <a:noFill/>
        </p:spPr>
        <p:txBody>
          <a:bodyPr wrap="square">
            <a:spAutoFit/>
          </a:bodyPr>
          <a:lstStyle/>
          <a:p>
            <a:pPr>
              <a:defRPr sz="2000" b="1">
                <a:solidFill>
                  <a:srgbClr val="F8FAFC"/>
                </a:solidFill>
                <a:latin typeface="Cairo"/>
              </a:defRPr>
            </a:pPr>
            <a:r>
              <a:t>حالة المشروع قبل التدخل الهندسي والمشكلات المكتشفة</a:t>
            </a:r>
          </a:p>
        </p:txBody>
      </p:sp>
      <p:sp>
        <p:nvSpPr>
          <p:cNvPr id="7" name="TextBox 6"/>
          <p:cNvSpPr txBox="1"/>
          <p:nvPr/>
        </p:nvSpPr>
        <p:spPr>
          <a:xfrm>
            <a:off x="731520" y="1115568"/>
            <a:ext cx="8778240" cy="347472"/>
          </a:xfrm>
          <a:prstGeom prst="rect">
            <a:avLst/>
          </a:prstGeom>
          <a:noFill/>
        </p:spPr>
        <p:txBody>
          <a:bodyPr wrap="square">
            <a:spAutoFit/>
          </a:bodyPr>
          <a:lstStyle/>
          <a:p>
            <a:pPr>
              <a:defRPr sz="1150" b="1">
                <a:solidFill>
                  <a:srgbClr val="94A3B8"/>
                </a:solidFill>
                <a:latin typeface="Cairo"/>
              </a:defRPr>
            </a:pPr>
            <a:r>
              <a:t>تحليل الفجوات المعمارية والتوثيقية التي استدعت تطبيق مبادئ هندسة البرمجيات</a:t>
            </a:r>
          </a:p>
        </p:txBody>
      </p:sp>
      <p:sp>
        <p:nvSpPr>
          <p:cNvPr id="8" name="Rounded Rectangle 7"/>
          <p:cNvSpPr/>
          <p:nvPr/>
        </p:nvSpPr>
        <p:spPr>
          <a:xfrm>
            <a:off x="8961120" y="685800"/>
            <a:ext cx="2468880" cy="384048"/>
          </a:xfrm>
          <a:prstGeom prst="roundRect">
            <a:avLst/>
          </a:prstGeom>
          <a:solidFill>
            <a:srgbClr val="7F1D1D"/>
          </a:solidFill>
          <a:ln w="190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7171"/>
                </a:solidFill>
                <a:latin typeface="Consolas"/>
              </a:defRPr>
            </a:pPr>
            <a:r>
              <a:t>PRE-SE AUDIT</a:t>
            </a:r>
          </a:p>
        </p:txBody>
      </p:sp>
      <p:sp>
        <p:nvSpPr>
          <p:cNvPr id="9" name="Rectangle 8"/>
          <p:cNvSpPr/>
          <p:nvPr/>
        </p:nvSpPr>
        <p:spPr>
          <a:xfrm>
            <a:off x="731520" y="1536192"/>
            <a:ext cx="10698480" cy="18288"/>
          </a:xfrm>
          <a:prstGeom prst="rect">
            <a:avLst/>
          </a:prstGeom>
          <a:solidFill>
            <a:srgbClr val="2538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698480" cy="320040"/>
          </a:xfrm>
          <a:prstGeom prst="rect">
            <a:avLst/>
          </a:prstGeom>
          <a:noFill/>
        </p:spPr>
        <p:txBody>
          <a:bodyPr wrap="none">
            <a:spAutoFit/>
          </a:bodyPr>
          <a:lstStyle/>
          <a:p>
            <a:pPr>
              <a:defRPr sz="950" b="1">
                <a:solidFill>
                  <a:srgbClr val="64748B"/>
                </a:solidFill>
                <a:latin typeface="Cairo"/>
              </a:defRPr>
            </a:pPr>
            <a:r>
              <a:t>مشروع LOCAL CONTACT P2P — وثائق ومناقشة هندسة البرمجيات الأكاديمية | الشريحة رقم 2 من أصل 12 شريحة</a:t>
            </a:r>
          </a:p>
        </p:txBody>
      </p:sp>
      <p:sp>
        <p:nvSpPr>
          <p:cNvPr id="11" name="Rounded Rectangle 10"/>
          <p:cNvSpPr/>
          <p:nvPr/>
        </p:nvSpPr>
        <p:spPr>
          <a:xfrm>
            <a:off x="731520" y="1737360"/>
            <a:ext cx="5212080" cy="4480560"/>
          </a:xfrm>
          <a:prstGeom prst="roundRect">
            <a:avLst/>
          </a:prstGeom>
          <a:solidFill>
            <a:srgbClr val="121C38"/>
          </a:solidFill>
          <a:ln w="190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87171"/>
                </a:solidFill>
                <a:latin typeface="Cairo"/>
              </a:defRPr>
            </a:pPr>
            <a:r>
              <a:t>⚠️ المشكلات الهندسية والتوثيقية المكتشفة:</a:t>
            </a:r>
          </a:p>
          <a:p>
            <a:pPr>
              <a:spcBef>
                <a:spcPts val="800"/>
              </a:spcBef>
              <a:defRPr sz="1100" b="1">
                <a:solidFill>
                  <a:srgbClr val="F8FAFC"/>
                </a:solidFill>
                <a:latin typeface="Cairo"/>
              </a:defRPr>
            </a:pPr>
            <a:r>
              <a:t>• انعدام وثائق المتطلبات الرسمية (No SRS):</a:t>
            </a:r>
          </a:p>
          <a:p>
            <a:pPr>
              <a:defRPr sz="950">
                <a:solidFill>
                  <a:srgbClr val="94A3B8"/>
                </a:solidFill>
                <a:latin typeface="Cairo"/>
              </a:defRPr>
            </a:pPr>
            <a:r>
              <a:t>  التطبيق كان يحتوي على ميزات عديدة لكن دون توصيف رسمي للمتطلبات الوظيفية أو معايير قبول (Acceptance Criteria) محددة.</a:t>
            </a:r>
          </a:p>
          <a:p>
            <a:pPr>
              <a:spcBef>
                <a:spcPts val="800"/>
              </a:spcBef>
              <a:defRPr sz="1100" b="1">
                <a:solidFill>
                  <a:srgbClr val="F8FAFC"/>
                </a:solidFill>
                <a:latin typeface="Cairo"/>
              </a:defRPr>
            </a:pPr>
            <a:r>
              <a:t>• غياب خط الأساس الهندسي (No Baseline):</a:t>
            </a:r>
          </a:p>
          <a:p>
            <a:pPr>
              <a:defRPr sz="950">
                <a:solidFill>
                  <a:srgbClr val="94A3B8"/>
                </a:solidFill>
                <a:latin typeface="Cairo"/>
              </a:defRPr>
            </a:pPr>
            <a:r>
              <a:t>  لم يكن هناك Commit مرجعي ثابت يمثل خط الأساس للمشروع، مما صعب قياس الأثر والتحكم في التغيير والتفرع.</a:t>
            </a:r>
          </a:p>
          <a:p>
            <a:pPr>
              <a:spcBef>
                <a:spcPts val="800"/>
              </a:spcBef>
              <a:defRPr sz="1100" b="1">
                <a:solidFill>
                  <a:srgbClr val="F8FAFC"/>
                </a:solidFill>
                <a:latin typeface="Cairo"/>
              </a:defRPr>
            </a:pPr>
            <a:r>
              <a:t>• غياب مصفوفة التتبع (No Traceability):</a:t>
            </a:r>
          </a:p>
          <a:p>
            <a:pPr>
              <a:defRPr sz="950">
                <a:solidFill>
                  <a:srgbClr val="94A3B8"/>
                </a:solidFill>
                <a:latin typeface="Cairo"/>
              </a:defRPr>
            </a:pPr>
            <a:r>
              <a:t>  استحالة معرفة أي متطلب يقابله أي ملف برمجي، وأي أجزاء خضعت لاختبار وأيها يمثل ميزة غير مكتملة.</a:t>
            </a:r>
          </a:p>
          <a:p>
            <a:pPr>
              <a:spcBef>
                <a:spcPts val="800"/>
              </a:spcBef>
              <a:defRPr sz="1100" b="1">
                <a:solidFill>
                  <a:srgbClr val="F8FAFC"/>
                </a:solidFill>
                <a:latin typeface="Cairo"/>
              </a:defRPr>
            </a:pPr>
            <a:r>
              <a:t>• انعدام الاختبارات الآلية (Zero Unit Tests):</a:t>
            </a:r>
          </a:p>
          <a:p>
            <a:pPr>
              <a:defRPr sz="950">
                <a:solidFill>
                  <a:srgbClr val="94A3B8"/>
                </a:solidFill>
                <a:latin typeface="Cairo"/>
              </a:defRPr>
            </a:pPr>
            <a:r>
              <a:t>  كان المستودع يخلو تماماً من أي اختبارات آلية تفحص المحركات الحساسة وتثبت سلوكها برمجياً.</a:t>
            </a:r>
          </a:p>
        </p:txBody>
      </p:sp>
      <p:sp>
        <p:nvSpPr>
          <p:cNvPr id="12" name="Rounded Rectangle 11"/>
          <p:cNvSpPr/>
          <p:nvPr/>
        </p:nvSpPr>
        <p:spPr>
          <a:xfrm>
            <a:off x="6217920" y="1737360"/>
            <a:ext cx="5212080" cy="448056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BBF24"/>
                </a:solidFill>
                <a:latin typeface="Cairo"/>
              </a:defRPr>
            </a:pPr>
            <a:r>
              <a:t>🧩 الروائح المعمارية في الكود المصدري (Code Smells):</a:t>
            </a:r>
          </a:p>
          <a:p>
            <a:pPr>
              <a:spcBef>
                <a:spcPts val="800"/>
              </a:spcBef>
              <a:defRPr sz="1100" b="1">
                <a:solidFill>
                  <a:srgbClr val="F8FAFC"/>
                </a:solidFill>
                <a:latin typeface="Cairo"/>
              </a:defRPr>
            </a:pPr>
            <a:r>
              <a:t>• ظاهرة الكلاسات المتضخمة (God Classes):</a:t>
            </a:r>
          </a:p>
          <a:p>
            <a:pPr>
              <a:defRPr sz="950">
                <a:solidFill>
                  <a:srgbClr val="94A3B8"/>
                </a:solidFill>
                <a:latin typeface="Cairo"/>
              </a:defRPr>
            </a:pPr>
            <a:r>
              <a:t>  ملف LocalP2PEngine.kt بلغ 2,496 سطراً، وملف MainViewModel.kt بلغ 1,839 سطراً؛ مما انتهك مبدأ المسؤولية الواحدة (SRP).</a:t>
            </a:r>
          </a:p>
          <a:p>
            <a:pPr>
              <a:spcBef>
                <a:spcPts val="800"/>
              </a:spcBef>
              <a:defRPr sz="1100" b="1">
                <a:solidFill>
                  <a:srgbClr val="F8FAFC"/>
                </a:solidFill>
                <a:latin typeface="Cairo"/>
              </a:defRPr>
            </a:pPr>
            <a:r>
              <a:t>• الاقتران الشديد في إدارة التشفير (Tight Coupling):</a:t>
            </a:r>
          </a:p>
          <a:p>
            <a:pPr>
              <a:defRPr sz="950">
                <a:solidFill>
                  <a:srgbClr val="94A3B8"/>
                </a:solidFill>
                <a:latin typeface="Cairo"/>
              </a:defRPr>
            </a:pPr>
            <a:r>
              <a:t>  كلاس LocalCryptoEngine كان يشتق المفتاح الثابت داخلياً ويدير عمليات Cipher معاً، مما صعّب إدخال أي خوارزميات جديدة دون كسر الكود.</a:t>
            </a:r>
          </a:p>
          <a:p>
            <a:pPr>
              <a:spcBef>
                <a:spcPts val="800"/>
              </a:spcBef>
              <a:defRPr sz="1100" b="1">
                <a:solidFill>
                  <a:srgbClr val="F8FAFC"/>
                </a:solidFill>
                <a:latin typeface="Cairo"/>
              </a:defRPr>
            </a:pPr>
            <a:r>
              <a:t>• فجوات وظيفية صامتة (Silent Missing Features):</a:t>
            </a:r>
          </a:p>
          <a:p>
            <a:pPr>
              <a:defRPr sz="950">
                <a:solidFill>
                  <a:srgbClr val="94A3B8"/>
                </a:solidFill>
                <a:latin typeface="Cairo"/>
              </a:defRPr>
            </a:pPr>
            <a:r>
              <a:t>  ميزات مهمة مثل حذف الرسائل شبكياً من أجهزة الأقران أو فحص الـ Hash للملفات المستلمة لم تكن موجودة ولكن لم توثق كفجوة.</a:t>
            </a:r>
          </a:p>
          <a:p>
            <a:pPr>
              <a:spcBef>
                <a:spcPts val="800"/>
              </a:spcBef>
              <a:defRPr sz="1100" b="1">
                <a:solidFill>
                  <a:srgbClr val="F8FAFC"/>
                </a:solidFill>
                <a:latin typeface="Cairo"/>
              </a:defRPr>
            </a:pPr>
            <a:r>
              <a:t>• الخلط بين الإمكانية البرمجية والجاهزية التشغيلية:</a:t>
            </a:r>
          </a:p>
          <a:p>
            <a:pPr>
              <a:defRPr sz="950">
                <a:solidFill>
                  <a:srgbClr val="94A3B8"/>
                </a:solidFill>
                <a:latin typeface="Cairo"/>
              </a:defRPr>
            </a:pPr>
            <a:r>
              <a:t>  وجود كود يرسل حزم صوت لا يعني إثبات عمله تحت ظروف انقطاع الشبكة وضياع الحزم دون قياس واختبار.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7772400" cy="347472"/>
          </a:xfrm>
          <a:prstGeom prst="rect">
            <a:avLst/>
          </a:prstGeom>
          <a:noFill/>
        </p:spPr>
        <p:txBody>
          <a:bodyPr wrap="square">
            <a:spAutoFit/>
          </a:bodyPr>
          <a:lstStyle/>
          <a:p>
            <a:pPr>
              <a:defRPr sz="1100" b="1">
                <a:solidFill>
                  <a:srgbClr val="38BDF8"/>
                </a:solidFill>
                <a:latin typeface="Cairo"/>
              </a:defRPr>
            </a:pPr>
            <a:r>
              <a:t>• هندسة المتطلبات | هندسة البرمجيات — مشروع LOCAL CONTACT P2P</a:t>
            </a:r>
          </a:p>
        </p:txBody>
      </p:sp>
      <p:sp>
        <p:nvSpPr>
          <p:cNvPr id="5" name="Rounded Rectangle 4"/>
          <p:cNvSpPr/>
          <p:nvPr/>
        </p:nvSpPr>
        <p:spPr>
          <a:xfrm>
            <a:off x="10424160" y="228600"/>
            <a:ext cx="1005840" cy="347472"/>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latin typeface="Consolas"/>
              </a:defRPr>
            </a:pPr>
            <a:r>
              <a:t>3 / 12</a:t>
            </a:r>
          </a:p>
        </p:txBody>
      </p:sp>
      <p:sp>
        <p:nvSpPr>
          <p:cNvPr id="6" name="TextBox 5"/>
          <p:cNvSpPr txBox="1"/>
          <p:nvPr/>
        </p:nvSpPr>
        <p:spPr>
          <a:xfrm>
            <a:off x="731520" y="621792"/>
            <a:ext cx="8778240" cy="502920"/>
          </a:xfrm>
          <a:prstGeom prst="rect">
            <a:avLst/>
          </a:prstGeom>
          <a:noFill/>
        </p:spPr>
        <p:txBody>
          <a:bodyPr wrap="square">
            <a:spAutoFit/>
          </a:bodyPr>
          <a:lstStyle/>
          <a:p>
            <a:pPr>
              <a:defRPr sz="2000" b="1">
                <a:solidFill>
                  <a:srgbClr val="F8FAFC"/>
                </a:solidFill>
                <a:latin typeface="Cairo"/>
              </a:defRPr>
            </a:pPr>
            <a:r>
              <a:t>توثيق مواصفات المتطلبات البرمجية (SRS Specification)</a:t>
            </a:r>
          </a:p>
        </p:txBody>
      </p:sp>
      <p:sp>
        <p:nvSpPr>
          <p:cNvPr id="7" name="TextBox 6"/>
          <p:cNvSpPr txBox="1"/>
          <p:nvPr/>
        </p:nvSpPr>
        <p:spPr>
          <a:xfrm>
            <a:off x="731520" y="1115568"/>
            <a:ext cx="8778240" cy="347472"/>
          </a:xfrm>
          <a:prstGeom prst="rect">
            <a:avLst/>
          </a:prstGeom>
          <a:noFill/>
        </p:spPr>
        <p:txBody>
          <a:bodyPr wrap="square">
            <a:spAutoFit/>
          </a:bodyPr>
          <a:lstStyle/>
          <a:p>
            <a:pPr>
              <a:defRPr sz="1150" b="1">
                <a:solidFill>
                  <a:srgbClr val="94A3B8"/>
                </a:solidFill>
                <a:latin typeface="Cairo"/>
              </a:defRPr>
            </a:pPr>
            <a:r>
              <a:t>منهجية تحليل وتصنيف 31 متطلباً وظيفياً و 15 قصة مستخدم في وثيقة SRS.md</a:t>
            </a:r>
          </a:p>
        </p:txBody>
      </p:sp>
      <p:sp>
        <p:nvSpPr>
          <p:cNvPr id="8" name="Rounded Rectangle 7"/>
          <p:cNvSpPr/>
          <p:nvPr/>
        </p:nvSpPr>
        <p:spPr>
          <a:xfrm>
            <a:off x="8961120" y="685800"/>
            <a:ext cx="2468880" cy="384048"/>
          </a:xfrm>
          <a:prstGeom prst="roundRect">
            <a:avLst/>
          </a:prstGeom>
          <a:solidFill>
            <a:srgbClr val="064E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4D399"/>
                </a:solidFill>
                <a:latin typeface="Consolas"/>
              </a:defRPr>
            </a:pPr>
            <a:r>
              <a:t>docs/SRS.md (622 lines)</a:t>
            </a:r>
          </a:p>
        </p:txBody>
      </p:sp>
      <p:sp>
        <p:nvSpPr>
          <p:cNvPr id="9" name="Rectangle 8"/>
          <p:cNvSpPr/>
          <p:nvPr/>
        </p:nvSpPr>
        <p:spPr>
          <a:xfrm>
            <a:off x="731520" y="1536192"/>
            <a:ext cx="10698480" cy="18288"/>
          </a:xfrm>
          <a:prstGeom prst="rect">
            <a:avLst/>
          </a:prstGeom>
          <a:solidFill>
            <a:srgbClr val="2538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698480" cy="320040"/>
          </a:xfrm>
          <a:prstGeom prst="rect">
            <a:avLst/>
          </a:prstGeom>
          <a:noFill/>
        </p:spPr>
        <p:txBody>
          <a:bodyPr wrap="none">
            <a:spAutoFit/>
          </a:bodyPr>
          <a:lstStyle/>
          <a:p>
            <a:pPr>
              <a:defRPr sz="950" b="1">
                <a:solidFill>
                  <a:srgbClr val="64748B"/>
                </a:solidFill>
                <a:latin typeface="Cairo"/>
              </a:defRPr>
            </a:pPr>
            <a:r>
              <a:t>مشروع LOCAL CONTACT P2P — وثائق ومناقشة هندسة البرمجيات الأكاديمية | الشريحة رقم 3 من أصل 12 شريحة</a:t>
            </a:r>
          </a:p>
        </p:txBody>
      </p:sp>
      <p:sp>
        <p:nvSpPr>
          <p:cNvPr id="11" name="Rounded Rectangle 10"/>
          <p:cNvSpPr/>
          <p:nvPr/>
        </p:nvSpPr>
        <p:spPr>
          <a:xfrm>
            <a:off x="731520" y="1737360"/>
            <a:ext cx="5212080" cy="4480560"/>
          </a:xfrm>
          <a:prstGeom prst="roundRect">
            <a:avLst/>
          </a:prstGeom>
          <a:solidFill>
            <a:srgbClr val="121C3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8BDF8"/>
                </a:solidFill>
                <a:latin typeface="Cairo"/>
              </a:defRPr>
            </a:pPr>
            <a:r>
              <a:t>🎯 نموذج تصنيف المتطلبات الخماسي المبتكر (SRS.md):</a:t>
            </a:r>
          </a:p>
          <a:p>
            <a:pPr>
              <a:spcBef>
                <a:spcPts val="600"/>
              </a:spcBef>
              <a:defRPr sz="1050" b="1">
                <a:solidFill>
                  <a:srgbClr val="F8FAFC"/>
                </a:solidFill>
                <a:latin typeface="Cairo"/>
              </a:defRPr>
            </a:pPr>
            <a:r>
              <a:t>1. Official Requirement (متطلب رسمي):</a:t>
            </a:r>
          </a:p>
          <a:p>
            <a:pPr>
              <a:defRPr sz="950">
                <a:solidFill>
                  <a:srgbClr val="94A3B8"/>
                </a:solidFill>
                <a:latin typeface="Cairo"/>
              </a:defRPr>
            </a:pPr>
            <a:r>
              <a:t>  ما طُلب صراحة في التكليف الأكاديمي الرسمي؛ أي قيد لم ينص عليه لا يعد ملزماً.</a:t>
            </a:r>
          </a:p>
          <a:p>
            <a:pPr>
              <a:spcBef>
                <a:spcPts val="600"/>
              </a:spcBef>
              <a:defRPr sz="1050" b="1">
                <a:solidFill>
                  <a:srgbClr val="34D399"/>
                </a:solidFill>
                <a:latin typeface="Cairo"/>
              </a:defRPr>
            </a:pPr>
            <a:r>
              <a:t>2. Existing Capability (إمكانية حالية في الكود):</a:t>
            </a:r>
          </a:p>
          <a:p>
            <a:pPr>
              <a:defRPr sz="950">
                <a:solidFill>
                  <a:srgbClr val="94A3B8"/>
                </a:solidFill>
                <a:latin typeface="Cairo"/>
              </a:defRPr>
            </a:pPr>
            <a:r>
              <a:t>  وظيفة مبنية بالفعل في الكود ولكنها تحتاج إثباتاً تشغيلياً على أرض الواقع.</a:t>
            </a:r>
          </a:p>
          <a:p>
            <a:pPr>
              <a:spcBef>
                <a:spcPts val="600"/>
              </a:spcBef>
              <a:defRPr sz="1050" b="1">
                <a:solidFill>
                  <a:srgbClr val="38BDF8"/>
                </a:solidFill>
                <a:latin typeface="Cairo"/>
              </a:defRPr>
            </a:pPr>
            <a:r>
              <a:t>3. Proposed Improvement (تحسين مقترح):</a:t>
            </a:r>
          </a:p>
          <a:p>
            <a:pPr>
              <a:defRPr sz="950">
                <a:solidFill>
                  <a:srgbClr val="94A3B8"/>
                </a:solidFill>
                <a:latin typeface="Cairo"/>
              </a:defRPr>
            </a:pPr>
            <a:r>
              <a:t>  أفكار لتطوير النظام (مثل اقتراح تبادل المفاتيح) لا تعد جزءاً من خط الأساس الحالي.</a:t>
            </a:r>
          </a:p>
          <a:p>
            <a:pPr>
              <a:spcBef>
                <a:spcPts val="600"/>
              </a:spcBef>
              <a:defRPr sz="1050" b="1">
                <a:solidFill>
                  <a:srgbClr val="F87171"/>
                </a:solidFill>
                <a:latin typeface="Cairo"/>
              </a:defRPr>
            </a:pPr>
            <a:r>
              <a:t>4. Missing (مفقود / غير منفذ):</a:t>
            </a:r>
          </a:p>
          <a:p>
            <a:pPr>
              <a:defRPr sz="950">
                <a:solidFill>
                  <a:srgbClr val="94A3B8"/>
                </a:solidFill>
                <a:latin typeface="Cairo"/>
              </a:defRPr>
            </a:pPr>
            <a:r>
              <a:t>  وظيفة متوقعة لكن فحص الكود أثبت غيابها (مثل حذف الرسائل شبكياً وفحص Hash الملف).</a:t>
            </a:r>
          </a:p>
          <a:p>
            <a:pPr>
              <a:spcBef>
                <a:spcPts val="600"/>
              </a:spcBef>
              <a:defRPr sz="1050" b="1">
                <a:solidFill>
                  <a:srgbClr val="FBBF24"/>
                </a:solidFill>
                <a:latin typeface="Cairo"/>
              </a:defRPr>
            </a:pPr>
            <a:r>
              <a:t>5. Not Verified (غير مثبت تشغيلياً):</a:t>
            </a:r>
          </a:p>
          <a:p>
            <a:pPr>
              <a:defRPr sz="950">
                <a:solidFill>
                  <a:srgbClr val="94A3B8"/>
                </a:solidFill>
                <a:latin typeface="Cairo"/>
              </a:defRPr>
            </a:pPr>
            <a:r>
              <a:t>  كود موجود بالمستودع لم يُختبر بين جهازين حقيقيين في بيئة شبكة واقعية.</a:t>
            </a:r>
          </a:p>
        </p:txBody>
      </p:sp>
      <p:sp>
        <p:nvSpPr>
          <p:cNvPr id="12" name="Rounded Rectangle 11"/>
          <p:cNvSpPr/>
          <p:nvPr/>
        </p:nvSpPr>
        <p:spPr>
          <a:xfrm>
            <a:off x="6217920" y="1737360"/>
            <a:ext cx="5212080" cy="448056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8FAFC"/>
                </a:solidFill>
                <a:latin typeface="Cairo"/>
              </a:defRPr>
            </a:pPr>
            <a:r>
              <a:t>📑 محتويات وثيقة SRS المعتمدة (docs/SRS.md):</a:t>
            </a:r>
          </a:p>
          <a:p>
            <a:pPr>
              <a:spcBef>
                <a:spcPts val="600"/>
              </a:spcBef>
              <a:defRPr sz="1050" b="1">
                <a:solidFill>
                  <a:srgbClr val="F8FAFC"/>
                </a:solidFill>
                <a:latin typeface="Cairo"/>
              </a:defRPr>
            </a:pPr>
            <a:r>
              <a:t>• نطاق النظام (In Scope vs Out of Scope):</a:t>
            </a:r>
          </a:p>
          <a:p>
            <a:pPr>
              <a:defRPr sz="950">
                <a:solidFill>
                  <a:srgbClr val="94A3B8"/>
                </a:solidFill>
                <a:latin typeface="Cairo"/>
              </a:defRPr>
            </a:pPr>
            <a:r>
              <a:t>  تحديد دقيق لما يقدمه النظام (P2P محلي) وما يقع خارجه (لا خوادم سحابية، لا STUN/TURN، لا PKI معقدة).</a:t>
            </a:r>
          </a:p>
          <a:p>
            <a:pPr>
              <a:spcBef>
                <a:spcPts val="600"/>
              </a:spcBef>
              <a:defRPr sz="1050" b="1">
                <a:solidFill>
                  <a:srgbClr val="F8FAFC"/>
                </a:solidFill>
                <a:latin typeface="Cairo"/>
              </a:defRPr>
            </a:pPr>
            <a:r>
              <a:t>• الأطراف الفاعلة وسياق النظام (System Context):</a:t>
            </a:r>
          </a:p>
          <a:p>
            <a:pPr>
              <a:defRPr sz="950">
                <a:solidFill>
                  <a:srgbClr val="94A3B8"/>
                </a:solidFill>
                <a:latin typeface="Cairo"/>
              </a:defRPr>
            </a:pPr>
            <a:r>
              <a:t>  تعريف المستخدم، الأقران، نظام Android، عتاد الكاميرا والميكروفون، وقاعدة بيانات Room.</a:t>
            </a:r>
          </a:p>
          <a:p>
            <a:pPr>
              <a:spcBef>
                <a:spcPts val="600"/>
              </a:spcBef>
              <a:defRPr sz="1050" b="1">
                <a:solidFill>
                  <a:srgbClr val="F8FAFC"/>
                </a:solidFill>
                <a:latin typeface="Cairo"/>
              </a:defRPr>
            </a:pPr>
            <a:r>
              <a:t>• 31 متطلباً وظيفياً مفصلاً (FR-01 إلى FR-31):</a:t>
            </a:r>
          </a:p>
          <a:p>
            <a:pPr>
              <a:defRPr sz="950">
                <a:solidFill>
                  <a:srgbClr val="94A3B8"/>
                </a:solidFill>
                <a:latin typeface="Cairo"/>
              </a:defRPr>
            </a:pPr>
            <a:r>
              <a:t>  توصيف دقيق لكل متطلب: المدخلات، المخرجات، المعالجة، والملفات المسؤولة في الكود.</a:t>
            </a:r>
          </a:p>
          <a:p>
            <a:pPr>
              <a:spcBef>
                <a:spcPts val="600"/>
              </a:spcBef>
              <a:defRPr sz="1050" b="1">
                <a:solidFill>
                  <a:srgbClr val="F8FAFC"/>
                </a:solidFill>
                <a:latin typeface="Cairo"/>
              </a:defRPr>
            </a:pPr>
            <a:r>
              <a:t>• 15 قصة مستخدم قياسية (US-01 إلى US-15):</a:t>
            </a:r>
          </a:p>
          <a:p>
            <a:pPr>
              <a:defRPr sz="950">
                <a:solidFill>
                  <a:srgbClr val="94A3B8"/>
                </a:solidFill>
                <a:latin typeface="Cairo"/>
              </a:defRPr>
            </a:pPr>
            <a:r>
              <a:t>  صياغة هندسية قياسية: (كـ [مستخدم] أريد [وظيفة] حتى أتمكن من [قيمة مضافة]).</a:t>
            </a:r>
          </a:p>
          <a:p>
            <a:pPr>
              <a:spcBef>
                <a:spcPts val="600"/>
              </a:spcBef>
              <a:defRPr sz="1050" b="1">
                <a:solidFill>
                  <a:srgbClr val="F8FAFC"/>
                </a:solidFill>
                <a:latin typeface="Cairo"/>
              </a:defRPr>
            </a:pPr>
            <a:r>
              <a:t>• معايير القبول بصيغة (Given / When / Then):</a:t>
            </a:r>
          </a:p>
          <a:p>
            <a:pPr>
              <a:defRPr sz="950">
                <a:solidFill>
                  <a:srgbClr val="94A3B8"/>
                </a:solidFill>
                <a:latin typeface="Cairo"/>
              </a:defRPr>
            </a:pPr>
            <a:r>
              <a:t>  صياغة 28 معيار قبول لاختبار كل متطلب والتحقق من تحققه البرمجي.</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7772400" cy="347472"/>
          </a:xfrm>
          <a:prstGeom prst="rect">
            <a:avLst/>
          </a:prstGeom>
          <a:noFill/>
        </p:spPr>
        <p:txBody>
          <a:bodyPr wrap="square">
            <a:spAutoFit/>
          </a:bodyPr>
          <a:lstStyle/>
          <a:p>
            <a:pPr>
              <a:defRPr sz="1100" b="1">
                <a:solidFill>
                  <a:srgbClr val="38BDF8"/>
                </a:solidFill>
                <a:latin typeface="Cairo"/>
              </a:defRPr>
            </a:pPr>
            <a:r>
              <a:t>• إدارة خط الأساس | هندسة البرمجيات — مشروع LOCAL CONTACT P2P</a:t>
            </a:r>
          </a:p>
        </p:txBody>
      </p:sp>
      <p:sp>
        <p:nvSpPr>
          <p:cNvPr id="5" name="Rounded Rectangle 4"/>
          <p:cNvSpPr/>
          <p:nvPr/>
        </p:nvSpPr>
        <p:spPr>
          <a:xfrm>
            <a:off x="10424160" y="228600"/>
            <a:ext cx="1005840" cy="347472"/>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latin typeface="Consolas"/>
              </a:defRPr>
            </a:pPr>
            <a:r>
              <a:t>4 / 12</a:t>
            </a:r>
          </a:p>
        </p:txBody>
      </p:sp>
      <p:sp>
        <p:nvSpPr>
          <p:cNvPr id="6" name="TextBox 5"/>
          <p:cNvSpPr txBox="1"/>
          <p:nvPr/>
        </p:nvSpPr>
        <p:spPr>
          <a:xfrm>
            <a:off x="731520" y="621792"/>
            <a:ext cx="8778240" cy="502920"/>
          </a:xfrm>
          <a:prstGeom prst="rect">
            <a:avLst/>
          </a:prstGeom>
          <a:noFill/>
        </p:spPr>
        <p:txBody>
          <a:bodyPr wrap="square">
            <a:spAutoFit/>
          </a:bodyPr>
          <a:lstStyle/>
          <a:p>
            <a:pPr>
              <a:defRPr sz="2000" b="1">
                <a:solidFill>
                  <a:srgbClr val="F8FAFC"/>
                </a:solidFill>
                <a:latin typeface="Cairo"/>
              </a:defRPr>
            </a:pPr>
            <a:r>
              <a:t>توثيق خط الأساس (Baseline) والتحكم في الإصدارات</a:t>
            </a:r>
          </a:p>
        </p:txBody>
      </p:sp>
      <p:sp>
        <p:nvSpPr>
          <p:cNvPr id="7" name="TextBox 6"/>
          <p:cNvSpPr txBox="1"/>
          <p:nvPr/>
        </p:nvSpPr>
        <p:spPr>
          <a:xfrm>
            <a:off x="731520" y="1115568"/>
            <a:ext cx="8778240" cy="347472"/>
          </a:xfrm>
          <a:prstGeom prst="rect">
            <a:avLst/>
          </a:prstGeom>
          <a:noFill/>
        </p:spPr>
        <p:txBody>
          <a:bodyPr wrap="square">
            <a:spAutoFit/>
          </a:bodyPr>
          <a:lstStyle/>
          <a:p>
            <a:pPr>
              <a:defRPr sz="1150" b="1">
                <a:solidFill>
                  <a:srgbClr val="94A3B8"/>
                </a:solidFill>
                <a:latin typeface="Cairo"/>
              </a:defRPr>
            </a:pPr>
            <a:r>
              <a:t>تثبيت النسخة المرجعية Commit 7111182 وضبط بيئة البناء وتكرارية النتائج</a:t>
            </a:r>
          </a:p>
        </p:txBody>
      </p:sp>
      <p:sp>
        <p:nvSpPr>
          <p:cNvPr id="8" name="Rounded Rectangle 7"/>
          <p:cNvSpPr/>
          <p:nvPr/>
        </p:nvSpPr>
        <p:spPr>
          <a:xfrm>
            <a:off x="8961120" y="685800"/>
            <a:ext cx="2468880" cy="384048"/>
          </a:xfrm>
          <a:prstGeom prst="roundRect">
            <a:avLst/>
          </a:prstGeom>
          <a:solidFill>
            <a:srgbClr val="064E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4D399"/>
                </a:solidFill>
                <a:latin typeface="Consolas"/>
              </a:defRPr>
            </a:pPr>
            <a:r>
              <a:t>docs/Baseline.md (308 lines)</a:t>
            </a:r>
          </a:p>
        </p:txBody>
      </p:sp>
      <p:sp>
        <p:nvSpPr>
          <p:cNvPr id="9" name="Rectangle 8"/>
          <p:cNvSpPr/>
          <p:nvPr/>
        </p:nvSpPr>
        <p:spPr>
          <a:xfrm>
            <a:off x="731520" y="1536192"/>
            <a:ext cx="10698480" cy="18288"/>
          </a:xfrm>
          <a:prstGeom prst="rect">
            <a:avLst/>
          </a:prstGeom>
          <a:solidFill>
            <a:srgbClr val="2538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698480" cy="320040"/>
          </a:xfrm>
          <a:prstGeom prst="rect">
            <a:avLst/>
          </a:prstGeom>
          <a:noFill/>
        </p:spPr>
        <p:txBody>
          <a:bodyPr wrap="none">
            <a:spAutoFit/>
          </a:bodyPr>
          <a:lstStyle/>
          <a:p>
            <a:pPr>
              <a:defRPr sz="950" b="1">
                <a:solidFill>
                  <a:srgbClr val="64748B"/>
                </a:solidFill>
                <a:latin typeface="Cairo"/>
              </a:defRPr>
            </a:pPr>
            <a:r>
              <a:t>مشروع LOCAL CONTACT P2P — وثائق ومناقشة هندسة البرمجيات الأكاديمية | الشريحة رقم 4 من أصل 12 شريحة</a:t>
            </a:r>
          </a:p>
        </p:txBody>
      </p:sp>
      <p:sp>
        <p:nvSpPr>
          <p:cNvPr id="11" name="Rounded Rectangle 10"/>
          <p:cNvSpPr/>
          <p:nvPr/>
        </p:nvSpPr>
        <p:spPr>
          <a:xfrm>
            <a:off x="731520" y="1737360"/>
            <a:ext cx="5212080" cy="4480560"/>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8BDF8"/>
                </a:solidFill>
                <a:latin typeface="Cairo"/>
              </a:defRPr>
            </a:pPr>
            <a:r>
              <a:t>📌 بيانات خط الأساس المعتمد (Baseline Commit):</a:t>
            </a:r>
          </a:p>
          <a:p>
            <a:pPr>
              <a:spcBef>
                <a:spcPts val="500"/>
              </a:spcBef>
              <a:defRPr sz="1050" b="1">
                <a:solidFill>
                  <a:srgbClr val="F8FAFC"/>
                </a:solidFill>
                <a:latin typeface="Cairo"/>
              </a:defRPr>
            </a:pPr>
            <a:r>
              <a:t>• Commit Hash المرجعي:</a:t>
            </a:r>
          </a:p>
          <a:p>
            <a:pPr>
              <a:defRPr sz="950">
                <a:solidFill>
                  <a:srgbClr val="38BDF8"/>
                </a:solidFill>
                <a:latin typeface="Consolas"/>
              </a:defRPr>
            </a:pPr>
            <a:r>
              <a:t>  71111825645c2b3c6a926f739455c4ffda3c0963</a:t>
            </a:r>
          </a:p>
          <a:p>
            <a:pPr>
              <a:spcBef>
                <a:spcPts val="500"/>
              </a:spcBef>
              <a:defRPr sz="1050" b="1">
                <a:solidFill>
                  <a:srgbClr val="F8FAFC"/>
                </a:solidFill>
                <a:latin typeface="Cairo"/>
              </a:defRPr>
            </a:pPr>
            <a:r>
              <a:t>• رسالة الـ Commit:</a:t>
            </a:r>
          </a:p>
          <a:p>
            <a:pPr>
              <a:defRPr sz="950">
                <a:solidFill>
                  <a:srgbClr val="38BDF8"/>
                </a:solidFill>
                <a:latin typeface="Consolas"/>
              </a:defRPr>
            </a:pPr>
            <a:r>
              <a:t>  feat: comprehensive audit fixes (logic, audio mixer, UX, privacy, theme, and PiP call overhaul)</a:t>
            </a:r>
          </a:p>
          <a:p>
            <a:pPr>
              <a:spcBef>
                <a:spcPts val="500"/>
              </a:spcBef>
              <a:defRPr sz="1050" b="1">
                <a:solidFill>
                  <a:srgbClr val="F8FAFC"/>
                </a:solidFill>
                <a:latin typeface="Cairo"/>
              </a:defRPr>
            </a:pPr>
            <a:r>
              <a:t>• حالة شجرة العمل (Working Tree):</a:t>
            </a:r>
          </a:p>
          <a:p>
            <a:pPr>
              <a:defRPr sz="950">
                <a:solidFill>
                  <a:srgbClr val="94A3B8"/>
                </a:solidFill>
                <a:latin typeface="Cairo"/>
              </a:defRPr>
            </a:pPr>
            <a:r>
              <a:t>  Clean — تم التحقق الكامل عبر git status دون تعديلات معلقة</a:t>
            </a:r>
          </a:p>
          <a:p>
            <a:pPr>
              <a:spcBef>
                <a:spcPts val="500"/>
              </a:spcBef>
              <a:defRPr sz="1050" b="1">
                <a:solidFill>
                  <a:srgbClr val="F8FAFC"/>
                </a:solidFill>
                <a:latin typeface="Cairo"/>
              </a:defRPr>
            </a:pPr>
            <a:r>
              <a:t>• نظام البناء وإصدار Gradle:</a:t>
            </a:r>
          </a:p>
          <a:p>
            <a:pPr>
              <a:defRPr sz="950">
                <a:solidFill>
                  <a:srgbClr val="94A3B8"/>
                </a:solidFill>
                <a:latin typeface="Consolas"/>
              </a:defRPr>
            </a:pPr>
            <a:r>
              <a:t>  Gradle 9.4.1 (Wrapper) &amp; AGP 9.1.1 &amp; Kotlin 2.2.10</a:t>
            </a:r>
          </a:p>
          <a:p>
            <a:pPr>
              <a:spcBef>
                <a:spcPts val="500"/>
              </a:spcBef>
              <a:defRPr sz="1050" b="1">
                <a:solidFill>
                  <a:srgbClr val="F8FAFC"/>
                </a:solidFill>
                <a:latin typeface="Cairo"/>
              </a:defRPr>
            </a:pPr>
            <a:r>
              <a:t>• مستويات الـ SDK المستهدفة:</a:t>
            </a:r>
          </a:p>
          <a:p>
            <a:pPr>
              <a:defRPr sz="950">
                <a:solidFill>
                  <a:srgbClr val="94A3B8"/>
                </a:solidFill>
                <a:latin typeface="Consolas"/>
              </a:defRPr>
            </a:pPr>
            <a:r>
              <a:t>  compileSdk = 36, minSdk = 24 (Android 7.0+), targetSdk = 36</a:t>
            </a:r>
          </a:p>
          <a:p>
            <a:pPr>
              <a:spcBef>
                <a:spcPts val="500"/>
              </a:spcBef>
              <a:defRPr sz="1050" b="1">
                <a:solidFill>
                  <a:srgbClr val="F8FAFC"/>
                </a:solidFill>
                <a:latin typeface="Cairo"/>
              </a:defRPr>
            </a:pPr>
            <a:r>
              <a:t>• حزم الجيل وتوليد الكود:</a:t>
            </a:r>
          </a:p>
          <a:p>
            <a:pPr>
              <a:defRPr sz="950">
                <a:solidFill>
                  <a:srgbClr val="94A3B8"/>
                </a:solidFill>
                <a:latin typeface="Cairo"/>
              </a:defRPr>
            </a:pPr>
            <a:r>
              <a:t>  KSP (Kotlin Symbol Processing) لـ Room DB 6 و Moshi JSON</a:t>
            </a:r>
          </a:p>
        </p:txBody>
      </p:sp>
      <p:sp>
        <p:nvSpPr>
          <p:cNvPr id="12" name="Rounded Rectangle 11"/>
          <p:cNvSpPr/>
          <p:nvPr/>
        </p:nvSpPr>
        <p:spPr>
          <a:xfrm>
            <a:off x="6217920" y="1737360"/>
            <a:ext cx="5212080" cy="448056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8FAFC"/>
                </a:solidFill>
                <a:latin typeface="Cairo"/>
              </a:defRPr>
            </a:pPr>
            <a:r>
              <a:t>🛡️ الأهمية الهندسية ومحددات خط الأساس:</a:t>
            </a:r>
          </a:p>
          <a:p>
            <a:pPr>
              <a:spcBef>
                <a:spcPts val="600"/>
              </a:spcBef>
              <a:defRPr sz="1050" b="1">
                <a:solidFill>
                  <a:srgbClr val="F8FAFC"/>
                </a:solidFill>
                <a:latin typeface="Cairo"/>
              </a:defRPr>
            </a:pPr>
            <a:r>
              <a:t>• منع انزلاق النطاق (Scope Creep):</a:t>
            </a:r>
          </a:p>
          <a:p>
            <a:pPr>
              <a:defRPr sz="950">
                <a:solidFill>
                  <a:srgbClr val="94A3B8"/>
                </a:solidFill>
                <a:latin typeface="Cairo"/>
              </a:defRPr>
            </a:pPr>
            <a:r>
              <a:t>  تثبيت نقطة مرجعية واضحة تمنع إضافة ميزات عشوائية دون توثيق وتحدد بدقة ما هو داخل التقييم.</a:t>
            </a:r>
          </a:p>
          <a:p>
            <a:pPr>
              <a:spcBef>
                <a:spcPts val="600"/>
              </a:spcBef>
              <a:defRPr sz="1050" b="1">
                <a:solidFill>
                  <a:srgbClr val="F8FAFC"/>
                </a:solidFill>
                <a:latin typeface="Cairo"/>
              </a:defRPr>
            </a:pPr>
            <a:r>
              <a:t>• تكرارية البناء (Build Reproducibility):</a:t>
            </a:r>
          </a:p>
          <a:p>
            <a:pPr>
              <a:defRPr sz="950">
                <a:solidFill>
                  <a:srgbClr val="94A3B8"/>
                </a:solidFill>
                <a:latin typeface="Cairo"/>
              </a:defRPr>
            </a:pPr>
            <a:r>
              <a:t>  أي مهندس أو أستاذ يمكنه سحب المستودع وبناء APK مطابق بالكامل بفضل تثبيت إصدارات الـ Wrapper والتبعيات.</a:t>
            </a:r>
          </a:p>
          <a:p>
            <a:pPr>
              <a:spcBef>
                <a:spcPts val="600"/>
              </a:spcBef>
              <a:defRPr sz="1050" b="1">
                <a:solidFill>
                  <a:srgbClr val="F8FAFC"/>
                </a:solidFill>
                <a:latin typeface="Cairo"/>
              </a:defRPr>
            </a:pPr>
            <a:r>
              <a:t>• الإقرار الصريح بالحدود التشغيلية:</a:t>
            </a:r>
          </a:p>
          <a:p>
            <a:pPr>
              <a:defRPr sz="950">
                <a:solidFill>
                  <a:srgbClr val="94A3B8"/>
                </a:solidFill>
                <a:latin typeface="Cairo"/>
              </a:defRPr>
            </a:pPr>
            <a:r>
              <a:t>  وثيقة Baseline.md أقرت بشفافية أن التقييم مبني على الفحص المكتبي والـ Unit Tests، ولم يُختبر على جهازين حقيقيين بعد.</a:t>
            </a:r>
          </a:p>
          <a:p>
            <a:pPr>
              <a:spcBef>
                <a:spcPts val="600"/>
              </a:spcBef>
              <a:defRPr sz="1050" b="1">
                <a:solidFill>
                  <a:srgbClr val="F8FAFC"/>
                </a:solidFill>
                <a:latin typeface="Cairo"/>
              </a:defRPr>
            </a:pPr>
            <a:r>
              <a:t>• حصر الوظائف في Features Inventory:</a:t>
            </a:r>
          </a:p>
          <a:p>
            <a:pPr>
              <a:defRPr sz="950">
                <a:solidFill>
                  <a:srgbClr val="94A3B8"/>
                </a:solidFill>
                <a:latin typeface="Cairo"/>
              </a:defRPr>
            </a:pPr>
            <a:r>
              <a:t>  جدول تفصيلي يضم 14 ميزة رئيسية يربط كل ميزة بملفاتها في الكود وحالتها الدقيقة (Implemented - Not Tested).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7772400" cy="347472"/>
          </a:xfrm>
          <a:prstGeom prst="rect">
            <a:avLst/>
          </a:prstGeom>
          <a:noFill/>
        </p:spPr>
        <p:txBody>
          <a:bodyPr wrap="square">
            <a:spAutoFit/>
          </a:bodyPr>
          <a:lstStyle/>
          <a:p>
            <a:pPr>
              <a:defRPr sz="1100" b="1">
                <a:solidFill>
                  <a:srgbClr val="38BDF8"/>
                </a:solidFill>
                <a:latin typeface="Cairo"/>
              </a:defRPr>
            </a:pPr>
            <a:r>
              <a:t>• التصميم المعماري | هندسة البرمجيات — مشروع LOCAL CONTACT P2P</a:t>
            </a:r>
          </a:p>
        </p:txBody>
      </p:sp>
      <p:sp>
        <p:nvSpPr>
          <p:cNvPr id="5" name="Rounded Rectangle 4"/>
          <p:cNvSpPr/>
          <p:nvPr/>
        </p:nvSpPr>
        <p:spPr>
          <a:xfrm>
            <a:off x="10424160" y="228600"/>
            <a:ext cx="1005840" cy="347472"/>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latin typeface="Consolas"/>
              </a:defRPr>
            </a:pPr>
            <a:r>
              <a:t>5 / 12</a:t>
            </a:r>
          </a:p>
        </p:txBody>
      </p:sp>
      <p:sp>
        <p:nvSpPr>
          <p:cNvPr id="6" name="TextBox 5"/>
          <p:cNvSpPr txBox="1"/>
          <p:nvPr/>
        </p:nvSpPr>
        <p:spPr>
          <a:xfrm>
            <a:off x="731520" y="621792"/>
            <a:ext cx="8778240" cy="502920"/>
          </a:xfrm>
          <a:prstGeom prst="rect">
            <a:avLst/>
          </a:prstGeom>
          <a:noFill/>
        </p:spPr>
        <p:txBody>
          <a:bodyPr wrap="square">
            <a:spAutoFit/>
          </a:bodyPr>
          <a:lstStyle/>
          <a:p>
            <a:pPr>
              <a:defRPr sz="2000" b="1">
                <a:solidFill>
                  <a:srgbClr val="F8FAFC"/>
                </a:solidFill>
                <a:latin typeface="Cairo"/>
              </a:defRPr>
            </a:pPr>
            <a:r>
              <a:t>السياق المعماري للنظام وهيكلية شبكة P2P اللامركزية</a:t>
            </a:r>
          </a:p>
        </p:txBody>
      </p:sp>
      <p:sp>
        <p:nvSpPr>
          <p:cNvPr id="7" name="TextBox 6"/>
          <p:cNvSpPr txBox="1"/>
          <p:nvPr/>
        </p:nvSpPr>
        <p:spPr>
          <a:xfrm>
            <a:off x="731520" y="1115568"/>
            <a:ext cx="8778240" cy="347472"/>
          </a:xfrm>
          <a:prstGeom prst="rect">
            <a:avLst/>
          </a:prstGeom>
          <a:noFill/>
        </p:spPr>
        <p:txBody>
          <a:bodyPr wrap="square">
            <a:spAutoFit/>
          </a:bodyPr>
          <a:lstStyle/>
          <a:p>
            <a:pPr>
              <a:defRPr sz="1150" b="1">
                <a:solidFill>
                  <a:srgbClr val="94A3B8"/>
                </a:solidFill>
                <a:latin typeface="Cairo"/>
              </a:defRPr>
            </a:pPr>
            <a:r>
              <a:t>توزيع المسؤوليات وتفكيك الحزم البرمجية دون الاعتماد على خادم مركزي</a:t>
            </a:r>
          </a:p>
        </p:txBody>
      </p:sp>
      <p:sp>
        <p:nvSpPr>
          <p:cNvPr id="8" name="Rounded Rectangle 7"/>
          <p:cNvSpPr/>
          <p:nvPr/>
        </p:nvSpPr>
        <p:spPr>
          <a:xfrm>
            <a:off x="8961120" y="685800"/>
            <a:ext cx="2468880" cy="384048"/>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8BDF8"/>
                </a:solidFill>
                <a:latin typeface="Consolas"/>
              </a:defRPr>
            </a:pPr>
            <a:r>
              <a:t>DECENTRALIZED P2P</a:t>
            </a:r>
          </a:p>
        </p:txBody>
      </p:sp>
      <p:sp>
        <p:nvSpPr>
          <p:cNvPr id="9" name="Rectangle 8"/>
          <p:cNvSpPr/>
          <p:nvPr/>
        </p:nvSpPr>
        <p:spPr>
          <a:xfrm>
            <a:off x="731520" y="1536192"/>
            <a:ext cx="10698480" cy="18288"/>
          </a:xfrm>
          <a:prstGeom prst="rect">
            <a:avLst/>
          </a:prstGeom>
          <a:solidFill>
            <a:srgbClr val="2538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698480" cy="320040"/>
          </a:xfrm>
          <a:prstGeom prst="rect">
            <a:avLst/>
          </a:prstGeom>
          <a:noFill/>
        </p:spPr>
        <p:txBody>
          <a:bodyPr wrap="none">
            <a:spAutoFit/>
          </a:bodyPr>
          <a:lstStyle/>
          <a:p>
            <a:pPr>
              <a:defRPr sz="950" b="1">
                <a:solidFill>
                  <a:srgbClr val="64748B"/>
                </a:solidFill>
                <a:latin typeface="Cairo"/>
              </a:defRPr>
            </a:pPr>
            <a:r>
              <a:t>مشروع LOCAL CONTACT P2P — وثائق ومناقشة هندسة البرمجيات الأكاديمية | الشريحة رقم 5 من أصل 12 شريحة</a:t>
            </a:r>
          </a:p>
        </p:txBody>
      </p:sp>
      <p:sp>
        <p:nvSpPr>
          <p:cNvPr id="11" name="Rounded Rectangle 10"/>
          <p:cNvSpPr/>
          <p:nvPr/>
        </p:nvSpPr>
        <p:spPr>
          <a:xfrm>
            <a:off x="731520" y="1737360"/>
            <a:ext cx="5257800" cy="210312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38BDF8"/>
                </a:solidFill>
                <a:latin typeface="Cairo"/>
              </a:defRPr>
            </a:pPr>
            <a:r>
              <a:t>📱 طبقة العرض والواجهات (Presentation Layer)</a:t>
            </a:r>
          </a:p>
          <a:p>
            <a:pPr>
              <a:spcBef>
                <a:spcPts val="300"/>
              </a:spcBef>
              <a:defRPr sz="950" b="1">
                <a:solidFill>
                  <a:srgbClr val="2563EB"/>
                </a:solidFill>
                <a:latin typeface="Consolas"/>
              </a:defRPr>
            </a:pPr>
            <a:r>
              <a:t>app/src/main/java/com/example/ui/</a:t>
            </a:r>
          </a:p>
          <a:p>
            <a:pPr>
              <a:spcBef>
                <a:spcPts val="400"/>
              </a:spcBef>
              <a:defRPr sz="950">
                <a:solidFill>
                  <a:srgbClr val="F8FAFC"/>
                </a:solidFill>
                <a:latin typeface="Cairo"/>
              </a:defRPr>
            </a:pPr>
            <a:r>
              <a:t>بناء الواجهات كلياً بنمط Compose التعلاني، مقسمة إلى screens (المحادثة والأقران والغرف)، dialogs (المكالمات ومكالمات الغرف)، و components التفاعلية.</a:t>
            </a:r>
          </a:p>
        </p:txBody>
      </p:sp>
      <p:sp>
        <p:nvSpPr>
          <p:cNvPr id="12" name="Rounded Rectangle 11"/>
          <p:cNvSpPr/>
          <p:nvPr/>
        </p:nvSpPr>
        <p:spPr>
          <a:xfrm>
            <a:off x="6172200" y="1737360"/>
            <a:ext cx="5257800" cy="210312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38BDF8"/>
                </a:solidFill>
                <a:latin typeface="Cairo"/>
              </a:defRPr>
            </a:pPr>
            <a:r>
              <a:t>🧠 طبقة التنسيق وإدارة الحالة (ViewModel / Coordination)</a:t>
            </a:r>
          </a:p>
          <a:p>
            <a:pPr>
              <a:spcBef>
                <a:spcPts val="300"/>
              </a:spcBef>
              <a:defRPr sz="950" b="1">
                <a:solidFill>
                  <a:srgbClr val="2563EB"/>
                </a:solidFill>
                <a:latin typeface="Consolas"/>
              </a:defRPr>
            </a:pPr>
            <a:r>
              <a:t>app/src/main/java/com/example/ui/MainViewModel.kt</a:t>
            </a:r>
          </a:p>
          <a:p>
            <a:pPr>
              <a:spcBef>
                <a:spcPts val="400"/>
              </a:spcBef>
              <a:defRPr sz="950">
                <a:solidFill>
                  <a:srgbClr val="F8FAFC"/>
                </a:solidFill>
                <a:latin typeface="Cairo"/>
              </a:defRPr>
            </a:pPr>
            <a:r>
              <a:t>إدارة تدفقات StateFlow للواجهة، استقبال الأحداث، وتوجيه الرسائل والمكالمات بين المحركات الشبكية وقاعدة البيانات المحلية.</a:t>
            </a:r>
          </a:p>
        </p:txBody>
      </p:sp>
      <p:sp>
        <p:nvSpPr>
          <p:cNvPr id="13" name="Rounded Rectangle 12"/>
          <p:cNvSpPr/>
          <p:nvPr/>
        </p:nvSpPr>
        <p:spPr>
          <a:xfrm>
            <a:off x="731520" y="3977639"/>
            <a:ext cx="5257800" cy="210312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38BDF8"/>
                </a:solidFill>
                <a:latin typeface="Cairo"/>
              </a:defRPr>
            </a:pPr>
            <a:r>
              <a:t>🌐 طبقة المحركات الشبكية المستقلة (Network Engine Layer)</a:t>
            </a:r>
          </a:p>
          <a:p>
            <a:pPr>
              <a:spcBef>
                <a:spcPts val="300"/>
              </a:spcBef>
              <a:defRPr sz="950" b="1">
                <a:solidFill>
                  <a:srgbClr val="2563EB"/>
                </a:solidFill>
                <a:latin typeface="Consolas"/>
              </a:defRPr>
            </a:pPr>
            <a:r>
              <a:t>app/src/main/java/com/example/network/</a:t>
            </a:r>
          </a:p>
          <a:p>
            <a:pPr>
              <a:spcBef>
                <a:spcPts val="400"/>
              </a:spcBef>
              <a:defRPr sz="950">
                <a:solidFill>
                  <a:srgbClr val="F8FAFC"/>
                </a:solidFill>
                <a:latin typeface="Cairo"/>
              </a:defRPr>
            </a:pPr>
            <a:r>
              <a:t>عزل قنوات الاتصال: LocalP2PEngine (اكتشاف ورسائل)، AudioEngine (UDP 8889)، VideoEngine (UDP 8890)، FileTransferEngine (TCP 8891).</a:t>
            </a:r>
          </a:p>
        </p:txBody>
      </p:sp>
      <p:sp>
        <p:nvSpPr>
          <p:cNvPr id="14" name="Rounded Rectangle 13"/>
          <p:cNvSpPr/>
          <p:nvPr/>
        </p:nvSpPr>
        <p:spPr>
          <a:xfrm>
            <a:off x="6172200" y="3977639"/>
            <a:ext cx="5257800" cy="210312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38BDF8"/>
                </a:solidFill>
                <a:latin typeface="Cairo"/>
              </a:defRPr>
            </a:pPr>
            <a:r>
              <a:t>💾 طبقة البيانات والتخزين المحلي (Persistence Layer)</a:t>
            </a:r>
          </a:p>
          <a:p>
            <a:pPr>
              <a:spcBef>
                <a:spcPts val="300"/>
              </a:spcBef>
              <a:defRPr sz="950" b="1">
                <a:solidFill>
                  <a:srgbClr val="2563EB"/>
                </a:solidFill>
                <a:latin typeface="Consolas"/>
              </a:defRPr>
            </a:pPr>
            <a:r>
              <a:t>app/src/main/java/com/example/data/</a:t>
            </a:r>
          </a:p>
          <a:p>
            <a:pPr>
              <a:spcBef>
                <a:spcPts val="400"/>
              </a:spcBef>
              <a:defRPr sz="950">
                <a:solidFill>
                  <a:srgbClr val="F8FAFC"/>
                </a:solidFill>
                <a:latin typeface="Cairo"/>
              </a:defRPr>
            </a:pPr>
            <a:r>
              <a:t>إدارة جداول الرسائل والغرف والمستخدم والمحظورين عبر Room Database (AppDatabase.kt)، وتخزين التفضيلات عبر DataStore.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7772400" cy="347472"/>
          </a:xfrm>
          <a:prstGeom prst="rect">
            <a:avLst/>
          </a:prstGeom>
          <a:noFill/>
        </p:spPr>
        <p:txBody>
          <a:bodyPr wrap="square">
            <a:spAutoFit/>
          </a:bodyPr>
          <a:lstStyle/>
          <a:p>
            <a:pPr>
              <a:defRPr sz="1100" b="1">
                <a:solidFill>
                  <a:srgbClr val="38BDF8"/>
                </a:solidFill>
                <a:latin typeface="Cairo"/>
              </a:defRPr>
            </a:pPr>
            <a:r>
              <a:t>• الروائح المعمارية وإعادة الهيكلة | هندسة البرمجيات — مشروع LOCAL CONTACT P2P</a:t>
            </a:r>
          </a:p>
        </p:txBody>
      </p:sp>
      <p:sp>
        <p:nvSpPr>
          <p:cNvPr id="5" name="Rounded Rectangle 4"/>
          <p:cNvSpPr/>
          <p:nvPr/>
        </p:nvSpPr>
        <p:spPr>
          <a:xfrm>
            <a:off x="10424160" y="228600"/>
            <a:ext cx="1005840" cy="347472"/>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latin typeface="Consolas"/>
              </a:defRPr>
            </a:pPr>
            <a:r>
              <a:t>6 / 12</a:t>
            </a:r>
          </a:p>
        </p:txBody>
      </p:sp>
      <p:sp>
        <p:nvSpPr>
          <p:cNvPr id="6" name="TextBox 5"/>
          <p:cNvSpPr txBox="1"/>
          <p:nvPr/>
        </p:nvSpPr>
        <p:spPr>
          <a:xfrm>
            <a:off x="731520" y="621792"/>
            <a:ext cx="8778240" cy="502920"/>
          </a:xfrm>
          <a:prstGeom prst="rect">
            <a:avLst/>
          </a:prstGeom>
          <a:noFill/>
        </p:spPr>
        <p:txBody>
          <a:bodyPr wrap="square">
            <a:spAutoFit/>
          </a:bodyPr>
          <a:lstStyle/>
          <a:p>
            <a:pPr>
              <a:defRPr sz="2000" b="1">
                <a:solidFill>
                  <a:srgbClr val="F8FAFC"/>
                </a:solidFill>
                <a:latin typeface="Cairo"/>
              </a:defRPr>
            </a:pPr>
            <a:r>
              <a:t>تحليل الكلاسات المتضخمة ومبادئ SOLID الهندسية</a:t>
            </a:r>
          </a:p>
        </p:txBody>
      </p:sp>
      <p:sp>
        <p:nvSpPr>
          <p:cNvPr id="7" name="TextBox 6"/>
          <p:cNvSpPr txBox="1"/>
          <p:nvPr/>
        </p:nvSpPr>
        <p:spPr>
          <a:xfrm>
            <a:off x="731520" y="1115568"/>
            <a:ext cx="8778240" cy="347472"/>
          </a:xfrm>
          <a:prstGeom prst="rect">
            <a:avLst/>
          </a:prstGeom>
          <a:noFill/>
        </p:spPr>
        <p:txBody>
          <a:bodyPr wrap="square">
            <a:spAutoFit/>
          </a:bodyPr>
          <a:lstStyle/>
          <a:p>
            <a:pPr>
              <a:defRPr sz="1150" b="1">
                <a:solidFill>
                  <a:srgbClr val="94A3B8"/>
                </a:solidFill>
                <a:latin typeface="Cairo"/>
              </a:defRPr>
            </a:pPr>
            <a:r>
              <a:t>رصد انتهاكات SRP والاقتران الشديد ووضع خطط إعادة الهيكلة المستمرة</a:t>
            </a:r>
          </a:p>
        </p:txBody>
      </p:sp>
      <p:sp>
        <p:nvSpPr>
          <p:cNvPr id="8" name="Rounded Rectangle 7"/>
          <p:cNvSpPr/>
          <p:nvPr/>
        </p:nvSpPr>
        <p:spPr>
          <a:xfrm>
            <a:off x="8961120" y="685800"/>
            <a:ext cx="2468880" cy="384048"/>
          </a:xfrm>
          <a:prstGeom prst="roundRect">
            <a:avLst/>
          </a:prstGeom>
          <a:solidFill>
            <a:srgbClr val="78350F"/>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BBF24"/>
                </a:solidFill>
                <a:latin typeface="Consolas"/>
              </a:defRPr>
            </a:pPr>
            <a:r>
              <a:t>ARCHITECTURAL SMELLS</a:t>
            </a:r>
          </a:p>
        </p:txBody>
      </p:sp>
      <p:sp>
        <p:nvSpPr>
          <p:cNvPr id="9" name="Rectangle 8"/>
          <p:cNvSpPr/>
          <p:nvPr/>
        </p:nvSpPr>
        <p:spPr>
          <a:xfrm>
            <a:off x="731520" y="1536192"/>
            <a:ext cx="10698480" cy="18288"/>
          </a:xfrm>
          <a:prstGeom prst="rect">
            <a:avLst/>
          </a:prstGeom>
          <a:solidFill>
            <a:srgbClr val="2538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698480" cy="320040"/>
          </a:xfrm>
          <a:prstGeom prst="rect">
            <a:avLst/>
          </a:prstGeom>
          <a:noFill/>
        </p:spPr>
        <p:txBody>
          <a:bodyPr wrap="none">
            <a:spAutoFit/>
          </a:bodyPr>
          <a:lstStyle/>
          <a:p>
            <a:pPr>
              <a:defRPr sz="950" b="1">
                <a:solidFill>
                  <a:srgbClr val="64748B"/>
                </a:solidFill>
                <a:latin typeface="Cairo"/>
              </a:defRPr>
            </a:pPr>
            <a:r>
              <a:t>مشروع LOCAL CONTACT P2P — وثائق ومناقشة هندسة البرمجيات الأكاديمية | الشريحة رقم 6 من أصل 12 شريحة</a:t>
            </a:r>
          </a:p>
        </p:txBody>
      </p:sp>
      <p:sp>
        <p:nvSpPr>
          <p:cNvPr id="11" name="Rounded Rectangle 10"/>
          <p:cNvSpPr/>
          <p:nvPr/>
        </p:nvSpPr>
        <p:spPr>
          <a:xfrm>
            <a:off x="731520" y="1737360"/>
            <a:ext cx="5212080" cy="4480560"/>
          </a:xfrm>
          <a:prstGeom prst="roundRect">
            <a:avLst/>
          </a:prstGeom>
          <a:solidFill>
            <a:srgbClr val="121C38"/>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BBF24"/>
                </a:solidFill>
                <a:latin typeface="Cairo"/>
              </a:defRPr>
            </a:pPr>
            <a:r>
              <a:t>⚠️ الكلاس المتضخم الأول (God Class):</a:t>
            </a:r>
          </a:p>
          <a:p>
            <a:pPr>
              <a:defRPr sz="1000" b="1">
                <a:solidFill>
                  <a:srgbClr val="38BDF8"/>
                </a:solidFill>
                <a:latin typeface="Consolas"/>
              </a:defRPr>
            </a:pPr>
            <a:r>
              <a:t>app/.../network/LocalP2PEngine.kt (2,496 lines)</a:t>
            </a:r>
          </a:p>
          <a:p>
            <a:pPr>
              <a:spcBef>
                <a:spcPts val="600"/>
              </a:spcBef>
              <a:defRPr sz="1050" b="1">
                <a:solidFill>
                  <a:srgbClr val="F8FAFC"/>
                </a:solidFill>
                <a:latin typeface="Cairo"/>
              </a:defRPr>
            </a:pPr>
            <a:r>
              <a:t>• انتهاك مبدأ المسؤولية الواحدة (SRP):</a:t>
            </a:r>
          </a:p>
          <a:p>
            <a:pPr>
              <a:defRPr sz="950">
                <a:solidFill>
                  <a:srgbClr val="94A3B8"/>
                </a:solidFill>
                <a:latin typeface="Cairo"/>
              </a:defRPr>
            </a:pPr>
            <a:r>
              <a:t>  الكلاس يتولى مهام متعددة في آن واحد: بث واكتشاف الأقران، إدارة مقابس UDP، معالجة إشارات المكالمات، وإدارة الـ Typing و Acknowledgment.</a:t>
            </a:r>
          </a:p>
          <a:p>
            <a:pPr>
              <a:spcBef>
                <a:spcPts val="600"/>
              </a:spcBef>
              <a:defRPr sz="1050" b="1">
                <a:solidFill>
                  <a:srgbClr val="F8FAFC"/>
                </a:solidFill>
                <a:latin typeface="Cairo"/>
              </a:defRPr>
            </a:pPr>
            <a:r>
              <a:t>• صعوبة الاختبار المعزول (Low Testability):</a:t>
            </a:r>
          </a:p>
          <a:p>
            <a:pPr>
              <a:defRPr sz="950">
                <a:solidFill>
                  <a:srgbClr val="94A3B8"/>
                </a:solidFill>
                <a:latin typeface="Cairo"/>
              </a:defRPr>
            </a:pPr>
            <a:r>
              <a:t>  تداخل منطق الشبكة مع إدارة الذاكرة الحية (ConcurrentHashMap) يجعل كتابة Unit Tests نقية أمراً معقداً دون محاكاة المقابس.</a:t>
            </a:r>
          </a:p>
          <a:p>
            <a:pPr>
              <a:spcBef>
                <a:spcPts val="600"/>
              </a:spcBef>
              <a:defRPr sz="1050" b="1">
                <a:solidFill>
                  <a:srgbClr val="F8FAFC"/>
                </a:solidFill>
                <a:latin typeface="Cairo"/>
              </a:defRPr>
            </a:pPr>
            <a:r>
              <a:t>• المسار الهندسي للإصلاح (Refactoring Plan):</a:t>
            </a:r>
          </a:p>
          <a:p>
            <a:pPr>
              <a:defRPr sz="950">
                <a:solidFill>
                  <a:srgbClr val="94A3B8"/>
                </a:solidFill>
                <a:latin typeface="Cairo"/>
              </a:defRPr>
            </a:pPr>
            <a:r>
              <a:t>  تفكيك الكلاس مستقبلاً إلى 3 مكونات مستقلة: DiscoveryCoordinator, CallSignalingHandler, PacketDispatcher.</a:t>
            </a:r>
          </a:p>
        </p:txBody>
      </p:sp>
      <p:sp>
        <p:nvSpPr>
          <p:cNvPr id="12" name="Rounded Rectangle 11"/>
          <p:cNvSpPr/>
          <p:nvPr/>
        </p:nvSpPr>
        <p:spPr>
          <a:xfrm>
            <a:off x="6217920" y="1737360"/>
            <a:ext cx="5212080" cy="448056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8FAFC"/>
                </a:solidFill>
                <a:latin typeface="Cairo"/>
              </a:defRPr>
            </a:pPr>
            <a:r>
              <a:t>🧩 الكلاس الثاني وتطبيق مبدأ DIP المعماري:</a:t>
            </a:r>
          </a:p>
          <a:p>
            <a:pPr>
              <a:defRPr sz="1000" b="1">
                <a:solidFill>
                  <a:srgbClr val="38BDF8"/>
                </a:solidFill>
                <a:latin typeface="Consolas"/>
              </a:defRPr>
            </a:pPr>
            <a:r>
              <a:t>app/.../ui/MainViewModel.kt (1,839 lines)</a:t>
            </a:r>
          </a:p>
          <a:p>
            <a:pPr>
              <a:spcBef>
                <a:spcPts val="600"/>
              </a:spcBef>
              <a:defRPr sz="1050" b="1">
                <a:solidFill>
                  <a:srgbClr val="F8FAFC"/>
                </a:solidFill>
                <a:latin typeface="Cairo"/>
              </a:defRPr>
            </a:pPr>
            <a:r>
              <a:t>• تضخم الـ ViewModel (Fat ViewModel):</a:t>
            </a:r>
          </a:p>
          <a:p>
            <a:pPr>
              <a:defRPr sz="950">
                <a:solidFill>
                  <a:srgbClr val="94A3B8"/>
                </a:solidFill>
                <a:latin typeface="Cairo"/>
              </a:defRPr>
            </a:pPr>
            <a:r>
              <a:t>  تجميع منطق التنقل بين الشاشات، الاستعلامات المباشرة من Room Database، والتفاعل المباشر مع محركات الشبكة في كلاس واحد.</a:t>
            </a:r>
          </a:p>
          <a:p>
            <a:pPr>
              <a:spcBef>
                <a:spcPts val="600"/>
              </a:spcBef>
              <a:defRPr sz="1050" b="1">
                <a:solidFill>
                  <a:srgbClr val="F8FAFC"/>
                </a:solidFill>
                <a:latin typeface="Cairo"/>
              </a:defRPr>
            </a:pPr>
            <a:r>
              <a:t>• تطبيق مبدأ انعكاس الاعتمادية (DIP):</a:t>
            </a:r>
          </a:p>
          <a:p>
            <a:pPr>
              <a:defRPr sz="950">
                <a:solidFill>
                  <a:srgbClr val="94A3B8"/>
                </a:solidFill>
                <a:latin typeface="Cairo"/>
              </a:defRPr>
            </a:pPr>
            <a:r>
              <a:t>  في طبقة التشفير، تم كسر الاقتران الصلب عبر تجريد KeyProvider.kt، بحيث لم يعد محرك التشفير يعتمد على كلاس ملموس بل على واجهة.</a:t>
            </a:r>
          </a:p>
          <a:p>
            <a:pPr>
              <a:spcBef>
                <a:spcPts val="600"/>
              </a:spcBef>
              <a:defRPr sz="1050" b="1">
                <a:solidFill>
                  <a:srgbClr val="F8FAFC"/>
                </a:solidFill>
                <a:latin typeface="Cairo"/>
              </a:defRPr>
            </a:pPr>
            <a:r>
              <a:t>• الدرس الهندسي المستفاد:</a:t>
            </a:r>
          </a:p>
          <a:p>
            <a:pPr>
              <a:defRPr sz="950">
                <a:solidFill>
                  <a:srgbClr val="94A3B8"/>
                </a:solidFill>
                <a:latin typeface="Cairo"/>
              </a:defRPr>
            </a:pPr>
            <a:r>
              <a:t>  الاعتراف بوجود الروائح المعمارية والديون التقنية (Technical Debt) في وثائق المشروع هو دليل نضج هندسي، حيث تم توثيقها كخطة تطوير رسمية.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7772400" cy="347472"/>
          </a:xfrm>
          <a:prstGeom prst="rect">
            <a:avLst/>
          </a:prstGeom>
          <a:noFill/>
        </p:spPr>
        <p:txBody>
          <a:bodyPr wrap="square">
            <a:spAutoFit/>
          </a:bodyPr>
          <a:lstStyle/>
          <a:p>
            <a:pPr>
              <a:defRPr sz="1100" b="1">
                <a:solidFill>
                  <a:srgbClr val="38BDF8"/>
                </a:solidFill>
                <a:latin typeface="Cairo"/>
              </a:defRPr>
            </a:pPr>
            <a:r>
              <a:t>• إدارة التتبع والتحقق | هندسة البرمجيات — مشروع LOCAL CONTACT P2P</a:t>
            </a:r>
          </a:p>
        </p:txBody>
      </p:sp>
      <p:sp>
        <p:nvSpPr>
          <p:cNvPr id="5" name="Rounded Rectangle 4"/>
          <p:cNvSpPr/>
          <p:nvPr/>
        </p:nvSpPr>
        <p:spPr>
          <a:xfrm>
            <a:off x="10424160" y="228600"/>
            <a:ext cx="1005840" cy="347472"/>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latin typeface="Consolas"/>
              </a:defRPr>
            </a:pPr>
            <a:r>
              <a:t>7 / 12</a:t>
            </a:r>
          </a:p>
        </p:txBody>
      </p:sp>
      <p:sp>
        <p:nvSpPr>
          <p:cNvPr id="6" name="TextBox 5"/>
          <p:cNvSpPr txBox="1"/>
          <p:nvPr/>
        </p:nvSpPr>
        <p:spPr>
          <a:xfrm>
            <a:off x="731520" y="621792"/>
            <a:ext cx="8778240" cy="502920"/>
          </a:xfrm>
          <a:prstGeom prst="rect">
            <a:avLst/>
          </a:prstGeom>
          <a:noFill/>
        </p:spPr>
        <p:txBody>
          <a:bodyPr wrap="square">
            <a:spAutoFit/>
          </a:bodyPr>
          <a:lstStyle/>
          <a:p>
            <a:pPr>
              <a:defRPr sz="2000" b="1">
                <a:solidFill>
                  <a:srgbClr val="F8FAFC"/>
                </a:solidFill>
                <a:latin typeface="Cairo"/>
              </a:defRPr>
            </a:pPr>
            <a:r>
              <a:t>مصفوفة تتبع المتطلبات (Traceability Matrix - RTM)</a:t>
            </a:r>
          </a:p>
        </p:txBody>
      </p:sp>
      <p:sp>
        <p:nvSpPr>
          <p:cNvPr id="7" name="TextBox 6"/>
          <p:cNvSpPr txBox="1"/>
          <p:nvPr/>
        </p:nvSpPr>
        <p:spPr>
          <a:xfrm>
            <a:off x="731520" y="1115568"/>
            <a:ext cx="8778240" cy="347472"/>
          </a:xfrm>
          <a:prstGeom prst="rect">
            <a:avLst/>
          </a:prstGeom>
          <a:noFill/>
        </p:spPr>
        <p:txBody>
          <a:bodyPr wrap="square">
            <a:spAutoFit/>
          </a:bodyPr>
          <a:lstStyle/>
          <a:p>
            <a:pPr>
              <a:defRPr sz="1150" b="1">
                <a:solidFill>
                  <a:srgbClr val="94A3B8"/>
                </a:solidFill>
                <a:latin typeface="Cairo"/>
              </a:defRPr>
            </a:pPr>
            <a:r>
              <a:t>الربط الثلاثي المحكم: من المتطلبات إلى الكود المصدري، قصص المستخدمين، ومعايير القبول</a:t>
            </a:r>
          </a:p>
        </p:txBody>
      </p:sp>
      <p:sp>
        <p:nvSpPr>
          <p:cNvPr id="8" name="Rounded Rectangle 7"/>
          <p:cNvSpPr/>
          <p:nvPr/>
        </p:nvSpPr>
        <p:spPr>
          <a:xfrm>
            <a:off x="8961120" y="685800"/>
            <a:ext cx="2468880" cy="384048"/>
          </a:xfrm>
          <a:prstGeom prst="roundRect">
            <a:avLst/>
          </a:prstGeom>
          <a:solidFill>
            <a:srgbClr val="064E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4D399"/>
                </a:solidFill>
                <a:latin typeface="Consolas"/>
              </a:defRPr>
            </a:pPr>
            <a:r>
              <a:t>docs/TraceabilityMatrix.md</a:t>
            </a:r>
          </a:p>
        </p:txBody>
      </p:sp>
      <p:sp>
        <p:nvSpPr>
          <p:cNvPr id="9" name="Rectangle 8"/>
          <p:cNvSpPr/>
          <p:nvPr/>
        </p:nvSpPr>
        <p:spPr>
          <a:xfrm>
            <a:off x="731520" y="1536192"/>
            <a:ext cx="10698480" cy="18288"/>
          </a:xfrm>
          <a:prstGeom prst="rect">
            <a:avLst/>
          </a:prstGeom>
          <a:solidFill>
            <a:srgbClr val="2538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698480" cy="320040"/>
          </a:xfrm>
          <a:prstGeom prst="rect">
            <a:avLst/>
          </a:prstGeom>
          <a:noFill/>
        </p:spPr>
        <p:txBody>
          <a:bodyPr wrap="none">
            <a:spAutoFit/>
          </a:bodyPr>
          <a:lstStyle/>
          <a:p>
            <a:pPr>
              <a:defRPr sz="950" b="1">
                <a:solidFill>
                  <a:srgbClr val="64748B"/>
                </a:solidFill>
                <a:latin typeface="Cairo"/>
              </a:defRPr>
            </a:pPr>
            <a:r>
              <a:t>مشروع LOCAL CONTACT P2P — وثائق ومناقشة هندسة البرمجيات الأكاديمية | الشريحة رقم 7 من أصل 12 شريحة</a:t>
            </a:r>
          </a:p>
        </p:txBody>
      </p:sp>
      <p:graphicFrame>
        <p:nvGraphicFramePr>
          <p:cNvPr id="11" name="Table 10"/>
          <p:cNvGraphicFramePr>
            <a:graphicFrameLocks noGrp="1"/>
          </p:cNvGraphicFramePr>
          <p:nvPr/>
        </p:nvGraphicFramePr>
        <p:xfrm>
          <a:off x="731520" y="1737360"/>
          <a:ext cx="10698480" cy="3383280"/>
        </p:xfrm>
        <a:graphic>
          <a:graphicData uri="http://schemas.openxmlformats.org/drawingml/2006/table">
            <a:tbl>
              <a:tblPr firstRow="1" bandRow="1">
                <a:tableStyleId>{5C22544A-7EE6-4342-B048-85BDC9FD1C3A}</a:tableStyleId>
              </a:tblPr>
              <a:tblGrid>
                <a:gridCol w="1097280"/>
                <a:gridCol w="2011680"/>
                <a:gridCol w="3291840"/>
                <a:gridCol w="2011680"/>
                <a:gridCol w="2286000"/>
              </a:tblGrid>
              <a:tr h="563880">
                <a:tc>
                  <a:txBody>
                    <a:bodyPr/>
                    <a:lstStyle/>
                    <a:p>
                      <a:pPr algn="ctr">
                        <a:defRPr sz="1050" b="1">
                          <a:solidFill>
                            <a:srgbClr val="38BDF8"/>
                          </a:solidFill>
                          <a:latin typeface="Cairo"/>
                        </a:defRPr>
                      </a:pPr>
                      <a:r>
                        <a:t>رمز المتطلب</a:t>
                      </a:r>
                    </a:p>
                  </a:txBody>
                  <a:tcPr>
                    <a:solidFill>
                      <a:srgbClr val="121C38"/>
                    </a:solidFill>
                  </a:tcPr>
                </a:tc>
                <a:tc>
                  <a:txBody>
                    <a:bodyPr/>
                    <a:lstStyle/>
                    <a:p>
                      <a:pPr algn="ctr">
                        <a:defRPr sz="1050" b="1">
                          <a:solidFill>
                            <a:srgbClr val="38BDF8"/>
                          </a:solidFill>
                          <a:latin typeface="Cairo"/>
                        </a:defRPr>
                      </a:pPr>
                      <a:r>
                        <a:t>عنوان المتطلب الوظيفي</a:t>
                      </a:r>
                    </a:p>
                  </a:txBody>
                  <a:tcPr>
                    <a:solidFill>
                      <a:srgbClr val="121C38"/>
                    </a:solidFill>
                  </a:tcPr>
                </a:tc>
                <a:tc>
                  <a:txBody>
                    <a:bodyPr/>
                    <a:lstStyle/>
                    <a:p>
                      <a:pPr algn="ctr">
                        <a:defRPr sz="1050" b="1">
                          <a:solidFill>
                            <a:srgbClr val="38BDF8"/>
                          </a:solidFill>
                          <a:latin typeface="Cairo"/>
                        </a:defRPr>
                      </a:pPr>
                      <a:r>
                        <a:t>الدليل من الكود المصدري الفعلي</a:t>
                      </a:r>
                    </a:p>
                  </a:txBody>
                  <a:tcPr>
                    <a:solidFill>
                      <a:srgbClr val="121C38"/>
                    </a:solidFill>
                  </a:tcPr>
                </a:tc>
                <a:tc>
                  <a:txBody>
                    <a:bodyPr/>
                    <a:lstStyle/>
                    <a:p>
                      <a:pPr algn="ctr">
                        <a:defRPr sz="1050" b="1">
                          <a:solidFill>
                            <a:srgbClr val="38BDF8"/>
                          </a:solidFill>
                          <a:latin typeface="Cairo"/>
                        </a:defRPr>
                      </a:pPr>
                      <a:r>
                        <a:t>قصة المستخدم ومعيار القبول</a:t>
                      </a:r>
                    </a:p>
                  </a:txBody>
                  <a:tcPr>
                    <a:solidFill>
                      <a:srgbClr val="121C38"/>
                    </a:solidFill>
                  </a:tcPr>
                </a:tc>
                <a:tc>
                  <a:txBody>
                    <a:bodyPr/>
                    <a:lstStyle/>
                    <a:p>
                      <a:pPr algn="ctr">
                        <a:defRPr sz="1050" b="1">
                          <a:solidFill>
                            <a:srgbClr val="38BDF8"/>
                          </a:solidFill>
                          <a:latin typeface="Cairo"/>
                        </a:defRPr>
                      </a:pPr>
                      <a:r>
                        <a:t>الحالة الهندسية الدقيقة</a:t>
                      </a:r>
                    </a:p>
                  </a:txBody>
                  <a:tcPr>
                    <a:solidFill>
                      <a:srgbClr val="121C38"/>
                    </a:solidFill>
                  </a:tcPr>
                </a:tc>
              </a:tr>
              <a:tr h="563880">
                <a:tc>
                  <a:txBody>
                    <a:bodyPr/>
                    <a:lstStyle/>
                    <a:p>
                      <a:pPr>
                        <a:defRPr sz="900" b="1">
                          <a:solidFill>
                            <a:srgbClr val="F8FAFC"/>
                          </a:solidFill>
                          <a:latin typeface="Consolas"/>
                        </a:defRPr>
                      </a:pPr>
                      <a:r>
                        <a:t>FR-01</a:t>
                      </a:r>
                    </a:p>
                  </a:txBody>
                  <a:tcPr>
                    <a:solidFill>
                      <a:srgbClr val="121C38"/>
                    </a:solidFill>
                  </a:tcPr>
                </a:tc>
                <a:tc>
                  <a:txBody>
                    <a:bodyPr/>
                    <a:lstStyle/>
                    <a:p>
                      <a:pPr>
                        <a:defRPr sz="900" b="0">
                          <a:solidFill>
                            <a:srgbClr val="F8FAFC"/>
                          </a:solidFill>
                          <a:latin typeface="Cairo"/>
                        </a:defRPr>
                      </a:pPr>
                      <a:r>
                        <a:t>اكتشاف الأجهزة المحلية</a:t>
                      </a:r>
                    </a:p>
                  </a:txBody>
                  <a:tcPr>
                    <a:solidFill>
                      <a:srgbClr val="121C38"/>
                    </a:solidFill>
                  </a:tcPr>
                </a:tc>
                <a:tc>
                  <a:txBody>
                    <a:bodyPr/>
                    <a:lstStyle/>
                    <a:p>
                      <a:pPr>
                        <a:defRPr sz="900" b="0">
                          <a:solidFill>
                            <a:srgbClr val="F8FAFC"/>
                          </a:solidFill>
                          <a:latin typeface="Consolas"/>
                        </a:defRPr>
                      </a:pPr>
                      <a:r>
                        <a:t>LocalP2PEngine.kt</a:t>
                      </a:r>
                      <a:br/>
                      <a:r>
                        <a:t>startDiscoveryListener() &amp; broadcastPresence()</a:t>
                      </a:r>
                    </a:p>
                  </a:txBody>
                  <a:tcPr>
                    <a:solidFill>
                      <a:srgbClr val="121C38"/>
                    </a:solidFill>
                  </a:tcPr>
                </a:tc>
                <a:tc>
                  <a:txBody>
                    <a:bodyPr/>
                    <a:lstStyle/>
                    <a:p>
                      <a:pPr>
                        <a:defRPr sz="900" b="0">
                          <a:solidFill>
                            <a:srgbClr val="F8FAFC"/>
                          </a:solidFill>
                          <a:latin typeface="Cairo"/>
                        </a:defRPr>
                      </a:pPr>
                      <a:r>
                        <a:t>US-01 / AC-01</a:t>
                      </a:r>
                      <a:br/>
                      <a:r>
                        <a:t>ظهور القرين خلال 3 ثوانٍ</a:t>
                      </a:r>
                    </a:p>
                  </a:txBody>
                  <a:tcPr>
                    <a:solidFill>
                      <a:srgbClr val="121C38"/>
                    </a:solidFill>
                  </a:tcPr>
                </a:tc>
                <a:tc>
                  <a:txBody>
                    <a:bodyPr/>
                    <a:lstStyle/>
                    <a:p>
                      <a:pPr>
                        <a:defRPr sz="900" b="1">
                          <a:solidFill>
                            <a:srgbClr val="FBBF24"/>
                          </a:solidFill>
                          <a:latin typeface="Cairo"/>
                        </a:defRPr>
                      </a:pPr>
                      <a:r>
                        <a:t>Implemented - Not Tested</a:t>
                      </a:r>
                      <a:br/>
                      <a:r>
                        <a:t>(يحتاج اختبار جهازين)</a:t>
                      </a:r>
                    </a:p>
                  </a:txBody>
                  <a:tcPr>
                    <a:solidFill>
                      <a:srgbClr val="121C38"/>
                    </a:solidFill>
                  </a:tcPr>
                </a:tc>
              </a:tr>
              <a:tr h="563880">
                <a:tc>
                  <a:txBody>
                    <a:bodyPr/>
                    <a:lstStyle/>
                    <a:p>
                      <a:pPr>
                        <a:defRPr sz="900" b="1">
                          <a:solidFill>
                            <a:srgbClr val="F8FAFC"/>
                          </a:solidFill>
                          <a:latin typeface="Consolas"/>
                        </a:defRPr>
                      </a:pPr>
                      <a:r>
                        <a:t>FR-05</a:t>
                      </a:r>
                    </a:p>
                  </a:txBody>
                  <a:tcPr>
                    <a:solidFill>
                      <a:srgbClr val="0E162D"/>
                    </a:solidFill>
                  </a:tcPr>
                </a:tc>
                <a:tc>
                  <a:txBody>
                    <a:bodyPr/>
                    <a:lstStyle/>
                    <a:p>
                      <a:pPr>
                        <a:defRPr sz="900" b="0">
                          <a:solidFill>
                            <a:srgbClr val="F8FAFC"/>
                          </a:solidFill>
                          <a:latin typeface="Cairo"/>
                        </a:defRPr>
                      </a:pPr>
                      <a:r>
                        <a:t>إرسال رسالة فردية</a:t>
                      </a:r>
                    </a:p>
                  </a:txBody>
                  <a:tcPr>
                    <a:solidFill>
                      <a:srgbClr val="0E162D"/>
                    </a:solidFill>
                  </a:tcPr>
                </a:tc>
                <a:tc>
                  <a:txBody>
                    <a:bodyPr/>
                    <a:lstStyle/>
                    <a:p>
                      <a:pPr>
                        <a:defRPr sz="900" b="0">
                          <a:solidFill>
                            <a:srgbClr val="F8FAFC"/>
                          </a:solidFill>
                          <a:latin typeface="Consolas"/>
                        </a:defRPr>
                      </a:pPr>
                      <a:r>
                        <a:t>LocalP2PEngine.kt &amp; MainViewModel.kt</a:t>
                      </a:r>
                      <a:br/>
                      <a:r>
                        <a:t>sendMessage(), حزمة CHAT_MSG</a:t>
                      </a:r>
                    </a:p>
                  </a:txBody>
                  <a:tcPr>
                    <a:solidFill>
                      <a:srgbClr val="0E162D"/>
                    </a:solidFill>
                  </a:tcPr>
                </a:tc>
                <a:tc>
                  <a:txBody>
                    <a:bodyPr/>
                    <a:lstStyle/>
                    <a:p>
                      <a:pPr>
                        <a:defRPr sz="900" b="0">
                          <a:solidFill>
                            <a:srgbClr val="F8FAFC"/>
                          </a:solidFill>
                          <a:latin typeface="Cairo"/>
                        </a:defRPr>
                      </a:pPr>
                      <a:r>
                        <a:t>US-02 / AC-02</a:t>
                      </a:r>
                      <a:br/>
                      <a:r>
                        <a:t>تسليم وتخزين وتأكيد ACK</a:t>
                      </a:r>
                    </a:p>
                  </a:txBody>
                  <a:tcPr>
                    <a:solidFill>
                      <a:srgbClr val="0E162D"/>
                    </a:solidFill>
                  </a:tcPr>
                </a:tc>
                <a:tc>
                  <a:txBody>
                    <a:bodyPr/>
                    <a:lstStyle/>
                    <a:p>
                      <a:pPr>
                        <a:defRPr sz="900" b="1">
                          <a:solidFill>
                            <a:srgbClr val="FBBF24"/>
                          </a:solidFill>
                          <a:latin typeface="Cairo"/>
                        </a:defRPr>
                      </a:pPr>
                      <a:r>
                        <a:t>Implemented - Not Tested</a:t>
                      </a:r>
                      <a:br/>
                      <a:r>
                        <a:t>(مبني في الكود والقاعدة)</a:t>
                      </a:r>
                    </a:p>
                  </a:txBody>
                  <a:tcPr>
                    <a:solidFill>
                      <a:srgbClr val="0E162D"/>
                    </a:solidFill>
                  </a:tcPr>
                </a:tc>
              </a:tr>
              <a:tr h="563880">
                <a:tc>
                  <a:txBody>
                    <a:bodyPr/>
                    <a:lstStyle/>
                    <a:p>
                      <a:pPr>
                        <a:defRPr sz="900" b="1">
                          <a:solidFill>
                            <a:srgbClr val="F8FAFC"/>
                          </a:solidFill>
                          <a:latin typeface="Consolas"/>
                        </a:defRPr>
                      </a:pPr>
                      <a:r>
                        <a:t>FR-13</a:t>
                      </a:r>
                    </a:p>
                  </a:txBody>
                  <a:tcPr>
                    <a:solidFill>
                      <a:srgbClr val="121C38"/>
                    </a:solidFill>
                  </a:tcPr>
                </a:tc>
                <a:tc>
                  <a:txBody>
                    <a:bodyPr/>
                    <a:lstStyle/>
                    <a:p>
                      <a:pPr>
                        <a:defRPr sz="900" b="0">
                          <a:solidFill>
                            <a:srgbClr val="F8FAFC"/>
                          </a:solidFill>
                          <a:latin typeface="Cairo"/>
                        </a:defRPr>
                      </a:pPr>
                      <a:r>
                        <a:t>حذف الرسالة شبكياً</a:t>
                      </a:r>
                    </a:p>
                  </a:txBody>
                  <a:tcPr>
                    <a:solidFill>
                      <a:srgbClr val="121C38"/>
                    </a:solidFill>
                  </a:tcPr>
                </a:tc>
                <a:tc>
                  <a:txBody>
                    <a:bodyPr/>
                    <a:lstStyle/>
                    <a:p>
                      <a:pPr>
                        <a:defRPr sz="900" b="0">
                          <a:solidFill>
                            <a:srgbClr val="F8FAFC"/>
                          </a:solidFill>
                          <a:latin typeface="Consolas"/>
                        </a:defRPr>
                      </a:pPr>
                      <a:r>
                        <a:t>LocalP2PEngine.kt</a:t>
                      </a:r>
                      <a:br/>
                      <a:r>
                        <a:t>(لا يوجد كود أو حزمة شبكية للحذف عن بعد)</a:t>
                      </a:r>
                    </a:p>
                  </a:txBody>
                  <a:tcPr>
                    <a:solidFill>
                      <a:srgbClr val="121C38"/>
                    </a:solidFill>
                  </a:tcPr>
                </a:tc>
                <a:tc>
                  <a:txBody>
                    <a:bodyPr/>
                    <a:lstStyle/>
                    <a:p>
                      <a:pPr>
                        <a:defRPr sz="900" b="0">
                          <a:solidFill>
                            <a:srgbClr val="F8FAFC"/>
                          </a:solidFill>
                          <a:latin typeface="Cairo"/>
                        </a:defRPr>
                      </a:pPr>
                      <a:r>
                        <a:t>US-06 / AC-02.6</a:t>
                      </a:r>
                      <a:br/>
                      <a:r>
                        <a:t>حذف الرسالة لدى القرين</a:t>
                      </a:r>
                    </a:p>
                  </a:txBody>
                  <a:tcPr>
                    <a:solidFill>
                      <a:srgbClr val="121C38"/>
                    </a:solidFill>
                  </a:tcPr>
                </a:tc>
                <a:tc>
                  <a:txBody>
                    <a:bodyPr/>
                    <a:lstStyle/>
                    <a:p>
                      <a:pPr>
                        <a:defRPr sz="900" b="1">
                          <a:solidFill>
                            <a:srgbClr val="F87171"/>
                          </a:solidFill>
                          <a:latin typeface="Cairo"/>
                        </a:defRPr>
                      </a:pPr>
                      <a:r>
                        <a:t>Missing / Not Implemented</a:t>
                      </a:r>
                      <a:br/>
                      <a:r>
                        <a:t>(موثق كفجوة بأمانة)</a:t>
                      </a:r>
                    </a:p>
                  </a:txBody>
                  <a:tcPr>
                    <a:solidFill>
                      <a:srgbClr val="121C38"/>
                    </a:solidFill>
                  </a:tcPr>
                </a:tc>
              </a:tr>
              <a:tr h="563880">
                <a:tc>
                  <a:txBody>
                    <a:bodyPr/>
                    <a:lstStyle/>
                    <a:p>
                      <a:pPr>
                        <a:defRPr sz="900" b="1">
                          <a:solidFill>
                            <a:srgbClr val="F8FAFC"/>
                          </a:solidFill>
                          <a:latin typeface="Consolas"/>
                        </a:defRPr>
                      </a:pPr>
                      <a:r>
                        <a:t>FR-17</a:t>
                      </a:r>
                    </a:p>
                  </a:txBody>
                  <a:tcPr>
                    <a:solidFill>
                      <a:srgbClr val="0E162D"/>
                    </a:solidFill>
                  </a:tcPr>
                </a:tc>
                <a:tc>
                  <a:txBody>
                    <a:bodyPr/>
                    <a:lstStyle/>
                    <a:p>
                      <a:pPr>
                        <a:defRPr sz="900" b="0">
                          <a:solidFill>
                            <a:srgbClr val="F8FAFC"/>
                          </a:solidFill>
                          <a:latin typeface="Cairo"/>
                        </a:defRPr>
                      </a:pPr>
                      <a:r>
                        <a:t>استئناف نقل الملفات</a:t>
                      </a:r>
                    </a:p>
                  </a:txBody>
                  <a:tcPr>
                    <a:solidFill>
                      <a:srgbClr val="0E162D"/>
                    </a:solidFill>
                  </a:tcPr>
                </a:tc>
                <a:tc>
                  <a:txBody>
                    <a:bodyPr/>
                    <a:lstStyle/>
                    <a:p>
                      <a:pPr>
                        <a:defRPr sz="900" b="0">
                          <a:solidFill>
                            <a:srgbClr val="F8FAFC"/>
                          </a:solidFill>
                          <a:latin typeface="Consolas"/>
                        </a:defRPr>
                      </a:pPr>
                      <a:r>
                        <a:t>FileTransferEngine.kt &amp; LocalCryptoEngine.kt</a:t>
                      </a:r>
                      <a:br/>
                      <a:r>
                        <a:t>deriveChunkNonce() واشتقاق الإزاحة</a:t>
                      </a:r>
                    </a:p>
                  </a:txBody>
                  <a:tcPr>
                    <a:solidFill>
                      <a:srgbClr val="0E162D"/>
                    </a:solidFill>
                  </a:tcPr>
                </a:tc>
                <a:tc>
                  <a:txBody>
                    <a:bodyPr/>
                    <a:lstStyle/>
                    <a:p>
                      <a:pPr>
                        <a:defRPr sz="900" b="0">
                          <a:solidFill>
                            <a:srgbClr val="F8FAFC"/>
                          </a:solidFill>
                          <a:latin typeface="Cairo"/>
                        </a:defRPr>
                      </a:pPr>
                      <a:r>
                        <a:t>US-08 / AC-03.1</a:t>
                      </a:r>
                      <a:br/>
                      <a:r>
                        <a:t>استئناف التحميل بعد القطع</a:t>
                      </a:r>
                    </a:p>
                  </a:txBody>
                  <a:tcPr>
                    <a:solidFill>
                      <a:srgbClr val="0E162D"/>
                    </a:solidFill>
                  </a:tcPr>
                </a:tc>
                <a:tc>
                  <a:txBody>
                    <a:bodyPr/>
                    <a:lstStyle/>
                    <a:p>
                      <a:pPr>
                        <a:defRPr sz="900" b="1">
                          <a:solidFill>
                            <a:srgbClr val="FBBF24"/>
                          </a:solidFill>
                          <a:latin typeface="Cairo"/>
                        </a:defRPr>
                      </a:pPr>
                      <a:r>
                        <a:t>Implemented - Not Tested</a:t>
                      </a:r>
                      <a:br/>
                      <a:r>
                        <a:t>(يحتاج قياس عملي)</a:t>
                      </a:r>
                    </a:p>
                  </a:txBody>
                  <a:tcPr>
                    <a:solidFill>
                      <a:srgbClr val="0E162D"/>
                    </a:solidFill>
                  </a:tcPr>
                </a:tc>
              </a:tr>
              <a:tr h="563880">
                <a:tc>
                  <a:txBody>
                    <a:bodyPr/>
                    <a:lstStyle/>
                    <a:p>
                      <a:pPr>
                        <a:defRPr sz="900" b="1">
                          <a:solidFill>
                            <a:srgbClr val="F8FAFC"/>
                          </a:solidFill>
                          <a:latin typeface="Consolas"/>
                        </a:defRPr>
                      </a:pPr>
                      <a:r>
                        <a:t>FR-28</a:t>
                      </a:r>
                    </a:p>
                  </a:txBody>
                  <a:tcPr>
                    <a:solidFill>
                      <a:srgbClr val="121C38"/>
                    </a:solidFill>
                  </a:tcPr>
                </a:tc>
                <a:tc>
                  <a:txBody>
                    <a:bodyPr/>
                    <a:lstStyle/>
                    <a:p>
                      <a:pPr>
                        <a:defRPr sz="900" b="0">
                          <a:solidFill>
                            <a:srgbClr val="F8FAFC"/>
                          </a:solidFill>
                          <a:latin typeface="Cairo"/>
                        </a:defRPr>
                      </a:pPr>
                      <a:r>
                        <a:t>تشفير الحزم AES-GCM</a:t>
                      </a:r>
                    </a:p>
                  </a:txBody>
                  <a:tcPr>
                    <a:solidFill>
                      <a:srgbClr val="121C38"/>
                    </a:solidFill>
                  </a:tcPr>
                </a:tc>
                <a:tc>
                  <a:txBody>
                    <a:bodyPr/>
                    <a:lstStyle/>
                    <a:p>
                      <a:pPr>
                        <a:defRPr sz="900" b="0">
                          <a:solidFill>
                            <a:srgbClr val="F8FAFC"/>
                          </a:solidFill>
                          <a:latin typeface="Consolas"/>
                        </a:defRPr>
                      </a:pPr>
                      <a:r>
                        <a:t>LocalCryptoEngine.kt</a:t>
                      </a:r>
                      <a:br/>
                      <a:r>
                        <a:t>encrypt() بنمط AES/GCM/NoPadding و Tag 128</a:t>
                      </a:r>
                    </a:p>
                  </a:txBody>
                  <a:tcPr>
                    <a:solidFill>
                      <a:srgbClr val="121C38"/>
                    </a:solidFill>
                  </a:tcPr>
                </a:tc>
                <a:tc>
                  <a:txBody>
                    <a:bodyPr/>
                    <a:lstStyle/>
                    <a:p>
                      <a:pPr>
                        <a:defRPr sz="900" b="0">
                          <a:solidFill>
                            <a:srgbClr val="F8FAFC"/>
                          </a:solidFill>
                          <a:latin typeface="Cairo"/>
                        </a:defRPr>
                      </a:pPr>
                      <a:r>
                        <a:t>US-15 / AC-05</a:t>
                      </a:r>
                      <a:br/>
                      <a:r>
                        <a:t>حماية السرية وسلامة الحزم</a:t>
                      </a:r>
                    </a:p>
                  </a:txBody>
                  <a:tcPr>
                    <a:solidFill>
                      <a:srgbClr val="121C38"/>
                    </a:solidFill>
                  </a:tcPr>
                </a:tc>
                <a:tc>
                  <a:txBody>
                    <a:bodyPr/>
                    <a:lstStyle/>
                    <a:p>
                      <a:pPr>
                        <a:defRPr sz="900" b="1">
                          <a:solidFill>
                            <a:srgbClr val="34D399"/>
                          </a:solidFill>
                          <a:latin typeface="Cairo"/>
                        </a:defRPr>
                      </a:pPr>
                      <a:r>
                        <a:t>JVM Tested (10/10 Passed)</a:t>
                      </a:r>
                      <a:br/>
                      <a:r>
                        <a:t>(مثبت آلياً بوحدة الاختبار)</a:t>
                      </a:r>
                    </a:p>
                  </a:txBody>
                  <a:tcPr>
                    <a:solidFill>
                      <a:srgbClr val="121C38"/>
                    </a:solidFill>
                  </a:tcPr>
                </a:tc>
              </a:tr>
            </a:tbl>
          </a:graphicData>
        </a:graphic>
      </p:graphicFrame>
      <p:sp>
        <p:nvSpPr>
          <p:cNvPr id="12" name="Rounded Rectangle 11"/>
          <p:cNvSpPr/>
          <p:nvPr/>
        </p:nvSpPr>
        <p:spPr>
          <a:xfrm>
            <a:off x="731520" y="5303520"/>
            <a:ext cx="10698480" cy="914400"/>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38BDF8"/>
                </a:solidFill>
                <a:latin typeface="Cairo"/>
              </a:defRPr>
            </a:pPr>
            <a:r>
              <a:t>🎯 القيمة الهندسية لمصفوفة التتبع (RTM):</a:t>
            </a:r>
          </a:p>
          <a:p>
            <a:pPr>
              <a:defRPr sz="950">
                <a:solidFill>
                  <a:srgbClr val="94A3B8"/>
                </a:solidFill>
                <a:latin typeface="Cairo"/>
              </a:defRPr>
            </a:pPr>
            <a:r>
              <a:t>تثبت المصفوفة عدم وجود أي 'كود طفيلي' لا يرتبط بمتطلب وظيفي، وتمنع الادعاءات غير الدقيقة بفصلها الصارم بين الميزات المختبرة بوحدات الاختبار (JVM Tested)، والميزات المبنية في الكود ولكنها تحتاج أجهزة فعلية (Implemented - Not Tested)، والميزات غير المكتملة الموثقة رسمياً كفجوات (Missing).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7772400" cy="347472"/>
          </a:xfrm>
          <a:prstGeom prst="rect">
            <a:avLst/>
          </a:prstGeom>
          <a:noFill/>
        </p:spPr>
        <p:txBody>
          <a:bodyPr wrap="square">
            <a:spAutoFit/>
          </a:bodyPr>
          <a:lstStyle/>
          <a:p>
            <a:pPr>
              <a:defRPr sz="1100" b="1">
                <a:solidFill>
                  <a:srgbClr val="38BDF8"/>
                </a:solidFill>
                <a:latin typeface="Cairo"/>
              </a:defRPr>
            </a:pPr>
            <a:r>
              <a:t>• إدارة التغيير المعماري | هندسة البرمجيات — مشروع LOCAL CONTACT P2P</a:t>
            </a:r>
          </a:p>
        </p:txBody>
      </p:sp>
      <p:sp>
        <p:nvSpPr>
          <p:cNvPr id="5" name="Rounded Rectangle 4"/>
          <p:cNvSpPr/>
          <p:nvPr/>
        </p:nvSpPr>
        <p:spPr>
          <a:xfrm>
            <a:off x="10424160" y="228600"/>
            <a:ext cx="1005840" cy="347472"/>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latin typeface="Consolas"/>
              </a:defRPr>
            </a:pPr>
            <a:r>
              <a:t>8 / 12</a:t>
            </a:r>
          </a:p>
        </p:txBody>
      </p:sp>
      <p:sp>
        <p:nvSpPr>
          <p:cNvPr id="6" name="TextBox 5"/>
          <p:cNvSpPr txBox="1"/>
          <p:nvPr/>
        </p:nvSpPr>
        <p:spPr>
          <a:xfrm>
            <a:off x="731520" y="621792"/>
            <a:ext cx="8778240" cy="502920"/>
          </a:xfrm>
          <a:prstGeom prst="rect">
            <a:avLst/>
          </a:prstGeom>
          <a:noFill/>
        </p:spPr>
        <p:txBody>
          <a:bodyPr wrap="square">
            <a:spAutoFit/>
          </a:bodyPr>
          <a:lstStyle/>
          <a:p>
            <a:pPr>
              <a:defRPr sz="2000" b="1">
                <a:solidFill>
                  <a:srgbClr val="F8FAFC"/>
                </a:solidFill>
                <a:latin typeface="Cairo"/>
              </a:defRPr>
            </a:pPr>
            <a:r>
              <a:t>إدارة التغيير والتوافق العكسي (Change Management)</a:t>
            </a:r>
          </a:p>
        </p:txBody>
      </p:sp>
      <p:sp>
        <p:nvSpPr>
          <p:cNvPr id="7" name="TextBox 6"/>
          <p:cNvSpPr txBox="1"/>
          <p:nvPr/>
        </p:nvSpPr>
        <p:spPr>
          <a:xfrm>
            <a:off x="731520" y="1115568"/>
            <a:ext cx="8778240" cy="347472"/>
          </a:xfrm>
          <a:prstGeom prst="rect">
            <a:avLst/>
          </a:prstGeom>
          <a:noFill/>
        </p:spPr>
        <p:txBody>
          <a:bodyPr wrap="square">
            <a:spAutoFit/>
          </a:bodyPr>
          <a:lstStyle/>
          <a:p>
            <a:pPr>
              <a:defRPr sz="1150" b="1">
                <a:solidFill>
                  <a:srgbClr val="94A3B8"/>
                </a:solidFill>
                <a:latin typeface="Cairo"/>
              </a:defRPr>
            </a:pPr>
            <a:r>
              <a:t>تطبيق نمط المزود (Provider Pattern) لإعادة هيكلة التشفير دون كسر الكود القديم</a:t>
            </a:r>
          </a:p>
        </p:txBody>
      </p:sp>
      <p:sp>
        <p:nvSpPr>
          <p:cNvPr id="8" name="Rounded Rectangle 7"/>
          <p:cNvSpPr/>
          <p:nvPr/>
        </p:nvSpPr>
        <p:spPr>
          <a:xfrm>
            <a:off x="8961120" y="685800"/>
            <a:ext cx="2468880" cy="384048"/>
          </a:xfrm>
          <a:prstGeom prst="roundRect">
            <a:avLst/>
          </a:prstGeom>
          <a:solidFill>
            <a:srgbClr val="064E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4D399"/>
                </a:solidFill>
                <a:latin typeface="Consolas"/>
              </a:defRPr>
            </a:pPr>
            <a:r>
              <a:t>SOLID / DIP PATTERN</a:t>
            </a:r>
          </a:p>
        </p:txBody>
      </p:sp>
      <p:sp>
        <p:nvSpPr>
          <p:cNvPr id="9" name="Rectangle 8"/>
          <p:cNvSpPr/>
          <p:nvPr/>
        </p:nvSpPr>
        <p:spPr>
          <a:xfrm>
            <a:off x="731520" y="1536192"/>
            <a:ext cx="10698480" cy="18288"/>
          </a:xfrm>
          <a:prstGeom prst="rect">
            <a:avLst/>
          </a:prstGeom>
          <a:solidFill>
            <a:srgbClr val="2538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698480" cy="320040"/>
          </a:xfrm>
          <a:prstGeom prst="rect">
            <a:avLst/>
          </a:prstGeom>
          <a:noFill/>
        </p:spPr>
        <p:txBody>
          <a:bodyPr wrap="none">
            <a:spAutoFit/>
          </a:bodyPr>
          <a:lstStyle/>
          <a:p>
            <a:pPr>
              <a:defRPr sz="950" b="1">
                <a:solidFill>
                  <a:srgbClr val="64748B"/>
                </a:solidFill>
                <a:latin typeface="Cairo"/>
              </a:defRPr>
            </a:pPr>
            <a:r>
              <a:t>مشروع LOCAL CONTACT P2P — وثائق ومناقشة هندسة البرمجيات الأكاديمية | الشريحة رقم 8 من أصل 12 شريحة</a:t>
            </a:r>
          </a:p>
        </p:txBody>
      </p:sp>
      <p:sp>
        <p:nvSpPr>
          <p:cNvPr id="11" name="Rounded Rectangle 10"/>
          <p:cNvSpPr/>
          <p:nvPr/>
        </p:nvSpPr>
        <p:spPr>
          <a:xfrm>
            <a:off x="731520" y="1737360"/>
            <a:ext cx="5212080" cy="4480560"/>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8BDF8"/>
                </a:solidFill>
                <a:latin typeface="Cairo"/>
              </a:defRPr>
            </a:pPr>
            <a:r>
              <a:t>🔄 تحدي إدارة التغيير وتطبيق نمط Provider:</a:t>
            </a:r>
          </a:p>
          <a:p>
            <a:pPr>
              <a:spcBef>
                <a:spcPts val="600"/>
              </a:spcBef>
              <a:defRPr sz="1050" b="1">
                <a:solidFill>
                  <a:srgbClr val="F8FAFC"/>
                </a:solidFill>
                <a:latin typeface="Cairo"/>
              </a:defRPr>
            </a:pPr>
            <a:r>
              <a:t>• تحدي التغيير (The Change Challenge):</a:t>
            </a:r>
          </a:p>
          <a:p>
            <a:pPr>
              <a:defRPr sz="950">
                <a:solidFill>
                  <a:srgbClr val="94A3B8"/>
                </a:solidFill>
                <a:latin typeface="Cairo"/>
              </a:defRPr>
            </a:pPr>
            <a:r>
              <a:t>  أردنا ترقية منظومة التشفير لدعم المفاتيح الديناميكية و ECDH دون كسر عشرات المسارات التي تعتمد على التشفير القديم في الواجهات ومحركات الصوت والفيديو.</a:t>
            </a:r>
          </a:p>
          <a:p>
            <a:pPr>
              <a:spcBef>
                <a:spcPts val="600"/>
              </a:spcBef>
              <a:defRPr sz="1050" b="1">
                <a:solidFill>
                  <a:srgbClr val="F8FAFC"/>
                </a:solidFill>
                <a:latin typeface="Cairo"/>
              </a:defRPr>
            </a:pPr>
            <a:r>
              <a:t>• نمط التصميم المطبق (Design Pattern):</a:t>
            </a:r>
          </a:p>
          <a:p>
            <a:pPr>
              <a:defRPr sz="950">
                <a:solidFill>
                  <a:srgbClr val="94A3B8"/>
                </a:solidFill>
                <a:latin typeface="Cairo"/>
              </a:defRPr>
            </a:pPr>
            <a:r>
              <a:t>  تم تطبيق نمط Provider / Strategy عبر إنشاء واجهة KeyProvider.kt لفصل اشتقاق المفاتيح عن عمليات التشفير والـ Cipher.</a:t>
            </a:r>
          </a:p>
          <a:p>
            <a:pPr>
              <a:spcBef>
                <a:spcPts val="600"/>
              </a:spcBef>
              <a:defRPr sz="1050" b="1">
                <a:solidFill>
                  <a:srgbClr val="F8FAFC"/>
                </a:solidFill>
                <a:latin typeface="Cairo"/>
              </a:defRPr>
            </a:pPr>
            <a:r>
              <a:t>• التوافق العكسي (Backward Compatibility):</a:t>
            </a:r>
          </a:p>
          <a:p>
            <a:pPr>
              <a:defRPr sz="950">
                <a:solidFill>
                  <a:srgbClr val="94A3B8"/>
                </a:solidFill>
                <a:latin typeface="Cairo"/>
              </a:defRPr>
            </a:pPr>
            <a:r>
              <a:t>  بناء كلاس LegacyStaticKeyProvider ليحتفظ بسلوك PBKDF2 القديم بنفس الملح والـ Iterations، مما جعل الكود القديم يعمل بسلاسة كـ Default.</a:t>
            </a:r>
          </a:p>
          <a:p>
            <a:pPr>
              <a:spcBef>
                <a:spcPts val="600"/>
              </a:spcBef>
              <a:defRPr sz="1050" b="1">
                <a:solidFill>
                  <a:srgbClr val="F8FAFC"/>
                </a:solidFill>
                <a:latin typeface="Cairo"/>
              </a:defRPr>
            </a:pPr>
            <a:r>
              <a:t>• صفر تعديلات كاسرة (Zero Breaking Changes):</a:t>
            </a:r>
          </a:p>
          <a:p>
            <a:pPr>
              <a:defRPr sz="950">
                <a:solidFill>
                  <a:srgbClr val="94A3B8"/>
                </a:solidFill>
                <a:latin typeface="Cairo"/>
              </a:defRPr>
            </a:pPr>
            <a:r>
              <a:t>  لم تتأثر استدعاءات encrypt() و decrypt() في باقي أجزاء التطبيق، مما حقق تغييراً آمناً وخالياً من الانتكاسات (No Regressions).</a:t>
            </a:r>
          </a:p>
        </p:txBody>
      </p:sp>
      <p:sp>
        <p:nvSpPr>
          <p:cNvPr id="12" name="Rounded Rectangle 11"/>
          <p:cNvSpPr/>
          <p:nvPr/>
        </p:nvSpPr>
        <p:spPr>
          <a:xfrm>
            <a:off x="6217920" y="1737360"/>
            <a:ext cx="5212080" cy="448056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8FAFC"/>
                </a:solidFill>
                <a:latin typeface="Cairo"/>
              </a:defRPr>
            </a:pPr>
            <a:r>
              <a:t>📂 الملفات الفعلية والمسؤوليات البرمجية:</a:t>
            </a:r>
          </a:p>
          <a:p>
            <a:pPr>
              <a:spcBef>
                <a:spcPts val="600"/>
              </a:spcBef>
              <a:defRPr sz="1050" b="1">
                <a:solidFill>
                  <a:srgbClr val="38BDF8"/>
                </a:solidFill>
                <a:latin typeface="Cairo"/>
              </a:defRPr>
            </a:pPr>
            <a:r>
              <a:t>• الملف المضاف:</a:t>
            </a:r>
          </a:p>
          <a:p>
            <a:pPr>
              <a:defRPr sz="900">
                <a:solidFill>
                  <a:srgbClr val="F8FAFC"/>
                </a:solidFill>
                <a:latin typeface="Consolas"/>
              </a:defRPr>
            </a:pPr>
            <a:r>
              <a:t>  app/src/main/java/com/example/network/KeyProvider.kt</a:t>
            </a:r>
          </a:p>
          <a:p>
            <a:pPr>
              <a:defRPr sz="900">
                <a:solidFill>
                  <a:srgbClr val="94A3B8"/>
                </a:solidFill>
                <a:latin typeface="Cairo"/>
              </a:defRPr>
            </a:pPr>
            <a:r>
              <a:t>  الأسطر 17-26: تعريف الواجهة المجردة KeyProvider.</a:t>
            </a:r>
            <a:br/>
            <a:r>
              <a:t>الأسطر 38-94: تطبيق LegacyStaticKeyProvider مع PBKDF2 والـ 12,000 تكرار للتوافق العكسي.</a:t>
            </a:r>
          </a:p>
          <a:p>
            <a:pPr>
              <a:spcBef>
                <a:spcPts val="600"/>
              </a:spcBef>
              <a:defRPr sz="1050" b="1">
                <a:solidFill>
                  <a:srgbClr val="38BDF8"/>
                </a:solidFill>
                <a:latin typeface="Cairo"/>
              </a:defRPr>
            </a:pPr>
            <a:r>
              <a:t>• الملف المعدل معمارياً:</a:t>
            </a:r>
          </a:p>
          <a:p>
            <a:pPr>
              <a:defRPr sz="900">
                <a:solidFill>
                  <a:srgbClr val="F8FAFC"/>
                </a:solidFill>
                <a:latin typeface="Consolas"/>
              </a:defRPr>
            </a:pPr>
            <a:r>
              <a:t>  app/src/main/java/com/example/network/LocalCryptoEngine.kt</a:t>
            </a:r>
          </a:p>
          <a:p>
            <a:pPr>
              <a:defRPr sz="900">
                <a:solidFill>
                  <a:srgbClr val="94A3B8"/>
                </a:solidFill>
                <a:latin typeface="Cairo"/>
              </a:defRPr>
            </a:pPr>
            <a:r>
              <a:t>  الأسطر 28-30: استقبال المزود عبر @Volatile var keyProvider: KeyProvider.</a:t>
            </a:r>
            <a:br/>
            <a:r>
              <a:t>الأسطر 43-45: استرجاع المفتاح عبر keyProvider.getNetworkKey() بدلاً من تثبيته داخلياً.</a:t>
            </a:r>
          </a:p>
          <a:p>
            <a:pPr>
              <a:spcBef>
                <a:spcPts val="600"/>
              </a:spcBef>
              <a:defRPr sz="1050" b="1">
                <a:solidFill>
                  <a:srgbClr val="38BDF8"/>
                </a:solidFill>
                <a:latin typeface="Cairo"/>
              </a:defRPr>
            </a:pPr>
            <a:r>
              <a:t>• ملفات الاختبار المضافة:</a:t>
            </a:r>
          </a:p>
          <a:p>
            <a:pPr>
              <a:defRPr sz="900">
                <a:solidFill>
                  <a:srgbClr val="F8FAFC"/>
                </a:solidFill>
                <a:latin typeface="Consolas"/>
              </a:defRPr>
            </a:pPr>
            <a:r>
              <a:t>  app/src/test/java/com/example/network/LocalCryptoEngineTest.kt</a:t>
            </a:r>
          </a:p>
          <a:p>
            <a:pPr>
              <a:defRPr sz="900">
                <a:solidFill>
                  <a:srgbClr val="94A3B8"/>
                </a:solidFill>
                <a:latin typeface="Cairo"/>
              </a:defRPr>
            </a:pPr>
            <a:r>
              <a:t>  10 اختبارات وحدة آلية تفحص المزود الجديد والقديم، وتثبت سلامة التشفير وعدم انكسار التوافق العكسي.</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7772400" cy="347472"/>
          </a:xfrm>
          <a:prstGeom prst="rect">
            <a:avLst/>
          </a:prstGeom>
          <a:noFill/>
        </p:spPr>
        <p:txBody>
          <a:bodyPr wrap="square">
            <a:spAutoFit/>
          </a:bodyPr>
          <a:lstStyle/>
          <a:p>
            <a:pPr>
              <a:defRPr sz="1100" b="1">
                <a:solidFill>
                  <a:srgbClr val="38BDF8"/>
                </a:solidFill>
                <a:latin typeface="Cairo"/>
              </a:defRPr>
            </a:pPr>
            <a:r>
              <a:t>• ضمان الجودة والتحقق | هندسة البرمجيات — مشروع LOCAL CONTACT P2P</a:t>
            </a:r>
          </a:p>
        </p:txBody>
      </p:sp>
      <p:sp>
        <p:nvSpPr>
          <p:cNvPr id="5" name="Rounded Rectangle 4"/>
          <p:cNvSpPr/>
          <p:nvPr/>
        </p:nvSpPr>
        <p:spPr>
          <a:xfrm>
            <a:off x="10424160" y="228600"/>
            <a:ext cx="1005840" cy="347472"/>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latin typeface="Consolas"/>
              </a:defRPr>
            </a:pPr>
            <a:r>
              <a:t>9 / 12</a:t>
            </a:r>
          </a:p>
        </p:txBody>
      </p:sp>
      <p:sp>
        <p:nvSpPr>
          <p:cNvPr id="6" name="TextBox 5"/>
          <p:cNvSpPr txBox="1"/>
          <p:nvPr/>
        </p:nvSpPr>
        <p:spPr>
          <a:xfrm>
            <a:off x="731520" y="621792"/>
            <a:ext cx="8778240" cy="502920"/>
          </a:xfrm>
          <a:prstGeom prst="rect">
            <a:avLst/>
          </a:prstGeom>
          <a:noFill/>
        </p:spPr>
        <p:txBody>
          <a:bodyPr wrap="square">
            <a:spAutoFit/>
          </a:bodyPr>
          <a:lstStyle/>
          <a:p>
            <a:pPr>
              <a:defRPr sz="2000" b="1">
                <a:solidFill>
                  <a:srgbClr val="F8FAFC"/>
                </a:solidFill>
                <a:latin typeface="Cairo"/>
              </a:defRPr>
            </a:pPr>
            <a:r>
              <a:t>استراتيجية الاختبارات وضمان الجودة (QA &amp; Testing)</a:t>
            </a:r>
          </a:p>
        </p:txBody>
      </p:sp>
      <p:sp>
        <p:nvSpPr>
          <p:cNvPr id="7" name="TextBox 6"/>
          <p:cNvSpPr txBox="1"/>
          <p:nvPr/>
        </p:nvSpPr>
        <p:spPr>
          <a:xfrm>
            <a:off x="731520" y="1115568"/>
            <a:ext cx="8778240" cy="347472"/>
          </a:xfrm>
          <a:prstGeom prst="rect">
            <a:avLst/>
          </a:prstGeom>
          <a:noFill/>
        </p:spPr>
        <p:txBody>
          <a:bodyPr wrap="square">
            <a:spAutoFit/>
          </a:bodyPr>
          <a:lstStyle/>
          <a:p>
            <a:pPr>
              <a:defRPr sz="1150" b="1">
                <a:solidFill>
                  <a:srgbClr val="94A3B8"/>
                </a:solidFill>
                <a:latin typeface="Cairo"/>
              </a:defRPr>
            </a:pPr>
            <a:r>
              <a:t>إثبات سلوك المحركات الحرجة عبر 33 اختبار وحدة JVM آلي ناجح بنسبة 100%</a:t>
            </a:r>
          </a:p>
        </p:txBody>
      </p:sp>
      <p:sp>
        <p:nvSpPr>
          <p:cNvPr id="8" name="Rounded Rectangle 7"/>
          <p:cNvSpPr/>
          <p:nvPr/>
        </p:nvSpPr>
        <p:spPr>
          <a:xfrm>
            <a:off x="8961120" y="685800"/>
            <a:ext cx="2468880" cy="384048"/>
          </a:xfrm>
          <a:prstGeom prst="roundRect">
            <a:avLst/>
          </a:prstGeom>
          <a:solidFill>
            <a:srgbClr val="064E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4D399"/>
                </a:solidFill>
                <a:latin typeface="Consolas"/>
              </a:defRPr>
            </a:pPr>
            <a:r>
              <a:t>33/33 TESTS PASSED</a:t>
            </a:r>
          </a:p>
        </p:txBody>
      </p:sp>
      <p:sp>
        <p:nvSpPr>
          <p:cNvPr id="9" name="Rectangle 8"/>
          <p:cNvSpPr/>
          <p:nvPr/>
        </p:nvSpPr>
        <p:spPr>
          <a:xfrm>
            <a:off x="731520" y="1536192"/>
            <a:ext cx="10698480" cy="18288"/>
          </a:xfrm>
          <a:prstGeom prst="rect">
            <a:avLst/>
          </a:prstGeom>
          <a:solidFill>
            <a:srgbClr val="2538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698480" cy="320040"/>
          </a:xfrm>
          <a:prstGeom prst="rect">
            <a:avLst/>
          </a:prstGeom>
          <a:noFill/>
        </p:spPr>
        <p:txBody>
          <a:bodyPr wrap="none">
            <a:spAutoFit/>
          </a:bodyPr>
          <a:lstStyle/>
          <a:p>
            <a:pPr>
              <a:defRPr sz="950" b="1">
                <a:solidFill>
                  <a:srgbClr val="64748B"/>
                </a:solidFill>
                <a:latin typeface="Cairo"/>
              </a:defRPr>
            </a:pPr>
            <a:r>
              <a:t>مشروع LOCAL CONTACT P2P — وثائق ومناقشة هندسة البرمجيات الأكاديمية | الشريحة رقم 9 من أصل 12 شريحة</a:t>
            </a:r>
          </a:p>
        </p:txBody>
      </p:sp>
      <p:sp>
        <p:nvSpPr>
          <p:cNvPr id="11" name="Rounded Rectangle 10"/>
          <p:cNvSpPr/>
          <p:nvPr/>
        </p:nvSpPr>
        <p:spPr>
          <a:xfrm>
            <a:off x="731520" y="1737360"/>
            <a:ext cx="5257800" cy="178308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38BDF8"/>
                </a:solidFill>
                <a:latin typeface="Consolas"/>
              </a:defRPr>
            </a:pPr>
            <a:r>
              <a:t>🧪 LocalCryptoEngineTest.kt</a:t>
            </a:r>
          </a:p>
          <a:p>
            <a:pPr>
              <a:spcBef>
                <a:spcPts val="200"/>
              </a:spcBef>
              <a:defRPr sz="1000" b="1">
                <a:solidFill>
                  <a:srgbClr val="34D399"/>
                </a:solidFill>
                <a:latin typeface="Cairo"/>
              </a:defRPr>
            </a:pPr>
            <a:r>
              <a:t>• النتيجة: 10 اختبارات آلية ناجحة (100%)</a:t>
            </a:r>
          </a:p>
          <a:p>
            <a:pPr>
              <a:spcBef>
                <a:spcPts val="300"/>
              </a:spcBef>
              <a:defRPr sz="900">
                <a:solidFill>
                  <a:srgbClr val="94A3B8"/>
                </a:solidFill>
                <a:latin typeface="Cairo"/>
              </a:defRPr>
            </a:pPr>
            <a:r>
              <a:t>فحص تشفير وفك تشفير البيانات بـ AES-GCM، رفض المفاتيح الخاطئة، رفض التلاعب بالنص المشفر، واشتقاق Nonce فريد لكل كتلة ملف.</a:t>
            </a:r>
          </a:p>
        </p:txBody>
      </p:sp>
      <p:sp>
        <p:nvSpPr>
          <p:cNvPr id="12" name="Rounded Rectangle 11"/>
          <p:cNvSpPr/>
          <p:nvPr/>
        </p:nvSpPr>
        <p:spPr>
          <a:xfrm>
            <a:off x="6172200" y="1737360"/>
            <a:ext cx="5257800" cy="178308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38BDF8"/>
                </a:solidFill>
                <a:latin typeface="Consolas"/>
              </a:defRPr>
            </a:pPr>
            <a:r>
              <a:t>🧪 EcdhEngineTest.kt</a:t>
            </a:r>
          </a:p>
          <a:p>
            <a:pPr>
              <a:spcBef>
                <a:spcPts val="200"/>
              </a:spcBef>
              <a:defRPr sz="1000" b="1">
                <a:solidFill>
                  <a:srgbClr val="34D399"/>
                </a:solidFill>
                <a:latin typeface="Cairo"/>
              </a:defRPr>
            </a:pPr>
            <a:r>
              <a:t>• النتيجة: 8 اختبارات آلية ناجحة (100%)</a:t>
            </a:r>
          </a:p>
          <a:p>
            <a:pPr>
              <a:spcBef>
                <a:spcPts val="300"/>
              </a:spcBef>
              <a:defRPr sz="900">
                <a:solidFill>
                  <a:srgbClr val="94A3B8"/>
                </a:solidFill>
                <a:latin typeface="Cairo"/>
              </a:defRPr>
            </a:pPr>
            <a:r>
              <a:t>فحص توليد مفاتيح NIST P-256، تبادل المفاتيح المؤقتة، تطابق السر المشترك للطرفين، وفحص استيراد وتصدير المفاتيح بصيغة X.509 DER.</a:t>
            </a:r>
          </a:p>
        </p:txBody>
      </p:sp>
      <p:sp>
        <p:nvSpPr>
          <p:cNvPr id="13" name="Rounded Rectangle 12"/>
          <p:cNvSpPr/>
          <p:nvPr/>
        </p:nvSpPr>
        <p:spPr>
          <a:xfrm>
            <a:off x="731520" y="3657600"/>
            <a:ext cx="5257800" cy="178308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38BDF8"/>
                </a:solidFill>
                <a:latin typeface="Consolas"/>
              </a:defRPr>
            </a:pPr>
            <a:r>
              <a:t>🧪 KeyDerivationTest.kt</a:t>
            </a:r>
          </a:p>
          <a:p>
            <a:pPr>
              <a:spcBef>
                <a:spcPts val="200"/>
              </a:spcBef>
              <a:defRPr sz="1000" b="1">
                <a:solidFill>
                  <a:srgbClr val="34D399"/>
                </a:solidFill>
                <a:latin typeface="Cairo"/>
              </a:defRPr>
            </a:pPr>
            <a:r>
              <a:t>• النتيجة: 8 اختبارات آلية ناجحة (100%)</a:t>
            </a:r>
          </a:p>
          <a:p>
            <a:pPr>
              <a:spcBef>
                <a:spcPts val="300"/>
              </a:spcBef>
              <a:defRPr sz="900">
                <a:solidFill>
                  <a:srgbClr val="94A3B8"/>
                </a:solidFill>
                <a:latin typeface="Cairo"/>
              </a:defRPr>
            </a:pPr>
            <a:r>
              <a:t>فحص دالة اشتقاق المفاتيح HKDF-SHA256 وفق RFC 5869، وفحص تطابق نواقل الاختبار القياسية (RFC Test Vectors) ومرحلتي Extract و Expand.</a:t>
            </a:r>
          </a:p>
        </p:txBody>
      </p:sp>
      <p:sp>
        <p:nvSpPr>
          <p:cNvPr id="14" name="Rounded Rectangle 13"/>
          <p:cNvSpPr/>
          <p:nvPr/>
        </p:nvSpPr>
        <p:spPr>
          <a:xfrm>
            <a:off x="6172200" y="3657600"/>
            <a:ext cx="5257800" cy="178308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38BDF8"/>
                </a:solidFill>
                <a:latin typeface="Consolas"/>
              </a:defRPr>
            </a:pPr>
            <a:r>
              <a:t>🧪 CryptoEngineTest.kt</a:t>
            </a:r>
          </a:p>
          <a:p>
            <a:pPr>
              <a:spcBef>
                <a:spcPts val="200"/>
              </a:spcBef>
              <a:defRPr sz="1000" b="1">
                <a:solidFill>
                  <a:srgbClr val="34D399"/>
                </a:solidFill>
                <a:latin typeface="Cairo"/>
              </a:defRPr>
            </a:pPr>
            <a:r>
              <a:t>• النتيجة: 7 اختبارات آلية ناجحة (100%)</a:t>
            </a:r>
          </a:p>
          <a:p>
            <a:pPr>
              <a:spcBef>
                <a:spcPts val="300"/>
              </a:spcBef>
              <a:defRPr sz="900">
                <a:solidFill>
                  <a:srgbClr val="94A3B8"/>
                </a:solidFill>
                <a:latin typeface="Cairo"/>
              </a:defRPr>
            </a:pPr>
            <a:r>
              <a:t>فحص تكامل بروتوكول الجلسات المشفرة، حماية إرسال واستقبال الحزم المتسلسلة، ورفض الحزم ذات البصمات غير المطابقة.</a:t>
            </a:r>
          </a:p>
        </p:txBody>
      </p:sp>
      <p:sp>
        <p:nvSpPr>
          <p:cNvPr id="15" name="Rounded Rectangle 14"/>
          <p:cNvSpPr/>
          <p:nvPr/>
        </p:nvSpPr>
        <p:spPr>
          <a:xfrm>
            <a:off x="731520" y="5623560"/>
            <a:ext cx="10698480" cy="685800"/>
          </a:xfrm>
          <a:prstGeom prst="roundRect">
            <a:avLst/>
          </a:prstGeom>
          <a:solidFill>
            <a:srgbClr val="78350F"/>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F8FAFC"/>
                </a:solidFill>
                <a:latin typeface="Cairo"/>
              </a:defRPr>
            </a:pPr>
            <a:r>
              <a:t>⚠️ الضوابط العلمية لنتائج الاختبارات: الاختبارات المذكورة أثبتت صحة العمليات الحسابية والمنطقية على مستوى JVM، لكنها لا تغني عن الاختبارات التكاملية على أجهزة أندرويد حقيقية (Two Physical Devices) لقياس تأثير ضياع الحزم وتقييد النظام للبث المتعدد.</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7772400" cy="347472"/>
          </a:xfrm>
          <a:prstGeom prst="rect">
            <a:avLst/>
          </a:prstGeom>
          <a:noFill/>
        </p:spPr>
        <p:txBody>
          <a:bodyPr wrap="square">
            <a:spAutoFit/>
          </a:bodyPr>
          <a:lstStyle/>
          <a:p>
            <a:pPr>
              <a:defRPr sz="1100" b="1">
                <a:solidFill>
                  <a:srgbClr val="38BDF8"/>
                </a:solidFill>
                <a:latin typeface="Cairo"/>
              </a:defRPr>
            </a:pPr>
            <a:r>
              <a:t>• أدوات التطوير والبناء | هندسة البرمجيات — مشروع LOCAL CONTACT P2P</a:t>
            </a:r>
          </a:p>
        </p:txBody>
      </p:sp>
      <p:sp>
        <p:nvSpPr>
          <p:cNvPr id="5" name="Rounded Rectangle 4"/>
          <p:cNvSpPr/>
          <p:nvPr/>
        </p:nvSpPr>
        <p:spPr>
          <a:xfrm>
            <a:off x="10424160" y="228600"/>
            <a:ext cx="1005840" cy="347472"/>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latin typeface="Consolas"/>
              </a:defRPr>
            </a:pPr>
            <a:r>
              <a:t>10 / 12</a:t>
            </a:r>
          </a:p>
        </p:txBody>
      </p:sp>
      <p:sp>
        <p:nvSpPr>
          <p:cNvPr id="6" name="TextBox 5"/>
          <p:cNvSpPr txBox="1"/>
          <p:nvPr/>
        </p:nvSpPr>
        <p:spPr>
          <a:xfrm>
            <a:off x="731520" y="621792"/>
            <a:ext cx="8778240" cy="502920"/>
          </a:xfrm>
          <a:prstGeom prst="rect">
            <a:avLst/>
          </a:prstGeom>
          <a:noFill/>
        </p:spPr>
        <p:txBody>
          <a:bodyPr wrap="square">
            <a:spAutoFit/>
          </a:bodyPr>
          <a:lstStyle/>
          <a:p>
            <a:pPr>
              <a:defRPr sz="2000" b="1">
                <a:solidFill>
                  <a:srgbClr val="F8FAFC"/>
                </a:solidFill>
                <a:latin typeface="Cairo"/>
              </a:defRPr>
            </a:pPr>
            <a:r>
              <a:t>منظومة أدوات البناء وتوليد الكود (Engineering Toolchain)</a:t>
            </a:r>
          </a:p>
        </p:txBody>
      </p:sp>
      <p:sp>
        <p:nvSpPr>
          <p:cNvPr id="7" name="TextBox 6"/>
          <p:cNvSpPr txBox="1"/>
          <p:nvPr/>
        </p:nvSpPr>
        <p:spPr>
          <a:xfrm>
            <a:off x="731520" y="1115568"/>
            <a:ext cx="8778240" cy="347472"/>
          </a:xfrm>
          <a:prstGeom prst="rect">
            <a:avLst/>
          </a:prstGeom>
          <a:noFill/>
        </p:spPr>
        <p:txBody>
          <a:bodyPr wrap="square">
            <a:spAutoFit/>
          </a:bodyPr>
          <a:lstStyle/>
          <a:p>
            <a:pPr>
              <a:defRPr sz="1150" b="1">
                <a:solidFill>
                  <a:srgbClr val="94A3B8"/>
                </a:solidFill>
                <a:latin typeface="Cairo"/>
              </a:defRPr>
            </a:pPr>
            <a:r>
              <a:t>تكامل Gradle 9.4، لغة Kotlin 2.2، ومعالجة الرموز KSP لإدارة دورة حياة المشروع</a:t>
            </a:r>
          </a:p>
        </p:txBody>
      </p:sp>
      <p:sp>
        <p:nvSpPr>
          <p:cNvPr id="8" name="Rounded Rectangle 7"/>
          <p:cNvSpPr/>
          <p:nvPr/>
        </p:nvSpPr>
        <p:spPr>
          <a:xfrm>
            <a:off x="8961120" y="685800"/>
            <a:ext cx="2468880" cy="384048"/>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8BDF8"/>
                </a:solidFill>
                <a:latin typeface="Consolas"/>
              </a:defRPr>
            </a:pPr>
            <a:r>
              <a:t>TOOLCHAIN &amp; CI</a:t>
            </a:r>
          </a:p>
        </p:txBody>
      </p:sp>
      <p:sp>
        <p:nvSpPr>
          <p:cNvPr id="9" name="Rectangle 8"/>
          <p:cNvSpPr/>
          <p:nvPr/>
        </p:nvSpPr>
        <p:spPr>
          <a:xfrm>
            <a:off x="731520" y="1536192"/>
            <a:ext cx="10698480" cy="18288"/>
          </a:xfrm>
          <a:prstGeom prst="rect">
            <a:avLst/>
          </a:prstGeom>
          <a:solidFill>
            <a:srgbClr val="2538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698480" cy="320040"/>
          </a:xfrm>
          <a:prstGeom prst="rect">
            <a:avLst/>
          </a:prstGeom>
          <a:noFill/>
        </p:spPr>
        <p:txBody>
          <a:bodyPr wrap="none">
            <a:spAutoFit/>
          </a:bodyPr>
          <a:lstStyle/>
          <a:p>
            <a:pPr>
              <a:defRPr sz="950" b="1">
                <a:solidFill>
                  <a:srgbClr val="64748B"/>
                </a:solidFill>
                <a:latin typeface="Cairo"/>
              </a:defRPr>
            </a:pPr>
            <a:r>
              <a:t>مشروع LOCAL CONTACT P2P — وثائق ومناقشة هندسة البرمجيات الأكاديمية | الشريحة رقم 10 من أصل 12 شريحة</a:t>
            </a:r>
          </a:p>
        </p:txBody>
      </p:sp>
      <p:sp>
        <p:nvSpPr>
          <p:cNvPr id="11" name="Rounded Rectangle 10"/>
          <p:cNvSpPr/>
          <p:nvPr/>
        </p:nvSpPr>
        <p:spPr>
          <a:xfrm>
            <a:off x="731520" y="1737360"/>
            <a:ext cx="3474720" cy="210312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38BDF8"/>
                </a:solidFill>
                <a:latin typeface="Cairo"/>
              </a:defRPr>
            </a:pPr>
            <a:r>
              <a:t>⚙️ محرك البناء والـ Wrapper</a:t>
            </a:r>
          </a:p>
          <a:p>
            <a:pPr>
              <a:spcBef>
                <a:spcPts val="200"/>
              </a:spcBef>
              <a:defRPr sz="950" b="1">
                <a:solidFill>
                  <a:srgbClr val="2563EB"/>
                </a:solidFill>
                <a:latin typeface="Consolas"/>
              </a:defRPr>
            </a:pPr>
            <a:r>
              <a:t>Gradle 9.4.1 (Kotlin DSL)</a:t>
            </a:r>
          </a:p>
          <a:p>
            <a:pPr>
              <a:spcBef>
                <a:spcPts val="300"/>
              </a:spcBef>
              <a:defRPr sz="900">
                <a:solidFill>
                  <a:srgbClr val="94A3B8"/>
                </a:solidFill>
                <a:latin typeface="Cairo"/>
              </a:defRPr>
            </a:pPr>
            <a:r>
              <a:t>إدارة دورة حياة المشروع، تنزيل التبعيات آلياً، وعزل بيئة البناء لضمان التكرارية عبر gradle-wrapper.properties.</a:t>
            </a:r>
          </a:p>
        </p:txBody>
      </p:sp>
      <p:sp>
        <p:nvSpPr>
          <p:cNvPr id="12" name="Rounded Rectangle 11"/>
          <p:cNvSpPr/>
          <p:nvPr/>
        </p:nvSpPr>
        <p:spPr>
          <a:xfrm>
            <a:off x="4343400" y="1737360"/>
            <a:ext cx="3474720" cy="210312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38BDF8"/>
                </a:solidFill>
                <a:latin typeface="Cairo"/>
              </a:defRPr>
            </a:pPr>
            <a:r>
              <a:t>🤖 مجمع أندرويد الرسمي</a:t>
            </a:r>
          </a:p>
          <a:p>
            <a:pPr>
              <a:spcBef>
                <a:spcPts val="200"/>
              </a:spcBef>
              <a:defRPr sz="950" b="1">
                <a:solidFill>
                  <a:srgbClr val="2563EB"/>
                </a:solidFill>
                <a:latin typeface="Consolas"/>
              </a:defRPr>
            </a:pPr>
            <a:r>
              <a:t>Android Gradle Plugin 9.1.1</a:t>
            </a:r>
          </a:p>
          <a:p>
            <a:pPr>
              <a:spcBef>
                <a:spcPts val="300"/>
              </a:spcBef>
              <a:defRPr sz="900">
                <a:solidFill>
                  <a:srgbClr val="94A3B8"/>
                </a:solidFill>
                <a:latin typeface="Cairo"/>
              </a:defRPr>
            </a:pPr>
            <a:r>
              <a:t>دعم أحدث واجهات أندرويد 16 (Vanilla Ice Cream)، compileSdk 36، و task مخصصة لتصحيح الأرقام الهندية-العربية.</a:t>
            </a:r>
          </a:p>
        </p:txBody>
      </p:sp>
      <p:sp>
        <p:nvSpPr>
          <p:cNvPr id="13" name="Rounded Rectangle 12"/>
          <p:cNvSpPr/>
          <p:nvPr/>
        </p:nvSpPr>
        <p:spPr>
          <a:xfrm>
            <a:off x="7955280" y="1737360"/>
            <a:ext cx="3474720" cy="210312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38BDF8"/>
                </a:solidFill>
                <a:latin typeface="Cairo"/>
              </a:defRPr>
            </a:pPr>
            <a:r>
              <a:t>💎 لغة البرمجة ومنظومة Coroutines</a:t>
            </a:r>
          </a:p>
          <a:p>
            <a:pPr>
              <a:spcBef>
                <a:spcPts val="200"/>
              </a:spcBef>
              <a:defRPr sz="950" b="1">
                <a:solidFill>
                  <a:srgbClr val="2563EB"/>
                </a:solidFill>
                <a:latin typeface="Consolas"/>
              </a:defRPr>
            </a:pPr>
            <a:r>
              <a:t>Kotlin 2.2.10 &amp; StateFlow</a:t>
            </a:r>
          </a:p>
          <a:p>
            <a:pPr>
              <a:spcBef>
                <a:spcPts val="300"/>
              </a:spcBef>
              <a:defRPr sz="900">
                <a:solidFill>
                  <a:srgbClr val="94A3B8"/>
                </a:solidFill>
                <a:latin typeface="Cairo"/>
              </a:defRPr>
            </a:pPr>
            <a:r>
              <a:t>برمجة غير تزامنية عالية الكفاءة للمقابس والشبكة دون حظر واجهة المستخدم عبر Coroutines و Dispatchers.IO.</a:t>
            </a:r>
          </a:p>
        </p:txBody>
      </p:sp>
      <p:sp>
        <p:nvSpPr>
          <p:cNvPr id="14" name="Rounded Rectangle 13"/>
          <p:cNvSpPr/>
          <p:nvPr/>
        </p:nvSpPr>
        <p:spPr>
          <a:xfrm>
            <a:off x="731520" y="4023360"/>
            <a:ext cx="3474720" cy="210312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38BDF8"/>
                </a:solidFill>
                <a:latin typeface="Cairo"/>
              </a:defRPr>
            </a:pPr>
            <a:r>
              <a:t>⚡ معالجة الرموز البرمجية</a:t>
            </a:r>
          </a:p>
          <a:p>
            <a:pPr>
              <a:spcBef>
                <a:spcPts val="200"/>
              </a:spcBef>
              <a:defRPr sz="950" b="1">
                <a:solidFill>
                  <a:srgbClr val="2563EB"/>
                </a:solidFill>
                <a:latin typeface="Consolas"/>
              </a:defRPr>
            </a:pPr>
            <a:r>
              <a:t>KSP (Kotlin Symbol Processing)</a:t>
            </a:r>
          </a:p>
          <a:p>
            <a:pPr>
              <a:spcBef>
                <a:spcPts val="300"/>
              </a:spcBef>
              <a:defRPr sz="900">
                <a:solidFill>
                  <a:srgbClr val="94A3B8"/>
                </a:solidFill>
                <a:latin typeface="Cairo"/>
              </a:defRPr>
            </a:pPr>
            <a:r>
              <a:t>توليد كود قاعدة البيانات Room Database 6 وكود محولات Moshi JSON بسرعة فائقة أثناء وقت الترجمة (Compile-time).</a:t>
            </a:r>
          </a:p>
        </p:txBody>
      </p:sp>
      <p:sp>
        <p:nvSpPr>
          <p:cNvPr id="15" name="Rounded Rectangle 14"/>
          <p:cNvSpPr/>
          <p:nvPr/>
        </p:nvSpPr>
        <p:spPr>
          <a:xfrm>
            <a:off x="4343400" y="4023360"/>
            <a:ext cx="3474720" cy="210312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38BDF8"/>
                </a:solidFill>
                <a:latin typeface="Cairo"/>
              </a:defRPr>
            </a:pPr>
            <a:r>
              <a:t>🎨 إطار الواجهات التعلاني</a:t>
            </a:r>
          </a:p>
          <a:p>
            <a:pPr>
              <a:spcBef>
                <a:spcPts val="200"/>
              </a:spcBef>
              <a:defRPr sz="950" b="1">
                <a:solidFill>
                  <a:srgbClr val="2563EB"/>
                </a:solidFill>
                <a:latin typeface="Consolas"/>
              </a:defRPr>
            </a:pPr>
            <a:r>
              <a:t>Jetpack Compose BOM 2024.09</a:t>
            </a:r>
          </a:p>
          <a:p>
            <a:pPr>
              <a:spcBef>
                <a:spcPts val="300"/>
              </a:spcBef>
              <a:defRPr sz="900">
                <a:solidFill>
                  <a:srgbClr val="94A3B8"/>
                </a:solidFill>
                <a:latin typeface="Cairo"/>
              </a:defRPr>
            </a:pPr>
            <a:r>
              <a:t>بناء واجهات حديثة وقابلة لإعادة الاستخدام ومبنية على أحداث تدفق الحالة (Single Source of Truth).</a:t>
            </a:r>
          </a:p>
        </p:txBody>
      </p:sp>
      <p:sp>
        <p:nvSpPr>
          <p:cNvPr id="16" name="Rounded Rectangle 15"/>
          <p:cNvSpPr/>
          <p:nvPr/>
        </p:nvSpPr>
        <p:spPr>
          <a:xfrm>
            <a:off x="7955280" y="4023360"/>
            <a:ext cx="3474720" cy="2103120"/>
          </a:xfrm>
          <a:prstGeom prst="roundRect">
            <a:avLst/>
          </a:prstGeom>
          <a:solidFill>
            <a:srgbClr val="121C38"/>
          </a:solidFill>
          <a:ln w="19050">
            <a:solidFill>
              <a:srgbClr val="2538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38BDF8"/>
                </a:solidFill>
                <a:latin typeface="Cairo"/>
              </a:defRPr>
            </a:pPr>
            <a:r>
              <a:t>📦 نظام التحكم بالإصدارات</a:t>
            </a:r>
          </a:p>
          <a:p>
            <a:pPr>
              <a:spcBef>
                <a:spcPts val="200"/>
              </a:spcBef>
              <a:defRPr sz="950" b="1">
                <a:solidFill>
                  <a:srgbClr val="2563EB"/>
                </a:solidFill>
                <a:latin typeface="Consolas"/>
              </a:defRPr>
            </a:pPr>
            <a:r>
              <a:t>Git &amp; GitHub Remote Repo</a:t>
            </a:r>
          </a:p>
          <a:p>
            <a:pPr>
              <a:spcBef>
                <a:spcPts val="300"/>
              </a:spcBef>
              <a:defRPr sz="900">
                <a:solidFill>
                  <a:srgbClr val="94A3B8"/>
                </a:solidFill>
                <a:latin typeface="Cairo"/>
              </a:defRPr>
            </a:pPr>
            <a:r>
              <a:t>إدارة الفروع، تتبع الـ Commits، والربط مع المستودع السحابي: github.com/mshalhajep/final-project.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7772400" cy="347472"/>
          </a:xfrm>
          <a:prstGeom prst="rect">
            <a:avLst/>
          </a:prstGeom>
          <a:noFill/>
        </p:spPr>
        <p:txBody>
          <a:bodyPr wrap="square">
            <a:spAutoFit/>
          </a:bodyPr>
          <a:lstStyle/>
          <a:p>
            <a:pPr>
              <a:defRPr sz="1100" b="1">
                <a:solidFill>
                  <a:srgbClr val="38BDF8"/>
                </a:solidFill>
                <a:latin typeface="Cairo"/>
              </a:defRPr>
            </a:pPr>
            <a:r>
              <a:t>• إدارة المخاطر والنزاهة العلمية | هندسة البرمجيات — مشروع LOCAL CONTACT P2P</a:t>
            </a:r>
          </a:p>
        </p:txBody>
      </p:sp>
      <p:sp>
        <p:nvSpPr>
          <p:cNvPr id="5" name="Rounded Rectangle 4"/>
          <p:cNvSpPr/>
          <p:nvPr/>
        </p:nvSpPr>
        <p:spPr>
          <a:xfrm>
            <a:off x="10424160" y="228600"/>
            <a:ext cx="1005840" cy="347472"/>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latin typeface="Consolas"/>
              </a:defRPr>
            </a:pPr>
            <a:r>
              <a:t>11 / 12</a:t>
            </a:r>
          </a:p>
        </p:txBody>
      </p:sp>
      <p:sp>
        <p:nvSpPr>
          <p:cNvPr id="6" name="TextBox 5"/>
          <p:cNvSpPr txBox="1"/>
          <p:nvPr/>
        </p:nvSpPr>
        <p:spPr>
          <a:xfrm>
            <a:off x="731520" y="621792"/>
            <a:ext cx="8778240" cy="502920"/>
          </a:xfrm>
          <a:prstGeom prst="rect">
            <a:avLst/>
          </a:prstGeom>
          <a:noFill/>
        </p:spPr>
        <p:txBody>
          <a:bodyPr wrap="square">
            <a:spAutoFit/>
          </a:bodyPr>
          <a:lstStyle/>
          <a:p>
            <a:pPr>
              <a:defRPr sz="2000" b="1">
                <a:solidFill>
                  <a:srgbClr val="F8FAFC"/>
                </a:solidFill>
                <a:latin typeface="Cairo"/>
              </a:defRPr>
            </a:pPr>
            <a:r>
              <a:t>إدارة المخاطر والفجوات الموثقة (Risk Management &amp; Gaps)</a:t>
            </a:r>
          </a:p>
        </p:txBody>
      </p:sp>
      <p:sp>
        <p:nvSpPr>
          <p:cNvPr id="7" name="TextBox 6"/>
          <p:cNvSpPr txBox="1"/>
          <p:nvPr/>
        </p:nvSpPr>
        <p:spPr>
          <a:xfrm>
            <a:off x="731520" y="1115568"/>
            <a:ext cx="8778240" cy="347472"/>
          </a:xfrm>
          <a:prstGeom prst="rect">
            <a:avLst/>
          </a:prstGeom>
          <a:noFill/>
        </p:spPr>
        <p:txBody>
          <a:bodyPr wrap="square">
            <a:spAutoFit/>
          </a:bodyPr>
          <a:lstStyle/>
          <a:p>
            <a:pPr>
              <a:defRPr sz="1150" b="1">
                <a:solidFill>
                  <a:srgbClr val="94A3B8"/>
                </a:solidFill>
                <a:latin typeface="Cairo"/>
              </a:defRPr>
            </a:pPr>
            <a:r>
              <a:t>التوثيق الصريح للقيود والميزات غير المكتملة كأعلى معايير النضج الهندسي</a:t>
            </a:r>
          </a:p>
        </p:txBody>
      </p:sp>
      <p:sp>
        <p:nvSpPr>
          <p:cNvPr id="8" name="Rounded Rectangle 7"/>
          <p:cNvSpPr/>
          <p:nvPr/>
        </p:nvSpPr>
        <p:spPr>
          <a:xfrm>
            <a:off x="8961120" y="685800"/>
            <a:ext cx="2468880" cy="384048"/>
          </a:xfrm>
          <a:prstGeom prst="roundRect">
            <a:avLst/>
          </a:prstGeom>
          <a:solidFill>
            <a:srgbClr val="78350F"/>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BBF24"/>
                </a:solidFill>
                <a:latin typeface="Consolas"/>
              </a:defRPr>
            </a:pPr>
            <a:r>
              <a:t>HONEST ACADEMIC BOUNDARIES</a:t>
            </a:r>
          </a:p>
        </p:txBody>
      </p:sp>
      <p:sp>
        <p:nvSpPr>
          <p:cNvPr id="9" name="Rectangle 8"/>
          <p:cNvSpPr/>
          <p:nvPr/>
        </p:nvSpPr>
        <p:spPr>
          <a:xfrm>
            <a:off x="731520" y="1536192"/>
            <a:ext cx="10698480" cy="18288"/>
          </a:xfrm>
          <a:prstGeom prst="rect">
            <a:avLst/>
          </a:prstGeom>
          <a:solidFill>
            <a:srgbClr val="2538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698480" cy="320040"/>
          </a:xfrm>
          <a:prstGeom prst="rect">
            <a:avLst/>
          </a:prstGeom>
          <a:noFill/>
        </p:spPr>
        <p:txBody>
          <a:bodyPr wrap="none">
            <a:spAutoFit/>
          </a:bodyPr>
          <a:lstStyle/>
          <a:p>
            <a:pPr>
              <a:defRPr sz="950" b="1">
                <a:solidFill>
                  <a:srgbClr val="64748B"/>
                </a:solidFill>
                <a:latin typeface="Cairo"/>
              </a:defRPr>
            </a:pPr>
            <a:r>
              <a:t>مشروع LOCAL CONTACT P2P — وثائق ومناقشة هندسة البرمجيات الأكاديمية | الشريحة رقم 11 من أصل 12 شريحة</a:t>
            </a:r>
          </a:p>
        </p:txBody>
      </p:sp>
      <p:sp>
        <p:nvSpPr>
          <p:cNvPr id="11" name="Rounded Rectangle 10"/>
          <p:cNvSpPr/>
          <p:nvPr/>
        </p:nvSpPr>
        <p:spPr>
          <a:xfrm>
            <a:off x="731520" y="1737360"/>
            <a:ext cx="3474720" cy="4480560"/>
          </a:xfrm>
          <a:prstGeom prst="roundRect">
            <a:avLst/>
          </a:prstGeom>
          <a:solidFill>
            <a:srgbClr val="121C38"/>
          </a:solidFill>
          <a:ln w="190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87171"/>
                </a:solidFill>
                <a:latin typeface="Cairo"/>
              </a:defRPr>
            </a:pPr>
            <a:r>
              <a:t>🚫 ميزات موثقة كـ Missing في المستودع الحالي</a:t>
            </a:r>
          </a:p>
          <a:p>
            <a:pPr>
              <a:spcBef>
                <a:spcPts val="800"/>
              </a:spcBef>
              <a:defRPr sz="950">
                <a:solidFill>
                  <a:srgbClr val="F8FAFC"/>
                </a:solidFill>
                <a:latin typeface="Cairo"/>
              </a:defRPr>
            </a:pPr>
            <a:r>
              <a:t>• FR-13: حذف الرسائل شبكياً من أجهزة الأقران — منفذ محلياً فقط في قاعدة بيانات الجهاز، ولا توجد حزمة شبكية لإزالته عن بعد.</a:t>
            </a:r>
            <a:br/>
            <a:r>
              <a:t>• FR-19: فحص سلامة الملف كاملاً — نقل الملفات مجزأ ويعمل، ولكن لا توجد آلية لمقارنة SHA-256 للملف كاملاً بعد اكتمال الاستلام.</a:t>
            </a:r>
            <a:br/>
            <a:r>
              <a:t>• Group Keys: المحادثات والمكالمات الجماعية للغرف لا تزال تستخدم مفتاح الشبكة الموحد للتوافق دون مفاتيح غرف مشتقة.</a:t>
            </a:r>
          </a:p>
        </p:txBody>
      </p:sp>
      <p:sp>
        <p:nvSpPr>
          <p:cNvPr id="12" name="Rounded Rectangle 11"/>
          <p:cNvSpPr/>
          <p:nvPr/>
        </p:nvSpPr>
        <p:spPr>
          <a:xfrm>
            <a:off x="4343400" y="1737360"/>
            <a:ext cx="3474720" cy="4480560"/>
          </a:xfrm>
          <a:prstGeom prst="roundRect">
            <a:avLst/>
          </a:prstGeom>
          <a:solidFill>
            <a:srgbClr val="121C38"/>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BBF24"/>
                </a:solidFill>
                <a:latin typeface="Cairo"/>
              </a:defRPr>
            </a:pPr>
            <a:r>
              <a:t>⚠️ مخاطر بيئة الشبكات الحقيقية (Real-world Risks)</a:t>
            </a:r>
          </a:p>
          <a:p>
            <a:pPr>
              <a:spcBef>
                <a:spcPts val="800"/>
              </a:spcBef>
              <a:defRPr sz="950">
                <a:solidFill>
                  <a:srgbClr val="F8FAFC"/>
                </a:solidFill>
                <a:latin typeface="Cairo"/>
              </a:defRPr>
            </a:pPr>
            <a:r>
              <a:t>• عزل العملاء في الراوتر (AP Isolation): ميزة في بعض أجهزة التوجيه تمنع الأجهزة من رؤية بعضها البعض محلياً.</a:t>
            </a:r>
            <a:br/>
            <a:r>
              <a:t>• قيود أندرويد على Multicast / Broadcast: تتطلب أجهزة أندرويد الحديثة حيازة MulticastLock بشكل صريح وإلا قد تُسقط الحزم.</a:t>
            </a:r>
            <a:br/>
            <a:r>
              <a:t>• ضياع حزم الـ UDP: بروتوكول UDP غير موثوق بطبيعته، مما قد يؤثر على ثبات المكالمات الصوتية والمرئية في بيئات الشبكة المزدحمة.</a:t>
            </a:r>
          </a:p>
        </p:txBody>
      </p:sp>
      <p:sp>
        <p:nvSpPr>
          <p:cNvPr id="13" name="Rounded Rectangle 12"/>
          <p:cNvSpPr/>
          <p:nvPr/>
        </p:nvSpPr>
        <p:spPr>
          <a:xfrm>
            <a:off x="7955280" y="1737360"/>
            <a:ext cx="3474720" cy="4480560"/>
          </a:xfrm>
          <a:prstGeom prst="roundRect">
            <a:avLst/>
          </a:prstGeom>
          <a:solidFill>
            <a:srgbClr val="121C38"/>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34D399"/>
                </a:solidFill>
                <a:latin typeface="Cairo"/>
              </a:defRPr>
            </a:pPr>
            <a:r>
              <a:t>🛡️ استراتيجيات التخفيف المقترحة (Mitigation Strategy)</a:t>
            </a:r>
          </a:p>
          <a:p>
            <a:pPr>
              <a:spcBef>
                <a:spcPts val="800"/>
              </a:spcBef>
              <a:defRPr sz="950">
                <a:solidFill>
                  <a:srgbClr val="F8FAFC"/>
                </a:solidFill>
                <a:latin typeface="Cairo"/>
              </a:defRPr>
            </a:pPr>
            <a:r>
              <a:t>• توثيق الفجوات رسمياً في وثيقتي SRS و RTM كـ Proposed Improvements لضمان الشفافية الأكاديمية التامة.</a:t>
            </a:r>
            <a:br/>
            <a:r>
              <a:t>• إضافة مسح الشبكة الفرعية (Subnet Sweep) كبديل في حال فشل حزم الـ Multicast على المنفذ 8888.</a:t>
            </a:r>
            <a:br/>
            <a:r>
              <a:t>• وضع التحقق اليدوي (SAS - Short Authentication String) ضمن خارطة الطريق لمنع هجمات الرجل في المنتصف (MITM).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7772400" cy="347472"/>
          </a:xfrm>
          <a:prstGeom prst="rect">
            <a:avLst/>
          </a:prstGeom>
          <a:noFill/>
        </p:spPr>
        <p:txBody>
          <a:bodyPr wrap="square">
            <a:spAutoFit/>
          </a:bodyPr>
          <a:lstStyle/>
          <a:p>
            <a:pPr>
              <a:defRPr sz="1100" b="1">
                <a:solidFill>
                  <a:srgbClr val="38BDF8"/>
                </a:solidFill>
                <a:latin typeface="Cairo"/>
              </a:defRPr>
            </a:pPr>
            <a:r>
              <a:t>• الخاتمة والتوصيات | هندسة البرمجيات — مشروع LOCAL CONTACT P2P</a:t>
            </a:r>
          </a:p>
        </p:txBody>
      </p:sp>
      <p:sp>
        <p:nvSpPr>
          <p:cNvPr id="5" name="Rounded Rectangle 4"/>
          <p:cNvSpPr/>
          <p:nvPr/>
        </p:nvSpPr>
        <p:spPr>
          <a:xfrm>
            <a:off x="10424160" y="228600"/>
            <a:ext cx="1005840" cy="347472"/>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latin typeface="Consolas"/>
              </a:defRPr>
            </a:pPr>
            <a:r>
              <a:t>12 / 12</a:t>
            </a:r>
          </a:p>
        </p:txBody>
      </p:sp>
      <p:sp>
        <p:nvSpPr>
          <p:cNvPr id="6" name="TextBox 5"/>
          <p:cNvSpPr txBox="1"/>
          <p:nvPr/>
        </p:nvSpPr>
        <p:spPr>
          <a:xfrm>
            <a:off x="731520" y="621792"/>
            <a:ext cx="8778240" cy="502920"/>
          </a:xfrm>
          <a:prstGeom prst="rect">
            <a:avLst/>
          </a:prstGeom>
          <a:noFill/>
        </p:spPr>
        <p:txBody>
          <a:bodyPr wrap="square">
            <a:spAutoFit/>
          </a:bodyPr>
          <a:lstStyle/>
          <a:p>
            <a:pPr>
              <a:defRPr sz="2000" b="1">
                <a:solidFill>
                  <a:srgbClr val="F8FAFC"/>
                </a:solidFill>
                <a:latin typeface="Cairo"/>
              </a:defRPr>
            </a:pPr>
            <a:r>
              <a:t>الخلاصة الهندسية وخارطة الطريق المستقبلية</a:t>
            </a:r>
          </a:p>
        </p:txBody>
      </p:sp>
      <p:sp>
        <p:nvSpPr>
          <p:cNvPr id="7" name="TextBox 6"/>
          <p:cNvSpPr txBox="1"/>
          <p:nvPr/>
        </p:nvSpPr>
        <p:spPr>
          <a:xfrm>
            <a:off x="731520" y="1115568"/>
            <a:ext cx="8778240" cy="347472"/>
          </a:xfrm>
          <a:prstGeom prst="rect">
            <a:avLst/>
          </a:prstGeom>
          <a:noFill/>
        </p:spPr>
        <p:txBody>
          <a:bodyPr wrap="square">
            <a:spAutoFit/>
          </a:bodyPr>
          <a:lstStyle/>
          <a:p>
            <a:pPr>
              <a:defRPr sz="1150" b="1">
                <a:solidFill>
                  <a:srgbClr val="94A3B8"/>
                </a:solidFill>
                <a:latin typeface="Cairo"/>
              </a:defRPr>
            </a:pPr>
            <a:r>
              <a:t>ملخص ما تم إنجازه هندسياً وما يقع خارج النطاق وتوصيات التطوير المستمر</a:t>
            </a:r>
          </a:p>
        </p:txBody>
      </p:sp>
      <p:sp>
        <p:nvSpPr>
          <p:cNvPr id="8" name="Rounded Rectangle 7"/>
          <p:cNvSpPr/>
          <p:nvPr/>
        </p:nvSpPr>
        <p:spPr>
          <a:xfrm>
            <a:off x="8961120" y="685800"/>
            <a:ext cx="2468880" cy="384048"/>
          </a:xfrm>
          <a:prstGeom prst="roundRect">
            <a:avLst/>
          </a:prstGeom>
          <a:solidFill>
            <a:srgbClr val="064E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4D399"/>
                </a:solidFill>
                <a:latin typeface="Consolas"/>
              </a:defRPr>
            </a:pPr>
            <a:r>
              <a:t>EXECUTIVE SUMMARY</a:t>
            </a:r>
          </a:p>
        </p:txBody>
      </p:sp>
      <p:sp>
        <p:nvSpPr>
          <p:cNvPr id="9" name="Rectangle 8"/>
          <p:cNvSpPr/>
          <p:nvPr/>
        </p:nvSpPr>
        <p:spPr>
          <a:xfrm>
            <a:off x="731520" y="1536192"/>
            <a:ext cx="10698480" cy="18288"/>
          </a:xfrm>
          <a:prstGeom prst="rect">
            <a:avLst/>
          </a:prstGeom>
          <a:solidFill>
            <a:srgbClr val="2538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698480" cy="320040"/>
          </a:xfrm>
          <a:prstGeom prst="rect">
            <a:avLst/>
          </a:prstGeom>
          <a:noFill/>
        </p:spPr>
        <p:txBody>
          <a:bodyPr wrap="none">
            <a:spAutoFit/>
          </a:bodyPr>
          <a:lstStyle/>
          <a:p>
            <a:pPr>
              <a:defRPr sz="950" b="1">
                <a:solidFill>
                  <a:srgbClr val="64748B"/>
                </a:solidFill>
                <a:latin typeface="Cairo"/>
              </a:defRPr>
            </a:pPr>
            <a:r>
              <a:t>مشروع LOCAL CONTACT P2P — وثائق ومناقشة هندسة البرمجيات الأكاديمية | الشريحة رقم 12 من أصل 12 شريحة</a:t>
            </a:r>
          </a:p>
        </p:txBody>
      </p:sp>
      <p:sp>
        <p:nvSpPr>
          <p:cNvPr id="11" name="Rounded Rectangle 10"/>
          <p:cNvSpPr/>
          <p:nvPr/>
        </p:nvSpPr>
        <p:spPr>
          <a:xfrm>
            <a:off x="731520" y="1737360"/>
            <a:ext cx="5212080" cy="3383280"/>
          </a:xfrm>
          <a:prstGeom prst="roundRect">
            <a:avLst/>
          </a:prstGeom>
          <a:solidFill>
            <a:srgbClr val="121C38"/>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4D399"/>
                </a:solidFill>
                <a:latin typeface="Cairo"/>
              </a:defRPr>
            </a:pPr>
            <a:r>
              <a:t>✅ ما تم إنجازه وتوثيقه هندسياً في المشروع:</a:t>
            </a:r>
          </a:p>
          <a:p>
            <a:pPr>
              <a:spcBef>
                <a:spcPts val="400"/>
              </a:spcBef>
              <a:defRPr sz="950">
                <a:solidFill>
                  <a:srgbClr val="F8FAFC"/>
                </a:solidFill>
                <a:latin typeface="Cairo"/>
              </a:defRPr>
            </a:pPr>
            <a:r>
              <a:t>• هندسة المتطلبات المنهجية: صياغة وثيقة SRS.md تضم 31 متطلباً و 15 قصة مستخدم و 28 معيار قبول بنموذج تصنيف خماسي.</a:t>
            </a:r>
          </a:p>
          <a:p>
            <a:pPr>
              <a:spcBef>
                <a:spcPts val="400"/>
              </a:spcBef>
              <a:defRPr sz="950">
                <a:solidFill>
                  <a:srgbClr val="F8FAFC"/>
                </a:solidFill>
                <a:latin typeface="Cairo"/>
              </a:defRPr>
            </a:pPr>
            <a:r>
              <a:t>• تثبيت خط الأساس البرمجي (Baseline): تثبيت Commit 7111182 وتوثيق بيئة البناء لضمان التكرارية ومكافحة انزلاق النطاق.</a:t>
            </a:r>
          </a:p>
          <a:p>
            <a:pPr>
              <a:spcBef>
                <a:spcPts val="400"/>
              </a:spcBef>
              <a:defRPr sz="950">
                <a:solidFill>
                  <a:srgbClr val="F8FAFC"/>
                </a:solidFill>
                <a:latin typeface="Cairo"/>
              </a:defRPr>
            </a:pPr>
            <a:r>
              <a:t>• مصفوفة تتبع ثلاثية الأبعاد (RTM): ربط المتطلبات بالكود وبالاختبارات بدقة في TraceabilityMatrix.md لمنع الكود الزائد.</a:t>
            </a:r>
          </a:p>
          <a:p>
            <a:pPr>
              <a:spcBef>
                <a:spcPts val="400"/>
              </a:spcBef>
              <a:defRPr sz="950">
                <a:solidFill>
                  <a:srgbClr val="F8FAFC"/>
                </a:solidFill>
                <a:latin typeface="Cairo"/>
              </a:defRPr>
            </a:pPr>
            <a:r>
              <a:t>• إدارة التغيير وتجريد المفاتيح: تطبيق نمط Provider لتحقيق التوافق العكسي وتحديث منظومة التشفير دون كسر الكود.</a:t>
            </a:r>
          </a:p>
          <a:p>
            <a:pPr>
              <a:spcBef>
                <a:spcPts val="400"/>
              </a:spcBef>
              <a:defRPr sz="950">
                <a:solidFill>
                  <a:srgbClr val="F8FAFC"/>
                </a:solidFill>
                <a:latin typeface="Cairo"/>
              </a:defRPr>
            </a:pPr>
            <a:r>
              <a:t>• إثبات السلوك بـ 33 اختبار وحدة آلي: تحقيق نسبة نجاح 100% في اختبارات JVM للمحركات الحرجة.</a:t>
            </a:r>
          </a:p>
        </p:txBody>
      </p:sp>
      <p:sp>
        <p:nvSpPr>
          <p:cNvPr id="12" name="Rounded Rectangle 11"/>
          <p:cNvSpPr/>
          <p:nvPr/>
        </p:nvSpPr>
        <p:spPr>
          <a:xfrm>
            <a:off x="6217920" y="1737360"/>
            <a:ext cx="5212080" cy="3383280"/>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8BDF8"/>
                </a:solidFill>
                <a:latin typeface="Cairo"/>
              </a:defRPr>
            </a:pPr>
            <a:r>
              <a:t>🚀 خارطة الطريق الهندسية المستقبلية (Roadmap):</a:t>
            </a:r>
          </a:p>
          <a:p>
            <a:pPr>
              <a:spcBef>
                <a:spcPts val="400"/>
              </a:spcBef>
              <a:defRPr sz="950">
                <a:solidFill>
                  <a:srgbClr val="F8FAFC"/>
                </a:solidFill>
                <a:latin typeface="Cairo"/>
              </a:defRPr>
            </a:pPr>
            <a:r>
              <a:t>• تفكيك الكلاسات الضخمة (God Classes Refactoring): تقسيم LocalP2PEngine.kt و MainViewModel.kt إلى خدمات فرعية متخصصة ومستقلة تماماً.</a:t>
            </a:r>
          </a:p>
          <a:p>
            <a:pPr>
              <a:spcBef>
                <a:spcPts val="400"/>
              </a:spcBef>
              <a:defRPr sz="950">
                <a:solidFill>
                  <a:srgbClr val="F8FAFC"/>
                </a:solidFill>
                <a:latin typeface="Cairo"/>
              </a:defRPr>
            </a:pPr>
            <a:r>
              <a:t>• بناء اختبارات تكاملية على أجهزة حقيقية: إعداد Instrumented Tests باستخدام AndroidX Test و Espresso لفحص الاكتشاف والمكالمات في بيئة شبكة فعلية.</a:t>
            </a:r>
          </a:p>
          <a:p>
            <a:pPr>
              <a:spcBef>
                <a:spcPts val="400"/>
              </a:spcBef>
              <a:defRPr sz="950">
                <a:solidFill>
                  <a:srgbClr val="F8FAFC"/>
                </a:solidFill>
                <a:latin typeface="Cairo"/>
              </a:defRPr>
            </a:pPr>
            <a:r>
              <a:t>• استكمال الميزات الموثقة كفجوات: برمجة حزمة الحذف الشبكي للرسائل (FR-13) وتضمين فحص SHA-256 للملفات المنقولة (FR-19).</a:t>
            </a:r>
          </a:p>
          <a:p>
            <a:pPr>
              <a:spcBef>
                <a:spcPts val="400"/>
              </a:spcBef>
              <a:defRPr sz="950">
                <a:solidFill>
                  <a:srgbClr val="F8FAFC"/>
                </a:solidFill>
                <a:latin typeface="Cairo"/>
              </a:defRPr>
            </a:pPr>
            <a:r>
              <a:t>• تعزيز الحماية ضد هجمات MITM: إضافة التحقق اليدوي برمز الأمان القصير (SAS) في أول اتصال بين الأجهزة.</a:t>
            </a:r>
          </a:p>
        </p:txBody>
      </p:sp>
      <p:sp>
        <p:nvSpPr>
          <p:cNvPr id="13" name="Rounded Rectangle 12"/>
          <p:cNvSpPr/>
          <p:nvPr/>
        </p:nvSpPr>
        <p:spPr>
          <a:xfrm>
            <a:off x="731520" y="5257800"/>
            <a:ext cx="10698480" cy="1051560"/>
          </a:xfrm>
          <a:prstGeom prst="roundRect">
            <a:avLst/>
          </a:prstGeom>
          <a:solidFill>
            <a:srgbClr val="121C38"/>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38BDF8"/>
                </a:solidFill>
                <a:latin typeface="Cairo"/>
              </a:defRPr>
            </a:pPr>
            <a:r>
              <a:t>🎓 الخلاصة الهندسية والتوصية الختامية:</a:t>
            </a:r>
          </a:p>
          <a:p>
            <a:pPr>
              <a:spcBef>
                <a:spcPts val="300"/>
              </a:spcBef>
              <a:defRPr sz="950">
                <a:solidFill>
                  <a:srgbClr val="F8FAFC"/>
                </a:solidFill>
                <a:latin typeface="Cairo"/>
              </a:defRPr>
            </a:pPr>
            <a:r>
              <a:t>نجح مشروع LOCAL CONTACT في التحول من تطبيق تجريبي يعتمد على كود أولي غير موثق، إلى منظومة برمجية خاضعة لأدق مبادئ هندسة البرمجيات (وثائق SRS، خط أساس Baseline، مصفوفة تتبع RTM، إدارة تغيير آمنة، واختبارات آلية ناجحة)، مع خارطة طريق هندسية واضحة وموثقة تضمن استدامة وتطوير النظام مستقبلاً.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
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نرحب بأستاذ هندسة البرمجيات. نستعرض المنهجية الهندسية الصارمة المطبقة في نظام LOCAL CONTACT: المتطلبات، خط الأساس، مصفوفة التتبع، الاختبارات، وإدارة التغيير. يقدم العرض: مشعل حاجب، قحطان، محمد العيدروس، أواب النزيلي، ومحمد العواضي.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نستعرض للأستاذ حالة البداية: وجدنا تطبيقاً يعمل كنموذج أولي لكنه يفتقر للمنهجية الهندسية: لا وثيقة SRS، لا خط أساس، ولا اختبارات، مع وجود كلاسات ضخمة جداً. هذا التشخيص هو ما قاد خطتنا الهندسية.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هندسة المتطلبات: وثيقة الـ SRS المكونة من 622 سطراً حددت 31 متطلباً و 15 قصة مستخدم و 28 معيار قبول، واعتمدت نموذج تصنيف خماسي صارم يمنع الوعود غير الواقعية.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خط الأساس البرمجي: ثبّتنا الـ Commit رقم 7111182 في Baseline.md، وحددنا أدوات البناء (Gradle 9.4 و Kotlin 2.2) لضمان تكرارية البناء ومنع انزلاق النطاق.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المعمارية اللامركزية: قسّمنا النظام لأربع طبقات معمارية متكاملة: واجهات Compose، منسق ViewModel، محركات شبكة معزولة لكل نوع بيانات، وتخزين محلي بـ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الروائح المعمارية: رصدنا تضخم الكلاسات (أكثر من 2400 سطر) وانتهاكها لـ SRP. طبقنا مبدأ Dependency Inversion عبر KeyProvider لحل مشكلة الاقتران، ووضعنا خطة تفكيك واضحة.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مصفوفة التتبع RTM: تربط المتطلبات بالكود المصدري ومعايير القبول بدقة، وتفصل بأمانة بين ما تم اختباره على JVM وما هو مبني ويحتاج أجهزة، وما هو مفقود وموثق كفجوة.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إدارة التغيير: عند ترقية التشفير، طبقنا نمط Provider وعزلنا إدارة المفاتيح مع بناء مزود للتوافق العكسي. النتيجة: صفر أخطاء كاسرة في كود الشبكة والواجهات القديمة.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استراتيجية الاختبارات: بنينا 33 اختبار وحدة آلي تفحص المحركات الحساسة وتنجح بنسبة 100%. وميزنا أكاديمياً بأنها تثبت المنطق البرمجي، واختبار الأجهزة الحقيقية خطوة مستقبلية.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منظومة الأدوات: نستخدم Gradle 9.4 و Kotlin 2.2 و KSP لتوليد الأكواد البرمجية بسرعة وأمان، مع ضبط كامل لإصدارات المكتبات في libs.versions.toml لضمان استقرار البناء.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إدارة المخاطر: اعترفنا بالقيود بشفافية: ميزة الحذف شبكياً غير منفذة ووثقناها كـ Missing، وفحص تجزئة الملف الكامل مقترح مستقبلي، ووضعنا مسح الشبكة كحل لعزل الراوتر.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نص العرض الشفهي للمناقشة أمام اللجنة:</a:t>
            </a:r>
          </a:p>
          <a:p>
            <a:r>
              <a:t>الخاتمة الهندسية: لخصنا الإنجاز في الانضباط المنهجي (SRS، Baseline، RTM) و 33 اختباراً مؤتمتاً وإدارة التغيير الآمنة، مع خارطة طريق واضحة للمستقبل. نشكركم على حسن الاستماع.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500" b="1" lang="ar-SA" rtl="1">
                <a:solidFill>
                  <a:srgbClr val="1E40AF"/>
                </a:solidFill>
                <a:latin typeface="Arial"/>
              </a:rPr>
              <a:t>مشروع التخرج الأكاديمي: </a:t>
            </a:r>
            <a:r>
              <a:rPr sz="1600" b="1" lang="en-US" rtl="0">
                <a:solidFill>
                  <a:srgbClr val="0F2B5C"/>
                </a:solidFill>
                <a:latin typeface="Consolas"/>
              </a:rPr>
              <a:t>LOCAL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600" b="1" lang="ar-SA" rtl="1">
                <a:solidFill>
                  <a:srgbClr val="0F2B5C"/>
                </a:solidFill>
                <a:latin typeface="Arial"/>
              </a:rPr>
              <a:t>هندسة البرمجيات والتصميم المعماري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800" b="1" lang="ar-SA" rtl="1">
                <a:solidFill>
                  <a:srgbClr val="475569"/>
                </a:solidFill>
                <a:latin typeface="Arial"/>
              </a:rPr>
              <a:t>تحليل المتطلبات، خط الأساس، مصفوفة التتبع، وإدارة التغيير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300" b="1" lang="en-US" rtl="0">
                <a:solidFill>
                  <a:srgbClr val="0F2B5C"/>
                </a:solidFill>
                <a:latin typeface="Consolas"/>
              </a:rPr>
              <a:t>Offline Local P2P Communication  |  Software Engineering &amp; System Life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1051560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800" b="1" lang="ar-SA" rtl="1">
                <a:solidFill>
                  <a:srgbClr val="0F2B5C"/>
                </a:solidFill>
                <a:latin typeface="Arial"/>
              </a:rPr>
              <a:t>إعداد الطلاب: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4434840"/>
            <a:ext cx="19202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0F2B5C"/>
                </a:solidFill>
                <a:latin typeface="Arial"/>
              </a:rPr>
              <a:t>1. مشعل حاجب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434840"/>
            <a:ext cx="19202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0F2B5C"/>
                </a:solidFill>
                <a:latin typeface="Arial"/>
              </a:rPr>
              <a:t>2. قحطان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4434840"/>
            <a:ext cx="19202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0F2B5C"/>
                </a:solidFill>
                <a:latin typeface="Arial"/>
              </a:rPr>
              <a:t>3. محمد العيدروس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434840"/>
            <a:ext cx="19202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0F2B5C"/>
                </a:solidFill>
                <a:latin typeface="Arial"/>
              </a:rPr>
              <a:t>4. أواب النزيلي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434840"/>
            <a:ext cx="19202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 lang="ar-SA" rtl="1">
                <a:solidFill>
                  <a:srgbClr val="0F2B5C"/>
                </a:solidFill>
                <a:latin typeface="Arial"/>
              </a:rPr>
              <a:t>5. محمد العواضي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1200" b="0" lang="ar-SA" rtl="1">
                <a:solidFill>
                  <a:srgbClr val="475569"/>
                </a:solidFill>
                <a:latin typeface="Arial"/>
              </a:rPr>
              <a:t>العرض النهائي الأكاديمي  •  12 شريحة محكمة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تشخيص واقع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حالة المشروع قبل التدخل الهندسي والمشكلات المكتشفة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DC2626"/>
                </a:solidFill>
                <a:latin typeface="Consolas"/>
              </a:rPr>
              <a:t>PRE-SE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غياب التوصيف الرسمي للمتطلبات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C2626"/>
                </a:solidFill>
                <a:latin typeface="Consolas"/>
              </a:rPr>
              <a:t>[No Documented SRS]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الميزات مبنية برمجياً دون وثيقة متطلبات رسمية ودون معايير قبول واضحة.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انعدام خط الأساس البرمجي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C2626"/>
                </a:solidFill>
                <a:latin typeface="Consolas"/>
              </a:rPr>
              <a:t>[No Project Baseline]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غياب مرجع ثابت للإصدارات يحدد نطاق العمل ويمنع التعديلات العشوائية غير المتتبعة.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ظاهرة الكلاسات المتضخمة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[God Classes Smell]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كلاسات ضخمة تجمع عدة مسؤوليات غير متجانسة من شبكة وواجهات ومكالمات.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غياب الاختبارات المؤتمتة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[Zero Automated Unit Tests]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انعدام اختبارات الوحدة الآلية للتحقق من سلامة المحركات والعمليات الحسابية.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تشخيص الفجوات المنهجية في مرحلة التقييم الأولي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docs/Baseline.md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هندسة المتطلبات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توثيق مواصفات المتطلبات البرمجية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docs/SRS.md (622 lines)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نموذج التصنيف الخماسي للمتطلبات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[5-Tier Requirement Classification]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تصنيف صارم للمتطلبات إلى: رسمي، إمكانية حالية، مقترح، مفقود، وغير مثبت تشغيلياً.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31 متطلباً وظيفياً مفصلاً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[31 Functional Requirements (FR-01 to FR-31)]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توصيف دقيق للمدخلات والمخرجات والمعالجة لكافة وظائف الشبكة والمحادثات والملفات.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15 قصة مستخدم قياسية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[15 Standard User Stories (US-01 to US-15)]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صياغة هندسية قياسية تعبر عن احتياجات المستخدمين وقيمة كل وظيفة مضافة في النظام.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28 معيار قبول لاختبار النظام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[28 Acceptance Criteria (Given/When/Then)]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صياغة معايير القبول بصيغة الشرطية لضبط التحقق من اكتمال المتطلبات.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وثيقة مواصفات المتطلبات البرمجية المعتمدة رسمياً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docs/SRS.md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إدارة خط الأساس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توثيق خط الأساس وضبط بيئة البناء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docs/Baseline.md (308 lines)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النسخة المرجعية المعتمدة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[Baseline Commit: 7111182 (Clean Tree)]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تثبيت نقطة بداية رسمية موثقة عبر فحص شجرة العمل لضمان نظافتها وخلوها من التعليق.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تكرارية بيئة البناء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[Gradle 9.4.1 &amp; AGP 9.1.1 &amp; Kotlin 2.2]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تثبيت أدوات ومحركات البناء لضمان إنتاج نفس حزمة التطبيق عند أي مهندس آخر.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مكافحة انزلاق النطاق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[Anti Scope Creep Enforced]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منع إضافة ميزات عشوائية دون دراسة أثرها الهندسي على كفاءة واستقرار التطبيق.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حصر الوظائف الميداني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[Features Inventory Table]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جدول تفصيلي يضم 14 ميزة رئيسية يربط كل ميزة بملفات الكود وحالتها الدقيقة.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وثيقة خط الأساس الهندسي وضبط الإصدارات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docs/Baseline.md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التصميم المعماري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السياق المعماري للنظام وهيكلية شبكة P2P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1E40AF"/>
                </a:solidFill>
                <a:latin typeface="Consolas"/>
              </a:rPr>
              <a:t>Decentralized P2P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طبقة العرض والواجهات التفاعلية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[Jetpack Compose UI (app/.../ui/)]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واجهات مستخدم تعلانية حديثة مقسمة إلى شاشات وحوارات ومكونات قابلة لإعادة الاستخدام.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طبقة التنسيق وإدارة الحالة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[StateFlow Coordinator (MainViewModel.kt)]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إدارة تدفقات البيانات للواجهة وتوجيه الرسائل والمكالمات بين المحركات وقاعدة البيانات.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طبقة المحركات الشبكية المستقلة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[Isolated Network Engines (UDP &amp; TCP)]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عزل قنوات الاتصال: الاكتشاف والرسائل (8888)، الصوت (8889)، ونقل الملفات (8891).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طبقة البيانات والتخزين المحلي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[Room Database 6 &amp; DataStore]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إدارة جداول الرسائل والغرف محلياً في قاعدة بيانات خفيفة وتخزين التفضيلات.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الهيكل المعماري والطبقات الأربع للنظام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app/src/main/java/com/example/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الروائح المعمارية وإعادة الهيكلة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تحليل الكلاسات المتضخمة ومبادئ SOLID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D97706"/>
                </a:solidFill>
                <a:latin typeface="Consolas"/>
              </a:rPr>
              <a:t>Architectural Smells &amp; Refactoring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الكلاس المتضخم الأول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[LocalP2PEngine.kt (2,496 lines)]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يجمع بث واكتشاف الأقران، إدارة مقابس الشبكة، وإشارات المكالمات في كلاس واحد.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الكلاس المتضخم الثاني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[MainViewModel.kt (1,839 lines)]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يجمع منطق تنقل الشاشات، استعلامات قاعدة البيانات، والتفاعل المباشر مع المقابس.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تطبيق مبدأ انعكاس الاعتمادية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[DIP Applied via KeyProvider.kt]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كسر الاقتران الصلب في التشفير عبر واجهة مجردة تفصل إدارة المفاتيح عن العمليات.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خطة إعادة الهيكلة المستمرة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[Refactoring Roadmap Established]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تفكيك الكلاسات الضخمة إلى منسق اكتشاف، معالج إشارات مكالمات، وموزع حزم مستقل.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نموذج تطبيق مبدأ DIP لحل الاقتران الصلب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app/src/main/java/com/example/network/KeyProvider.kt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إدارة التتبع والتحقق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مصفوفة تتبع المتطلبات البرمجية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docs/TraceabilityMatrix.md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متطلب الاكتشاف المحلي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[FR-01: Implemented - Not Tested]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استماع وبث حزم البث المتعدد وإدارة خريطة الأقران بالذاكرة الحية.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متطلب التراسل الفردي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[FR-05: Implemented - Not Tested]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إرسال وتشفير وحفظ الرسائل وتأكيد الاستلام عبر قاعدة بيانات الهاتف.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متطلب الحذف الشبكي للرسائل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C2626"/>
                </a:solidFill>
                <a:latin typeface="Consolas"/>
              </a:rPr>
              <a:t>[FR-13: Missing / Not Implemented]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متاح محلياً فقط في قاعدة بيانات الجهاز؛ لا يوجد كود للحذف عن بعد لدى القرين.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متطلب تشفير الحزم بالكامل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[FR-28: 10/10 JVM Unit Tests Passed]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تشفير الحزم بمفتاح 256 بت ووسم مصادقة مثبت باختبارات الوحدة المؤتمتة.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مصفوفة التتبع: ربط 31 متطلباً بالكود ومعايير القبول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docs/TraceabilityMatrix.md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إدارة التغيير المعماري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إدارة التغيير والتوافق العكسي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Zero Breaking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تحدي التغيير البرمجي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[Architecture Evolution Challenge]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ترقية منظومة التشفير لدعم المفاتيح المؤقتة دون كسر المسارات القديمة في المكالمات والواجهة.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تطبيق نمط المزود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[Provider / Strategy Design Pattern]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إنشاء واجهة مجردة تفصل مسؤولية توليد المفتاح عن عمليات التشفير المباشرة.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ضمان التوافق العكسي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[LegacyStaticKeyProvider Built]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بناء مزود المفتاح القديم ليحتفظ بنفس سلوك التشفير كخيار افتراضي لكافة الأنظمة القديمة.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صفر تعديلات كاسرة للكود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[Zero Regressions / Breaking Changes]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لم يتأثر أي سطر كود خارجي يستدعي التشفير، مما حقق تطويراً آمناً وخالياً من الانتكاسات.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واجهة تزويد المفاتيح ومزود التوافق العكسي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app/src/main/java/com/example/network/KeyProvider.kt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ضمان الجودة والتحقق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استراتيجية الاختبارات وضمان الجودة البرمجية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33/33 Tests Passed (100%)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اختبارات التشفير المتماثل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[LocalCryptoEngineTest: 10/10 Passed]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إثبات صحة التشفير وفك التشفير وعشوائية الأرقام ورفض النصوص المتلاعب بها آلياً.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اختبارات المنحنيات واشتقاق المفاتيح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[Ecdh &amp; KeyDerivation: 16/16 Passed]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إثبات توليد مفاتيح المنحنيات القياسية، وتطابق السر المشترك، والاشتقاق المعياري.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اختبارات تكامل الجلسات المشفرة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[CryptoEngineTest: 7/7 Passed]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إثبات تكامل بروتوكول الجلسات المشفرة وحماية الرسائل من التعديل والانتحال.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الضوابط الأكاديمية الصريحة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[Scientific Testing Boundaries Acknowledged]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الاختبارات أثبتت صحة المنطق والعمليات آلياً، وتظل بحاجة لاختبار الأجهزة الحقيقية للشبكة.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33 اختبار وحدة آلي تم تشغيلها بنجاح 100% عبر أداة البناء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app/src/test/java/com/example/network/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أدوات التطوير والبناء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منظومة أدوات البناء وتوليد الكود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1E40AF"/>
                </a:solidFill>
                <a:latin typeface="Consolas"/>
              </a:rPr>
              <a:t>Toolchain &amp; Build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محرك البناء المستقل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[Gradle 9.4.1 (Kotlin DSL Wrapper)]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إدارة دورة حياة المشروع والتبعيات البرمجية وعزل بيئة البناء لضمان التكرارية.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مجمع أندرويد الرسمي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[Android Gradle Plugin 9.1.1 (Sdk 36)]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دعم أحدث واجهات أندرويد 16 وتصحيح الأرقام الهندية-العربية عبر مهمة مخصصة.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لغة البرمجة والتزامن العالي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[Kotlin 2.2.10 &amp; StateFlow]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إدارة المقابس وشبكات P2P دون حظر واجهة المستخدم عبر Coroutines غير التزامنية.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معالجة الرموز أثناء الترجمة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[KSP (Kotlin Symbol Processing)]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توليد كود جداول قاعدة البيانات ومحولات البيانات بسرعة فائقة في وقت الترجمة.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ملفات تكوين البناء والتحكم في الإصدارات والتبعيات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build.gradle.kts &amp; gradle/libs.versions.toml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إدارة المخاطر والنزاهة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إدارة المخاطر والفجوات الموثقة بأمانة علمية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D97706"/>
                </a:solidFill>
                <a:latin typeface="Consolas"/>
              </a:rPr>
              <a:t>Honest Academic Gaps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الحذف الشبكي للرسائل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C2626"/>
                </a:solidFill>
                <a:latin typeface="Consolas"/>
              </a:rPr>
              <a:t>[FR-13: Missing Feature in Repo]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الحذف متاح محلياً فقط في قاعدة بيانات الهاتف؛ لا توجد حزمة لحذفها عن بعد لدى القرين.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فحص تجزئة الملف الكامل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[FR-19: Checksum Verification Missing]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كتل الملف مشفرة ومصادقة بنجاح، لكن تنقص مقارنة بصمة التجزئة للملف النهائي بعد التنزيل.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مخاطر عزل الشبكة المحلية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D97706"/>
                </a:solidFill>
                <a:latin typeface="Consolas"/>
              </a:rPr>
              <a:t>[AP Isolation Network Risk]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ميزة عزل العملاء في بعض أجهزة الراوتر تمنع اكتشاف الأجهزة لبعضها محلياً.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استراتيجية التخفيف المعتمدة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[Mitigation via Subnet Sweep &amp; SRS]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توثيق الفجوات رسمياً في وثيقة المتطلبات والاعتماد على مسح الشبكة كبديل لحزم البث المتعدد.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حصر القيود والمخاطر الهندسية الموثقة في وثيقة المتطلبات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docs/SRS.md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300" b="1" lang="ar-SA" rtl="1">
                <a:solidFill>
                  <a:srgbClr val="1E40AF"/>
                </a:solidFill>
                <a:latin typeface="Arial"/>
              </a:rPr>
              <a:t>مشروع الاتصال المحلي المباشر  •  الخاتمة والتوصيات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rtl="0"/>
            <a:r>
              <a:rPr sz="1200" b="1" lang="en-US" rtl="0">
                <a:solidFill>
                  <a:srgbClr val="475569"/>
                </a:solidFill>
                <a:latin typeface="Consolas"/>
              </a:rP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6692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 lang="ar-SA" rtl="1">
                <a:solidFill>
                  <a:srgbClr val="0F2B5C"/>
                </a:solidFill>
                <a:latin typeface="Arial"/>
              </a:rPr>
              <a:t>الخلاصة الهندسية وخارطة الطريق المستقبلية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21792"/>
            <a:ext cx="3017520" cy="502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sz="1400" b="1" lang="en-US" rtl="0">
                <a:solidFill>
                  <a:srgbClr val="059669"/>
                </a:solidFill>
                <a:latin typeface="Consolas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515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050" b="0" lang="ar-SA" rtl="1">
                <a:solidFill>
                  <a:srgbClr val="475569"/>
                </a:solidFill>
                <a:latin typeface="Arial"/>
              </a:rPr>
              <a:t>مناقشة مشروع التخرج الأكاديمية — نظام اتصال محلي مستقل دون خادم وسيط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الانضباط التوثيقي والهندسي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[Documented Baseline &amp; RTM Traceability]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صياغة وثائق المتطلبات وخط الأساس ومصفوفة التتبع لضبط دورة حياة المشروع ومنع انزلاق النطاق.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التصميم المعماري المرن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[SOLID Principles &amp; Provider Pattern]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تطبيق مبادئ التصميم المتين ونمط المزود لإدارة التغيير المعماري دون كسر الكود القائم.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التحقق البرمجي المؤتمت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059669"/>
                </a:solidFill>
                <a:latin typeface="Consolas"/>
              </a:rPr>
              <a:t>[33/33 Automated JVM Unit Tests Passed]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إثبات المنطق والعمليات الحساسة عبر 33 اختبار وحدة آلي ناجح بنسبة 100%.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1206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900" b="1" lang="ar-SA" rtl="1">
                <a:solidFill>
                  <a:srgbClr val="0F2B5C"/>
                </a:solidFill>
                <a:latin typeface="Arial"/>
              </a:rPr>
              <a:t>خارطة الطريق المستقبلية</a:t>
            </a:r>
          </a:p>
          <a:p>
            <a:pPr algn="r" rtl="0">
              <a:spcBef>
                <a:spcPts val="300"/>
              </a:spcBef>
            </a:pPr>
            <a:r>
              <a:rPr sz="1300" b="1" lang="en-US" rtl="0">
                <a:solidFill>
                  <a:srgbClr val="1E40AF"/>
                </a:solidFill>
                <a:latin typeface="Consolas"/>
              </a:rPr>
              <a:t>[Future Architecture Roadmap Defined]</a:t>
            </a:r>
          </a:p>
          <a:p>
            <a:pPr algn="r" rtl="1">
              <a:spcBef>
                <a:spcPts val="600"/>
              </a:spcBef>
            </a:pPr>
            <a:r>
              <a:rPr sz="1500" b="0" lang="ar-SA" rtl="1">
                <a:solidFill>
                  <a:srgbClr val="0F172A"/>
                </a:solidFill>
                <a:latin typeface="Arial"/>
              </a:rPr>
              <a:t>تفكيك الكلاسات الضخمة وبناء اختبارات تكاملية على أجهزة حقيقية عبر الاختبارات الوظيفية.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sz="1200" b="1" lang="ar-SA" rtl="1">
                <a:solidFill>
                  <a:srgbClr val="0F2B5C"/>
                </a:solidFill>
                <a:latin typeface="Arial"/>
              </a:rPr>
              <a:t>المكون البرمجي: الخلاصة: نقل المشروع من كود غير موثق إلى منظومة هندسية محكمة  |  </a:t>
            </a:r>
            <a:r>
              <a:rPr sz="1200" b="1" lang="en-US" rtl="0">
                <a:solidFill>
                  <a:srgbClr val="1E40AF"/>
                </a:solidFill>
                <a:latin typeface="Consolas"/>
              </a:rPr>
              <a:t>docs/Baseline.md &amp; docs/SRS.md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
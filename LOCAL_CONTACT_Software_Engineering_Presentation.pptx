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نرحب بأستاذ هندسة البرمجيات ولجنة التحكيم. نستعرض اليوم منهجية هندسة البرمجيات المطبقة في مشروع LOCAL CONTACT. عملنا على تحليل المتطلبات، تثبيت خط الأساس، إدارة التغيير، مصفوفة التتبع، والاختبارات الآلية. يقدم العرض فريق العمل: مشعل حاجب، قحطان، محمد العيدروس، أواب النزيلي، ومحمد العواضي.</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نوضح هنا للأستاذ نقطة الصفر: المشروع بدأ كنموذج أولي بدون هندسة برمجيات: لا وثيقة SRS، لا خط أساس، وكلاسات ضخمة جداً انتهكت مبدأ Single Responsibility. هذه الفجوات هي التي استوجبت التدخل الهندسي لإعادة الهيكلة.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نشرح للأستاذ وثيقة SRS المكونة من 622 سطراً. ركزنا فيها على تصنيف المتطلبات إلى 5 مستويات لفصل ما هو رسمي عما هو مقترح أو مفقود، ووثقنا 31 متطلباً وظيفياً و 15 قصة مستخدم مع معايير قبول دقيقة.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نبيّن للأستاذ دور خط الأساس: قمنا بتثبيت الـ Commit رقم 7111182 وتوثيق بيئة البناء بالكامل في Baseline.md. هذا الإجراء يحقق التكرارية Reproducibility ويمنع حدوث انزلاق في نطاق العمل مع إقرار صريح بحدود التحقق.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نستعرض معمارية النظام: كل هاتف يعمل كعميل وخادم في نفس الوقت P2P. قسّمنا النظام لأربع طبقات معمارية واضحة: Presentation بـ Jetpack Compose، و Coordination بـ ViewModel، ومحركات شبكة معزولة لكل نوع بيانات، وتخزين محلي بـ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نناقش هنا الروائح المعمارية بشفافية: رصدنا تضخم LocalP2PEngine (أكثر من 2400 سطر) و MainViewModel، ووضحنا انتهاكها لمبدأ SRP. وطبقنا مبدأ DIP عبر KeyProvider لحل مشكلة الاقتران، ووضعنا خطة واضحة لتفكيك هذه الكلاسات مستقبلاً.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نستعرض للأستاذ مصفوفة تتبع المتطلبات RTM في ملف TraceabilityMatrix.md المكون من 324 سطراً. تربط المصفوفة 31 متطلباً وظيفياً بالكود المصدري الدقيق، وتفصل بين ما تم اختباره على JVM وما هو مبني ويحتاج أجهزة، وما هو مفقود وموثق كفجوة.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نشرح هنا إدارة التغيير: عند ترقية التشفير، طبقنا نمط Provider وعزلنا مسؤولية المفتاح في KeyProvider.kt مع الحفاظ على التوافق العكسي في LegacyStaticKeyProvider. النتيجة الهندسية: صفر تعديلات كاسرة في كود الشبكة والواجهات القديمة.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نؤكد للأستاذ على استراتيجية ضمان الجودة: بنينا 33 اختبار وحدة آلي تفحص المحركات الحساسة وتنجح بنسبة 100%. واختتمنا بالتمييز الأكاديمي: الاختبارات تثبت المنطق البرمجي، لكن إثبات الأداء الشبكي التام يتطلب فحصاً على أجهزة حقيقية.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نستعرض منظومة الأدوات الهندسية: نستخدم Gradle 9.4 و Kotlin 2.2 و KSP لمعالجة الرموز البرمجية بسرعة، مع ضبط build.gradle.kts لتوليد APK سليم ومختبر والتكامل الكامل مع Git.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نبيّن للأستاذ النزاهة الهندسية: اعترفنا بالقيود صراحة؛ ميزة الحذف شبكياً غير موجودة ووثقناها كـ Missing، وفحص سلامة الملف الكامل مقترح مستقبلي، وقيود عزل الراوتر وثقناها ووضعنا مسح الـ Subnet كبديل. هندسة البرمجيات تعني الشفافية والوعي بالمخاطر.</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نختم المناقشة: فرضنا الانضباط الهندسي الكامل عبر وثائق SRS، خط الأساس، مصفوفة التتبع، وإدارة التغيير الآمنة مع 33 اختباراً ناجحاً. ووضعنا خارطة طريق واضحة لتفكيك الكلاسات واختبار الأجهزة الحقيقية مستقبلاً. نشكركم على حسن الاستماع ومستعدون للإجابة عن أسئلتكم.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8600"/>
          </a:xfrm>
          <a:prstGeom prst="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11480"/>
          </a:xfrm>
          <a:prstGeom prst="rect">
            <a:avLst/>
          </a:prstGeom>
          <a:noFill/>
        </p:spPr>
        <p:txBody>
          <a:bodyPr wrap="none">
            <a:spAutoFit/>
          </a:bodyPr>
          <a:lstStyle/>
          <a:p>
            <a:pPr>
              <a:defRPr sz="1500" b="1">
                <a:solidFill>
                  <a:srgbClr val="1E40AF"/>
                </a:solidFill>
                <a:latin typeface="Arial"/>
              </a:defRPr>
            </a:pPr>
            <a:r>
              <a:t>LOCAL CONTACT  •  Offline Local P2P Communication</a:t>
            </a:r>
          </a:p>
        </p:txBody>
      </p:sp>
      <p:sp>
        <p:nvSpPr>
          <p:cNvPr id="4" name="TextBox 3"/>
          <p:cNvSpPr txBox="1"/>
          <p:nvPr/>
        </p:nvSpPr>
        <p:spPr>
          <a:xfrm>
            <a:off x="822960" y="1143000"/>
            <a:ext cx="10515600" cy="1005840"/>
          </a:xfrm>
          <a:prstGeom prst="rect">
            <a:avLst/>
          </a:prstGeom>
          <a:noFill/>
        </p:spPr>
        <p:txBody>
          <a:bodyPr wrap="square">
            <a:spAutoFit/>
          </a:bodyPr>
          <a:lstStyle/>
          <a:p>
            <a:pPr>
              <a:defRPr sz="3600" b="1">
                <a:solidFill>
                  <a:srgbClr val="0F2B5C"/>
                </a:solidFill>
                <a:latin typeface="Arial"/>
              </a:defRPr>
            </a:pPr>
            <a:r>
              <a:t>هندسة البرمجيات في مشروع LOCAL CONTACT</a:t>
            </a:r>
          </a:p>
        </p:txBody>
      </p:sp>
      <p:sp>
        <p:nvSpPr>
          <p:cNvPr id="5" name="TextBox 4"/>
          <p:cNvSpPr txBox="1"/>
          <p:nvPr/>
        </p:nvSpPr>
        <p:spPr>
          <a:xfrm>
            <a:off x="822960" y="2148840"/>
            <a:ext cx="10515600" cy="502920"/>
          </a:xfrm>
          <a:prstGeom prst="rect">
            <a:avLst/>
          </a:prstGeom>
          <a:noFill/>
        </p:spPr>
        <p:txBody>
          <a:bodyPr wrap="none">
            <a:spAutoFit/>
          </a:bodyPr>
          <a:lstStyle/>
          <a:p>
            <a:pPr>
              <a:defRPr sz="1800" b="1">
                <a:solidFill>
                  <a:srgbClr val="475569"/>
                </a:solidFill>
                <a:latin typeface="Arial"/>
              </a:defRPr>
            </a:pPr>
            <a:r>
              <a:t>تحليل المتطلبات، التصميم المعماري، إدارة التغيير، الاختبارات، والتتبع</a:t>
            </a:r>
          </a:p>
        </p:txBody>
      </p:sp>
      <p:sp>
        <p:nvSpPr>
          <p:cNvPr id="6" name="Rounded Rectangle 5"/>
          <p:cNvSpPr/>
          <p:nvPr/>
        </p:nvSpPr>
        <p:spPr>
          <a:xfrm>
            <a:off x="822960" y="2834640"/>
            <a:ext cx="10515600" cy="59436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F2B5C"/>
                </a:solidFill>
                <a:latin typeface="Arial"/>
              </a:defRPr>
            </a:pPr>
            <a:r>
              <a:t>🔒 المسار الأكاديمي: مبادئ هندسة البرمجيات وإدارة دورة حياة النظم (Software Engineering)  |  Android SDK 36  |  Kotlin 2.2  |  No Central Servers</a:t>
            </a:r>
          </a:p>
        </p:txBody>
      </p:sp>
      <p:sp>
        <p:nvSpPr>
          <p:cNvPr id="7" name="Rounded Rectangle 6"/>
          <p:cNvSpPr/>
          <p:nvPr/>
        </p:nvSpPr>
        <p:spPr>
          <a:xfrm>
            <a:off x="822960" y="3703320"/>
            <a:ext cx="10515600" cy="224028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0F2B5C"/>
                </a:solidFill>
                <a:latin typeface="Arial"/>
              </a:defRPr>
            </a:pPr>
            <a:r>
              <a:t>إعداد الطلاب:</a:t>
            </a:r>
          </a:p>
        </p:txBody>
      </p:sp>
      <p:sp>
        <p:nvSpPr>
          <p:cNvPr id="8" name="Rounded Rectangle 7"/>
          <p:cNvSpPr/>
          <p:nvPr/>
        </p:nvSpPr>
        <p:spPr>
          <a:xfrm>
            <a:off x="10972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1. مشعل حاجب</a:t>
            </a:r>
          </a:p>
        </p:txBody>
      </p:sp>
      <p:sp>
        <p:nvSpPr>
          <p:cNvPr id="9" name="Rounded Rectangle 8"/>
          <p:cNvSpPr/>
          <p:nvPr/>
        </p:nvSpPr>
        <p:spPr>
          <a:xfrm>
            <a:off x="31546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2. قحطان</a:t>
            </a:r>
          </a:p>
        </p:txBody>
      </p:sp>
      <p:sp>
        <p:nvSpPr>
          <p:cNvPr id="10" name="Rounded Rectangle 9"/>
          <p:cNvSpPr/>
          <p:nvPr/>
        </p:nvSpPr>
        <p:spPr>
          <a:xfrm>
            <a:off x="52120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3. محمد العيدروس</a:t>
            </a:r>
          </a:p>
        </p:txBody>
      </p:sp>
      <p:sp>
        <p:nvSpPr>
          <p:cNvPr id="11" name="Rounded Rectangle 10"/>
          <p:cNvSpPr/>
          <p:nvPr/>
        </p:nvSpPr>
        <p:spPr>
          <a:xfrm>
            <a:off x="72694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4. أواب النزيلي</a:t>
            </a:r>
          </a:p>
        </p:txBody>
      </p:sp>
      <p:sp>
        <p:nvSpPr>
          <p:cNvPr id="12" name="Rounded Rectangle 11"/>
          <p:cNvSpPr/>
          <p:nvPr/>
        </p:nvSpPr>
        <p:spPr>
          <a:xfrm>
            <a:off x="93268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5. محمد العواضي</a:t>
            </a:r>
          </a:p>
        </p:txBody>
      </p:sp>
      <p:sp>
        <p:nvSpPr>
          <p:cNvPr id="13" name="TextBox 12"/>
          <p:cNvSpPr txBox="1"/>
          <p:nvPr/>
        </p:nvSpPr>
        <p:spPr>
          <a:xfrm>
            <a:off x="822960" y="5577840"/>
            <a:ext cx="10515600" cy="320040"/>
          </a:xfrm>
          <a:prstGeom prst="rect">
            <a:avLst/>
          </a:prstGeom>
          <a:noFill/>
        </p:spPr>
        <p:txBody>
          <a:bodyPr wrap="none">
            <a:spAutoFit/>
          </a:bodyPr>
          <a:lstStyle/>
          <a:p>
            <a:pPr algn="ctr">
              <a:defRPr sz="1200">
                <a:solidFill>
                  <a:srgbClr val="475569"/>
                </a:solidFill>
                <a:latin typeface="Arial"/>
              </a:defRPr>
            </a:pPr>
            <a:r>
              <a:t>المناقشة الأكاديمية الرسمية  •  نسخة العرض المحكمة (Projector Edition)  •  12 شريحة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تشخيص واقع النظام</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2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حالة المشروع قبل التدخل الهندسي والمشكلات المكتشفة</a:t>
            </a:r>
          </a:p>
        </p:txBody>
      </p:sp>
      <p:sp>
        <p:nvSpPr>
          <p:cNvPr id="6" name="Rounded Rectangle 5"/>
          <p:cNvSpPr/>
          <p:nvPr/>
        </p:nvSpPr>
        <p:spPr>
          <a:xfrm>
            <a:off x="8961120" y="621792"/>
            <a:ext cx="2377440" cy="438912"/>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C2626"/>
                </a:solidFill>
                <a:latin typeface="Consolas"/>
              </a:defRPr>
            </a:pPr>
            <a:r>
              <a:t>PRE-SE AUDIT</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DC2626"/>
                </a:solidFill>
                <a:latin typeface="Arial"/>
              </a:defRPr>
            </a:pPr>
            <a:r>
              <a:t>⚠️ غياب التوثيق والمنهجية الهندسية:</a:t>
            </a:r>
          </a:p>
          <a:p>
            <a:pPr>
              <a:spcBef>
                <a:spcPts val="1200"/>
              </a:spcBef>
              <a:defRPr sz="1700" b="1">
                <a:solidFill>
                  <a:srgbClr val="0F172A"/>
                </a:solidFill>
                <a:latin typeface="Arial"/>
              </a:defRPr>
            </a:pPr>
            <a:r>
              <a:t>• غياب وثيقة المتطلبات الرسمية (No SRS): الميزات مبنية دون توصيف دقيق للمدخلات والمخرجات أو معايير القبول.</a:t>
            </a:r>
          </a:p>
          <a:p>
            <a:pPr>
              <a:spcBef>
                <a:spcPts val="1200"/>
              </a:spcBef>
              <a:defRPr sz="1700" b="1">
                <a:solidFill>
                  <a:srgbClr val="0F172A"/>
                </a:solidFill>
                <a:latin typeface="Arial"/>
              </a:defRPr>
            </a:pPr>
            <a:r>
              <a:t>• انعدام خط الأساس الهندسي (No Baseline): عدم وجود مرجع ثابت لتتبع أثر التعديلات البرمجية وضبط التفرع.</a:t>
            </a:r>
          </a:p>
          <a:p>
            <a:pPr>
              <a:spcBef>
                <a:spcPts val="1200"/>
              </a:spcBef>
              <a:defRPr sz="1700" b="1">
                <a:solidFill>
                  <a:srgbClr val="0F172A"/>
                </a:solidFill>
                <a:latin typeface="Arial"/>
              </a:defRPr>
            </a:pPr>
            <a:r>
              <a:t>• غياب مصفوفة التتبع (No Traceability): صعوبة تحديد أي متطلب وظيفي يرتبط بأي ملف برمجي في المشروع.</a:t>
            </a:r>
          </a:p>
          <a:p>
            <a:pPr>
              <a:spcBef>
                <a:spcPts val="1200"/>
              </a:spcBef>
              <a:defRPr sz="1700" b="1">
                <a:solidFill>
                  <a:srgbClr val="0F172A"/>
                </a:solidFill>
                <a:latin typeface="Arial"/>
              </a:defRPr>
            </a:pPr>
            <a:r>
              <a:t>• انعدام الاختبارات الآلية (Zero Unit Tests): الاعتماد على الاختبار اليدوي العشوائي دون إثبات برمجي مؤتمت.</a:t>
            </a:r>
          </a:p>
        </p:txBody>
      </p:sp>
      <p:sp>
        <p:nvSpPr>
          <p:cNvPr id="10" name="Rounded Rectangle 9"/>
          <p:cNvSpPr/>
          <p:nvPr/>
        </p:nvSpPr>
        <p:spPr>
          <a:xfrm>
            <a:off x="621792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الروائح المعمارية في الكود (Code Smells):</a:t>
            </a:r>
          </a:p>
          <a:p>
            <a:pPr>
              <a:spcBef>
                <a:spcPts val="1200"/>
              </a:spcBef>
              <a:defRPr sz="1700" b="1">
                <a:solidFill>
                  <a:srgbClr val="0F172A"/>
                </a:solidFill>
                <a:latin typeface="Arial"/>
              </a:defRPr>
            </a:pPr>
            <a:r>
              <a:t>• ظاهرة الكلاسات المتضخمة (God Classes): كلاس LocalP2PEngine.kt بلغ 2,496 سطراً ليجمع الاكتشاف والرسائل والمكالمات في مكان واحد.</a:t>
            </a:r>
          </a:p>
          <a:p>
            <a:pPr>
              <a:spcBef>
                <a:spcPts val="1200"/>
              </a:spcBef>
              <a:defRPr sz="1700" b="1">
                <a:solidFill>
                  <a:srgbClr val="0F172A"/>
                </a:solidFill>
                <a:latin typeface="Arial"/>
              </a:defRPr>
            </a:pPr>
            <a:r>
              <a:t>• تضخم الـ ViewModel: كلاس MainViewModel.kt بلغ 1,839 سطراً ليجمع إدارة الواجهات واستعلامات قاعدة البيانات معاً.</a:t>
            </a:r>
          </a:p>
          <a:p>
            <a:pPr>
              <a:spcBef>
                <a:spcPts val="1200"/>
              </a:spcBef>
              <a:defRPr sz="1700" b="1">
                <a:solidFill>
                  <a:srgbClr val="0F172A"/>
                </a:solidFill>
                <a:latin typeface="Arial"/>
              </a:defRPr>
            </a:pPr>
            <a:r>
              <a:t>• الاقتران الصلب (Tight Coupling): دمج منطق التشفير وإدارة المفاتيح داخل نفس الكلاس في LocalCryptoEngine.kt.</a:t>
            </a:r>
          </a:p>
          <a:p>
            <a:pPr>
              <a:spcBef>
                <a:spcPts val="1200"/>
              </a:spcBef>
              <a:defRPr sz="1700" b="1">
                <a:solidFill>
                  <a:srgbClr val="0F172A"/>
                </a:solidFill>
                <a:latin typeface="Arial"/>
              </a:defRPr>
            </a:pPr>
            <a:r>
              <a:t>• انتهاك مبادئ SOLID: انتهاك صريح لمبدأ المسؤولية الواحدة (SRP) ومبدأ انعكاس الاعتمادية (DIP).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هندسة المتطلبات</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3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توثيق مواصفات المتطلبات البرمجية (SRS Specification)</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docs/SRS.md</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0F2B5C"/>
                </a:solidFill>
                <a:latin typeface="Arial"/>
              </a:defRPr>
            </a:pPr>
            <a:r>
              <a:t>🎯 نموذج تصنيف المتطلبات الخماسي المبتكر:</a:t>
            </a:r>
          </a:p>
          <a:p>
            <a:pPr>
              <a:spcBef>
                <a:spcPts val="800"/>
              </a:spcBef>
              <a:defRPr sz="1600" b="1">
                <a:solidFill>
                  <a:srgbClr val="0F172A"/>
                </a:solidFill>
                <a:latin typeface="Arial"/>
              </a:defRPr>
            </a:pPr>
            <a:r>
              <a:t>• 1. Official Requirement: المتطلبات الرسمية الصريحة المطلوبة أكاديمياً.</a:t>
            </a:r>
          </a:p>
          <a:p>
            <a:pPr>
              <a:spcBef>
                <a:spcPts val="800"/>
              </a:spcBef>
              <a:defRPr sz="1600" b="1">
                <a:solidFill>
                  <a:srgbClr val="0F172A"/>
                </a:solidFill>
                <a:latin typeface="Arial"/>
              </a:defRPr>
            </a:pPr>
            <a:r>
              <a:t>• 2. Existing Capability: وظيفة مبنية بالفعل في الكود ولكنها تحتاج إثباتاً تشغيلياً.</a:t>
            </a:r>
          </a:p>
          <a:p>
            <a:pPr>
              <a:spcBef>
                <a:spcPts val="800"/>
              </a:spcBef>
              <a:defRPr sz="1600" b="1">
                <a:solidFill>
                  <a:srgbClr val="0F172A"/>
                </a:solidFill>
                <a:latin typeface="Arial"/>
              </a:defRPr>
            </a:pPr>
            <a:r>
              <a:t>• 3. Proposed Improvement: تحسينات مقترحة للمستقبل ولا تعد جزءاً من خط الأساس.</a:t>
            </a:r>
          </a:p>
          <a:p>
            <a:pPr>
              <a:spcBef>
                <a:spcPts val="800"/>
              </a:spcBef>
              <a:defRPr sz="1600" b="1">
                <a:solidFill>
                  <a:srgbClr val="0F172A"/>
                </a:solidFill>
                <a:latin typeface="Arial"/>
              </a:defRPr>
            </a:pPr>
            <a:r>
              <a:t>• 4. Missing: وظيفة متوقعة لكن فحص الكود أثبت غيابها (مثل الحذف الشبكي).</a:t>
            </a:r>
          </a:p>
          <a:p>
            <a:pPr>
              <a:spcBef>
                <a:spcPts val="800"/>
              </a:spcBef>
              <a:defRPr sz="1600" b="1">
                <a:solidFill>
                  <a:srgbClr val="0F172A"/>
                </a:solidFill>
                <a:latin typeface="Arial"/>
              </a:defRPr>
            </a:pPr>
            <a:r>
              <a:t>• 5. Not Verified: كود موجود بالمستودع لم يُختبر بين جهازين حقيقيين.</a:t>
            </a:r>
          </a:p>
        </p:txBody>
      </p:sp>
      <p:sp>
        <p:nvSpPr>
          <p:cNvPr id="10" name="Rounded Rectangle 9"/>
          <p:cNvSpPr/>
          <p:nvPr/>
        </p:nvSpPr>
        <p:spPr>
          <a:xfrm>
            <a:off x="621792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0F2B5C"/>
                </a:solidFill>
                <a:latin typeface="Arial"/>
              </a:defRPr>
            </a:pPr>
            <a:r>
              <a:t>📑 محتويات وثيقة SRS المعتمدة:</a:t>
            </a:r>
          </a:p>
          <a:p>
            <a:pPr>
              <a:spcBef>
                <a:spcPts val="800"/>
              </a:spcBef>
              <a:defRPr sz="1600" b="1">
                <a:solidFill>
                  <a:srgbClr val="0F172A"/>
                </a:solidFill>
                <a:latin typeface="Arial"/>
              </a:defRPr>
            </a:pPr>
            <a:r>
              <a:t>• نطاق النظام (Scope): تحديد دقيق لما يقدمه النظام (P2P محلي) وما يقع خارجه (لا خوادم سحابية، لا STUN/TURN).</a:t>
            </a:r>
          </a:p>
          <a:p>
            <a:pPr>
              <a:spcBef>
                <a:spcPts val="800"/>
              </a:spcBef>
              <a:defRPr sz="1600" b="1">
                <a:solidFill>
                  <a:srgbClr val="0F172A"/>
                </a:solidFill>
                <a:latin typeface="Arial"/>
              </a:defRPr>
            </a:pPr>
            <a:r>
              <a:t>• الأطراف الفاعلة (Actors): المستخدم المحلي، القرين البعيد، نظام Android، عتاد الكاميرا والصوت، وقاعدة بيانات Room.</a:t>
            </a:r>
          </a:p>
          <a:p>
            <a:pPr>
              <a:spcBef>
                <a:spcPts val="800"/>
              </a:spcBef>
              <a:defRPr sz="1600" b="1">
                <a:solidFill>
                  <a:srgbClr val="0F172A"/>
                </a:solidFill>
                <a:latin typeface="Arial"/>
              </a:defRPr>
            </a:pPr>
            <a:r>
              <a:t>• 31 متطلباً وظيفياً (FR-01 إلى FR-31): تغطي الاكتشاف، التراسل، نقل الملفات، المكالمات الصوتية والمرئية، والتشفير.</a:t>
            </a:r>
          </a:p>
          <a:p>
            <a:pPr>
              <a:spcBef>
                <a:spcPts val="800"/>
              </a:spcBef>
              <a:defRPr sz="1600" b="1">
                <a:solidFill>
                  <a:srgbClr val="0F172A"/>
                </a:solidFill>
                <a:latin typeface="Arial"/>
              </a:defRPr>
            </a:pPr>
            <a:r>
              <a:t>• 15 قصة مستخدم قياسية (US-01 إلى US-15): صياغة هندسية قياسية تعبر عن أهداف المستخدمين.</a:t>
            </a:r>
          </a:p>
          <a:p>
            <a:pPr>
              <a:spcBef>
                <a:spcPts val="800"/>
              </a:spcBef>
              <a:defRPr sz="1600" b="1">
                <a:solidFill>
                  <a:srgbClr val="0F172A"/>
                </a:solidFill>
                <a:latin typeface="Arial"/>
              </a:defRPr>
            </a:pPr>
            <a:r>
              <a:t>• معايير القبول (Acceptance Criteria): 28 معيار قبول بصيغة (Given / When / Then) لضبط التحقق.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إدارة خط الأساس</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4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توثيق خط الأساس وضبط بيئة البناء (Baseline &amp; Git)</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docs/Baseline.md</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1051560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عناصر خط الأساس المعتمد في docs/Baseline.md (308 lines):</a:t>
            </a:r>
          </a:p>
          <a:p>
            <a:pPr>
              <a:spcBef>
                <a:spcPts val="1200"/>
              </a:spcBef>
              <a:defRPr sz="1800" b="1">
                <a:solidFill>
                  <a:srgbClr val="0F172A"/>
                </a:solidFill>
                <a:latin typeface="Arial"/>
              </a:defRPr>
            </a:pPr>
            <a:r>
              <a:t>• Commit Hash المرجعي الثابت: 71111825645c2b3c6a926f739455c4ffda3c0963 — تم التحقق من نظافة شجرة العمل (Clean Tree).</a:t>
            </a:r>
          </a:p>
          <a:p>
            <a:pPr>
              <a:spcBef>
                <a:spcPts val="1200"/>
              </a:spcBef>
              <a:defRPr sz="1800" b="1">
                <a:solidFill>
                  <a:srgbClr val="0F172A"/>
                </a:solidFill>
                <a:latin typeface="Arial"/>
              </a:defRPr>
            </a:pPr>
            <a:r>
              <a:t>• تكرارية بيئة البناء (Reproducibility): Gradle 9.4.1 و AGP 9.1.1 و Kotlin 2.2.10 لضمان بناء نفس حزمة الـ APK عند أي طرف.</a:t>
            </a:r>
          </a:p>
          <a:p>
            <a:pPr>
              <a:spcBef>
                <a:spcPts val="1200"/>
              </a:spcBef>
              <a:defRPr sz="1800" b="1">
                <a:solidFill>
                  <a:srgbClr val="0F172A"/>
                </a:solidFill>
                <a:latin typeface="Arial"/>
              </a:defRPr>
            </a:pPr>
            <a:r>
              <a:t>• مستويات SDK ومكتبات النظام: compileSdk = 36، minSdk = 24 (Android 7.0+)، واستخدام KSP لمعالجة الرموز في Room DB و Moshi.</a:t>
            </a:r>
          </a:p>
          <a:p>
            <a:pPr>
              <a:spcBef>
                <a:spcPts val="1200"/>
              </a:spcBef>
              <a:defRPr sz="1800" b="1">
                <a:solidFill>
                  <a:srgbClr val="0F172A"/>
                </a:solidFill>
                <a:latin typeface="Arial"/>
              </a:defRPr>
            </a:pPr>
            <a:r>
              <a:t>• منع انزلاق النطاق (Scope Creep): تثبيت النطاق المرجعي يمنع إضافة ميزات غير مدروسة دون توثيق أثرها الهندسي على النظام.</a:t>
            </a:r>
          </a:p>
          <a:p>
            <a:pPr>
              <a:spcBef>
                <a:spcPts val="1200"/>
              </a:spcBef>
              <a:defRPr sz="1800" b="1">
                <a:solidFill>
                  <a:srgbClr val="0F172A"/>
                </a:solidFill>
                <a:latin typeface="Arial"/>
              </a:defRPr>
            </a:pPr>
            <a:r>
              <a:t>• حصر الوظائف (Features Inventory): توثيق 14 ميزة رئيسية مع ربطها بملفات الكود وحالتها الدقيقة (Implemented - Not Tested).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التصميم المعماري</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5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السياق المعماري للنظام وتوزيع المسؤوليات (P2P Architecture)</a:t>
            </a:r>
          </a:p>
        </p:txBody>
      </p:sp>
      <p:sp>
        <p:nvSpPr>
          <p:cNvPr id="6" name="Rounded Rectangle 5"/>
          <p:cNvSpPr/>
          <p:nvPr/>
        </p:nvSpPr>
        <p:spPr>
          <a:xfrm>
            <a:off x="8961120" y="621792"/>
            <a:ext cx="2377440" cy="438912"/>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E40AF"/>
                </a:solidFill>
                <a:latin typeface="Consolas"/>
              </a:defRPr>
            </a:pPr>
            <a:r>
              <a:t>DECENTRALIZED P2P</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20574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0F2B5C"/>
                </a:solidFill>
                <a:latin typeface="Arial"/>
              </a:defRPr>
            </a:pPr>
            <a:r>
              <a:t>📱 طبقة العرض والواجهات (Presentation Layer)</a:t>
            </a:r>
          </a:p>
          <a:p>
            <a:pPr>
              <a:spcBef>
                <a:spcPts val="300"/>
              </a:spcBef>
              <a:defRPr sz="1300" b="1">
                <a:solidFill>
                  <a:srgbClr val="1E40AF"/>
                </a:solidFill>
                <a:latin typeface="Consolas"/>
              </a:defRPr>
            </a:pPr>
            <a:r>
              <a:t>app/.../ui/</a:t>
            </a:r>
          </a:p>
          <a:p>
            <a:pPr>
              <a:spcBef>
                <a:spcPts val="400"/>
              </a:spcBef>
              <a:defRPr sz="1500" b="1">
                <a:solidFill>
                  <a:srgbClr val="0F172A"/>
                </a:solidFill>
                <a:latin typeface="Arial"/>
              </a:defRPr>
            </a:pPr>
            <a:r>
              <a:t>واجهات Jetpack Compose التعلانية: شاشات المحادثة والأقران والغرف، وحوارات المكالمات، والمكونات التفاعلية.</a:t>
            </a:r>
          </a:p>
        </p:txBody>
      </p:sp>
      <p:sp>
        <p:nvSpPr>
          <p:cNvPr id="10" name="Rounded Rectangle 9"/>
          <p:cNvSpPr/>
          <p:nvPr/>
        </p:nvSpPr>
        <p:spPr>
          <a:xfrm>
            <a:off x="6126480" y="1645920"/>
            <a:ext cx="5120640" cy="20574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0F2B5C"/>
                </a:solidFill>
                <a:latin typeface="Arial"/>
              </a:defRPr>
            </a:pPr>
            <a:r>
              <a:t>🧠 طبقة التنسيق والحالة (ViewModel / Coordination)</a:t>
            </a:r>
          </a:p>
          <a:p>
            <a:pPr>
              <a:spcBef>
                <a:spcPts val="300"/>
              </a:spcBef>
              <a:defRPr sz="1300" b="1">
                <a:solidFill>
                  <a:srgbClr val="1E40AF"/>
                </a:solidFill>
                <a:latin typeface="Consolas"/>
              </a:defRPr>
            </a:pPr>
            <a:r>
              <a:t>MainViewModel.kt</a:t>
            </a:r>
          </a:p>
          <a:p>
            <a:pPr>
              <a:spcBef>
                <a:spcPts val="400"/>
              </a:spcBef>
              <a:defRPr sz="1500" b="1">
                <a:solidFill>
                  <a:srgbClr val="0F172A"/>
                </a:solidFill>
                <a:latin typeface="Arial"/>
              </a:defRPr>
            </a:pPr>
            <a:r>
              <a:t>إدارة تدفقات StateFlow للواجهات، معالجة الأحداث، وتوجيه البيانات بين المحركات الشبكية وقاعدة البيانات.</a:t>
            </a:r>
          </a:p>
        </p:txBody>
      </p:sp>
      <p:sp>
        <p:nvSpPr>
          <p:cNvPr id="11" name="Rounded Rectangle 10"/>
          <p:cNvSpPr/>
          <p:nvPr/>
        </p:nvSpPr>
        <p:spPr>
          <a:xfrm>
            <a:off x="822960" y="3886200"/>
            <a:ext cx="5120640" cy="20574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0F2B5C"/>
                </a:solidFill>
                <a:latin typeface="Arial"/>
              </a:defRPr>
            </a:pPr>
            <a:r>
              <a:t>🌐 طبقة المحركات الشبكية (Network Engines Layer)</a:t>
            </a:r>
          </a:p>
          <a:p>
            <a:pPr>
              <a:spcBef>
                <a:spcPts val="300"/>
              </a:spcBef>
              <a:defRPr sz="1300" b="1">
                <a:solidFill>
                  <a:srgbClr val="1E40AF"/>
                </a:solidFill>
                <a:latin typeface="Consolas"/>
              </a:defRPr>
            </a:pPr>
            <a:r>
              <a:t>app/.../network/</a:t>
            </a:r>
          </a:p>
          <a:p>
            <a:pPr>
              <a:spcBef>
                <a:spcPts val="400"/>
              </a:spcBef>
              <a:defRPr sz="1500" b="1">
                <a:solidFill>
                  <a:srgbClr val="0F172A"/>
                </a:solidFill>
                <a:latin typeface="Arial"/>
              </a:defRPr>
            </a:pPr>
            <a:r>
              <a:t>عزل قنوات الاتصال المستقلة: الاكتشاف والرسائل (8888)، الصوت (8889)، الفيديو (8890)، ونقل الملفات (8891).</a:t>
            </a:r>
          </a:p>
        </p:txBody>
      </p:sp>
      <p:sp>
        <p:nvSpPr>
          <p:cNvPr id="12" name="Rounded Rectangle 11"/>
          <p:cNvSpPr/>
          <p:nvPr/>
        </p:nvSpPr>
        <p:spPr>
          <a:xfrm>
            <a:off x="6126480" y="3886200"/>
            <a:ext cx="5120640" cy="20574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0F2B5C"/>
                </a:solidFill>
                <a:latin typeface="Arial"/>
              </a:defRPr>
            </a:pPr>
            <a:r>
              <a:t>💾 طبقة البيانات والتخزين (Persistence Layer)</a:t>
            </a:r>
          </a:p>
          <a:p>
            <a:pPr>
              <a:spcBef>
                <a:spcPts val="300"/>
              </a:spcBef>
              <a:defRPr sz="1300" b="1">
                <a:solidFill>
                  <a:srgbClr val="1E40AF"/>
                </a:solidFill>
                <a:latin typeface="Consolas"/>
              </a:defRPr>
            </a:pPr>
            <a:r>
              <a:t>app/.../data/</a:t>
            </a:r>
          </a:p>
          <a:p>
            <a:pPr>
              <a:spcBef>
                <a:spcPts val="400"/>
              </a:spcBef>
              <a:defRPr sz="1500" b="1">
                <a:solidFill>
                  <a:srgbClr val="0F172A"/>
                </a:solidFill>
                <a:latin typeface="Arial"/>
              </a:defRPr>
            </a:pPr>
            <a:r>
              <a:t>إدارة البيانات محلياً عبر Room Database (AppDatabase.kt) لرسائل الغرف والمستخدم، وحفظ التفضيلات عبر DataStore.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الروائح المعمارية وإعادة الهيكلة</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6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تحليل الكلاسات المتضخمة وتطبيق مبادئ SOLID</a:t>
            </a:r>
          </a:p>
        </p:txBody>
      </p:sp>
      <p:sp>
        <p:nvSpPr>
          <p:cNvPr id="6" name="Rounded Rectangle 5"/>
          <p:cNvSpPr/>
          <p:nvPr/>
        </p:nvSpPr>
        <p:spPr>
          <a:xfrm>
            <a:off x="8961120" y="621792"/>
            <a:ext cx="2377440" cy="438912"/>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97706"/>
                </a:solidFill>
                <a:latin typeface="Consolas"/>
              </a:defRPr>
            </a:pPr>
            <a:r>
              <a:t>ARCHITECTURAL SMELLS</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D97706"/>
                </a:solidFill>
                <a:latin typeface="Arial"/>
              </a:defRPr>
            </a:pPr>
            <a:r>
              <a:t>⚠️ الكلاسات المتضخمة المرصودة:</a:t>
            </a:r>
          </a:p>
          <a:p>
            <a:pPr>
              <a:spcBef>
                <a:spcPts val="1000"/>
              </a:spcBef>
              <a:defRPr sz="1600" b="1">
                <a:solidFill>
                  <a:srgbClr val="0F172A"/>
                </a:solidFill>
                <a:latin typeface="Arial"/>
              </a:defRPr>
            </a:pPr>
            <a:r>
              <a:t>• LocalP2PEngine.kt (2,496 سطر): يجمع مهام بث واكتشاف الأقران، إدارة مقابس UDP، إشارات المكالمات، وإشعارات التسليم في كلاس واحد.</a:t>
            </a:r>
          </a:p>
          <a:p>
            <a:pPr>
              <a:spcBef>
                <a:spcPts val="1000"/>
              </a:spcBef>
              <a:defRPr sz="1600" b="1">
                <a:solidFill>
                  <a:srgbClr val="0F172A"/>
                </a:solidFill>
                <a:latin typeface="Arial"/>
              </a:defRPr>
            </a:pPr>
            <a:r>
              <a:t>• MainViewModel.kt (1,839 سطر): يجمع منطق تنقل الشاشات، استعلامات قاعدة بيانات Room، والتفاعل المباشر مع محركات الشبكة.</a:t>
            </a:r>
          </a:p>
          <a:p>
            <a:pPr>
              <a:spcBef>
                <a:spcPts val="1000"/>
              </a:spcBef>
              <a:defRPr sz="1600" b="1">
                <a:solidFill>
                  <a:srgbClr val="0F172A"/>
                </a:solidFill>
                <a:latin typeface="Arial"/>
              </a:defRPr>
            </a:pPr>
            <a:r>
              <a:t>• انتهاك مبدأ Single Responsibility (SRP): تجميع عدة مسؤوليات غير متجانسة يزيد من صعوبة الصيانة والاختبار المعزول.</a:t>
            </a:r>
          </a:p>
          <a:p>
            <a:pPr>
              <a:spcBef>
                <a:spcPts val="1000"/>
              </a:spcBef>
              <a:defRPr sz="1600" b="1">
                <a:solidFill>
                  <a:srgbClr val="0F172A"/>
                </a:solidFill>
                <a:latin typeface="Arial"/>
              </a:defRPr>
            </a:pPr>
            <a:r>
              <a:t>• الديون التقنية (Technical Debt): توثيق هذه الكلاسات رسمياً في الـ SRS كديون تقنية مطلوب إعادة هيكلتها.</a:t>
            </a:r>
          </a:p>
        </p:txBody>
      </p:sp>
      <p:sp>
        <p:nvSpPr>
          <p:cNvPr id="10" name="Rounded Rectangle 9"/>
          <p:cNvSpPr/>
          <p:nvPr/>
        </p:nvSpPr>
        <p:spPr>
          <a:xfrm>
            <a:off x="6217920" y="1645920"/>
            <a:ext cx="5120640" cy="43891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59669"/>
                </a:solidFill>
                <a:latin typeface="Arial"/>
              </a:defRPr>
            </a:pPr>
            <a:r>
              <a:t>🧩 الحلول الهندسية المطبقة والمقترحة:</a:t>
            </a:r>
          </a:p>
          <a:p>
            <a:pPr>
              <a:spcBef>
                <a:spcPts val="1000"/>
              </a:spcBef>
              <a:defRPr sz="1600" b="1">
                <a:solidFill>
                  <a:srgbClr val="0F172A"/>
                </a:solidFill>
                <a:latin typeface="Arial"/>
              </a:defRPr>
            </a:pPr>
            <a:r>
              <a:t>• تطبيق مبدأ انعكاس الاعتمادية (DIP): عزل التشفير عبر واجهة KeyProvider.kt بحيث يعتمد المحرك على واجهة مجردة بدلاً من كلاس ملموس.</a:t>
            </a:r>
          </a:p>
          <a:p>
            <a:pPr>
              <a:spcBef>
                <a:spcPts val="1000"/>
              </a:spcBef>
              <a:defRPr sz="1600" b="1">
                <a:solidFill>
                  <a:srgbClr val="0F172A"/>
                </a:solidFill>
                <a:latin typeface="Arial"/>
              </a:defRPr>
            </a:pPr>
            <a:r>
              <a:t>• خطة تفكيك LocalP2PEngine: تقسيمه مستقبلاً إلى 3 محركات فرعية: DiscoveryCoordinator, CallSignalingHandler, PacketDispatcher.</a:t>
            </a:r>
          </a:p>
          <a:p>
            <a:pPr>
              <a:spcBef>
                <a:spcPts val="1000"/>
              </a:spcBef>
              <a:defRPr sz="1600" b="1">
                <a:solidFill>
                  <a:srgbClr val="0F172A"/>
                </a:solidFill>
                <a:latin typeface="Arial"/>
              </a:defRPr>
            </a:pPr>
            <a:r>
              <a:t>• تفكيك ViewModel: إنشاء ViewModels متخصصة لكل شاشة (ChatViewModel, CallsViewModel) لتخفيف الحمل المعماري.</a:t>
            </a:r>
          </a:p>
          <a:p>
            <a:pPr>
              <a:spcBef>
                <a:spcPts val="1000"/>
              </a:spcBef>
              <a:defRPr sz="1600" b="1">
                <a:solidFill>
                  <a:srgbClr val="0F172A"/>
                </a:solidFill>
                <a:latin typeface="Arial"/>
              </a:defRPr>
            </a:pPr>
            <a:r>
              <a:t>• النضج الهندسي: الاعتراف بوجود الروائح المعمارية هو الخطوة الأولى لتنفيذ إعادة الهيكلة المستمرة (Refactoring).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إدارة التتبع والتحقق</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7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مصفوفة تتبع المتطلبات (Requirements Traceability Matrix)</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docs/TraceabilityMatrix.md</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graphicFrame>
        <p:nvGraphicFramePr>
          <p:cNvPr id="9" name="Table 8"/>
          <p:cNvGraphicFramePr>
            <a:graphicFrameLocks noGrp="1"/>
          </p:cNvGraphicFramePr>
          <p:nvPr/>
        </p:nvGraphicFramePr>
        <p:xfrm>
          <a:off x="822960" y="1645920"/>
          <a:ext cx="10515600" cy="4389120"/>
        </p:xfrm>
        <a:graphic>
          <a:graphicData uri="http://schemas.openxmlformats.org/drawingml/2006/table">
            <a:tbl>
              <a:tblPr firstRow="1" bandRow="1">
                <a:tableStyleId>{5C22544A-7EE6-4342-B048-85BDC9FD1C3A}</a:tableStyleId>
              </a:tblPr>
              <a:tblGrid>
                <a:gridCol w="1371600"/>
                <a:gridCol w="2468880"/>
                <a:gridCol w="3931920"/>
                <a:gridCol w="2743200"/>
              </a:tblGrid>
              <a:tr h="731520">
                <a:tc>
                  <a:txBody>
                    <a:bodyPr/>
                    <a:lstStyle/>
                    <a:p>
                      <a:pPr>
                        <a:defRPr sz="1500" b="1">
                          <a:solidFill>
                            <a:srgbClr val="0F2B5C"/>
                          </a:solidFill>
                          <a:latin typeface="Arial"/>
                        </a:defRPr>
                      </a:pPr>
                      <a:r>
                        <a:t>رمز المتطلب</a:t>
                      </a:r>
                    </a:p>
                  </a:txBody>
                  <a:tcPr>
                    <a:solidFill>
                      <a:srgbClr val="F8FAFC"/>
                    </a:solidFill>
                  </a:tcPr>
                </a:tc>
                <a:tc>
                  <a:txBody>
                    <a:bodyPr/>
                    <a:lstStyle/>
                    <a:p>
                      <a:pPr>
                        <a:defRPr sz="1500" b="1">
                          <a:solidFill>
                            <a:srgbClr val="0F2B5C"/>
                          </a:solidFill>
                          <a:latin typeface="Arial"/>
                        </a:defRPr>
                      </a:pPr>
                      <a:r>
                        <a:t>عنوان المتطلب الوظيفي</a:t>
                      </a:r>
                    </a:p>
                  </a:txBody>
                  <a:tcPr>
                    <a:solidFill>
                      <a:srgbClr val="F8FAFC"/>
                    </a:solidFill>
                  </a:tcPr>
                </a:tc>
                <a:tc>
                  <a:txBody>
                    <a:bodyPr/>
                    <a:lstStyle/>
                    <a:p>
                      <a:pPr>
                        <a:defRPr sz="1500" b="1">
                          <a:solidFill>
                            <a:srgbClr val="0F2B5C"/>
                          </a:solidFill>
                          <a:latin typeface="Arial"/>
                        </a:defRPr>
                      </a:pPr>
                      <a:r>
                        <a:t>الدليل من الكود المصدري الفعلي</a:t>
                      </a:r>
                    </a:p>
                  </a:txBody>
                  <a:tcPr>
                    <a:solidFill>
                      <a:srgbClr val="F8FAFC"/>
                    </a:solidFill>
                  </a:tcPr>
                </a:tc>
                <a:tc>
                  <a:txBody>
                    <a:bodyPr/>
                    <a:lstStyle/>
                    <a:p>
                      <a:pPr>
                        <a:defRPr sz="1500" b="1">
                          <a:solidFill>
                            <a:srgbClr val="0F2B5C"/>
                          </a:solidFill>
                          <a:latin typeface="Arial"/>
                        </a:defRPr>
                      </a:pPr>
                      <a:r>
                        <a:t>الحالة الهندسية الدقيقة</a:t>
                      </a:r>
                    </a:p>
                  </a:txBody>
                  <a:tcPr>
                    <a:solidFill>
                      <a:srgbClr val="F8FAFC"/>
                    </a:solidFill>
                  </a:tcPr>
                </a:tc>
              </a:tr>
              <a:tr h="731520">
                <a:tc>
                  <a:txBody>
                    <a:bodyPr/>
                    <a:lstStyle/>
                    <a:p>
                      <a:pPr>
                        <a:defRPr sz="1300" b="1">
                          <a:solidFill>
                            <a:srgbClr val="0F172A"/>
                          </a:solidFill>
                          <a:latin typeface="Consolas"/>
                        </a:defRPr>
                      </a:pPr>
                      <a:r>
                        <a:t>FR-01</a:t>
                      </a:r>
                    </a:p>
                  </a:txBody>
                  <a:tcPr>
                    <a:solidFill>
                      <a:srgbClr val="FFFFFF"/>
                    </a:solidFill>
                  </a:tcPr>
                </a:tc>
                <a:tc>
                  <a:txBody>
                    <a:bodyPr/>
                    <a:lstStyle/>
                    <a:p>
                      <a:pPr>
                        <a:defRPr sz="1300" b="1">
                          <a:solidFill>
                            <a:srgbClr val="0F172A"/>
                          </a:solidFill>
                          <a:latin typeface="Arial"/>
                        </a:defRPr>
                      </a:pPr>
                      <a:r>
                        <a:t>اكتشاف الأجهزة المحلية</a:t>
                      </a:r>
                    </a:p>
                  </a:txBody>
                  <a:tcPr>
                    <a:solidFill>
                      <a:srgbClr val="FFFFFF"/>
                    </a:solidFill>
                  </a:tcPr>
                </a:tc>
                <a:tc>
                  <a:txBody>
                    <a:bodyPr/>
                    <a:lstStyle/>
                    <a:p>
                      <a:pPr>
                        <a:defRPr sz="1300" b="1">
                          <a:solidFill>
                            <a:srgbClr val="0F172A"/>
                          </a:solidFill>
                          <a:latin typeface="Consolas"/>
                        </a:defRPr>
                      </a:pPr>
                      <a:r>
                        <a:t>LocalP2PEngine.kt — startDiscoveryListener() مع Multicast 8888</a:t>
                      </a:r>
                    </a:p>
                  </a:txBody>
                  <a:tcPr>
                    <a:solidFill>
                      <a:srgbClr val="FFFFFF"/>
                    </a:solidFill>
                  </a:tcPr>
                </a:tc>
                <a:tc>
                  <a:txBody>
                    <a:bodyPr/>
                    <a:lstStyle/>
                    <a:p>
                      <a:pPr>
                        <a:defRPr sz="1300" b="1">
                          <a:solidFill>
                            <a:srgbClr val="D97706"/>
                          </a:solidFill>
                          <a:latin typeface="Arial"/>
                        </a:defRPr>
                      </a:pPr>
                      <a:r>
                        <a:t>Implemented - Not Tested</a:t>
                      </a:r>
                      <a:br/>
                      <a:r>
                        <a:t>(يحتاج اختبار جهازين)</a:t>
                      </a:r>
                    </a:p>
                  </a:txBody>
                  <a:tcPr>
                    <a:solidFill>
                      <a:srgbClr val="FFFFFF"/>
                    </a:solidFill>
                  </a:tcPr>
                </a:tc>
              </a:tr>
              <a:tr h="731520">
                <a:tc>
                  <a:txBody>
                    <a:bodyPr/>
                    <a:lstStyle/>
                    <a:p>
                      <a:pPr>
                        <a:defRPr sz="1300" b="1">
                          <a:solidFill>
                            <a:srgbClr val="0F172A"/>
                          </a:solidFill>
                          <a:latin typeface="Consolas"/>
                        </a:defRPr>
                      </a:pPr>
                      <a:r>
                        <a:t>FR-05</a:t>
                      </a:r>
                    </a:p>
                  </a:txBody>
                  <a:tcPr>
                    <a:solidFill>
                      <a:srgbClr val="F8FAFC"/>
                    </a:solidFill>
                  </a:tcPr>
                </a:tc>
                <a:tc>
                  <a:txBody>
                    <a:bodyPr/>
                    <a:lstStyle/>
                    <a:p>
                      <a:pPr>
                        <a:defRPr sz="1300" b="1">
                          <a:solidFill>
                            <a:srgbClr val="0F172A"/>
                          </a:solidFill>
                          <a:latin typeface="Arial"/>
                        </a:defRPr>
                      </a:pPr>
                      <a:r>
                        <a:t>إرسال رسالة فردية</a:t>
                      </a:r>
                    </a:p>
                  </a:txBody>
                  <a:tcPr>
                    <a:solidFill>
                      <a:srgbClr val="F8FAFC"/>
                    </a:solidFill>
                  </a:tcPr>
                </a:tc>
                <a:tc>
                  <a:txBody>
                    <a:bodyPr/>
                    <a:lstStyle/>
                    <a:p>
                      <a:pPr>
                        <a:defRPr sz="1300" b="1">
                          <a:solidFill>
                            <a:srgbClr val="0F172A"/>
                          </a:solidFill>
                          <a:latin typeface="Consolas"/>
                        </a:defRPr>
                      </a:pPr>
                      <a:r>
                        <a:t>LocalP2PEngine.kt &amp; AppDatabase.kt — حزمة CHAT_MSG وجدول chat_messages</a:t>
                      </a:r>
                    </a:p>
                  </a:txBody>
                  <a:tcPr>
                    <a:solidFill>
                      <a:srgbClr val="F8FAFC"/>
                    </a:solidFill>
                  </a:tcPr>
                </a:tc>
                <a:tc>
                  <a:txBody>
                    <a:bodyPr/>
                    <a:lstStyle/>
                    <a:p>
                      <a:pPr>
                        <a:defRPr sz="1300" b="1">
                          <a:solidFill>
                            <a:srgbClr val="D97706"/>
                          </a:solidFill>
                          <a:latin typeface="Arial"/>
                        </a:defRPr>
                      </a:pPr>
                      <a:r>
                        <a:t>Implemented - Not Tested</a:t>
                      </a:r>
                      <a:br/>
                      <a:r>
                        <a:t>(مبني في الكود والقاعدة)</a:t>
                      </a:r>
                    </a:p>
                  </a:txBody>
                  <a:tcPr>
                    <a:solidFill>
                      <a:srgbClr val="F8FAFC"/>
                    </a:solidFill>
                  </a:tcPr>
                </a:tc>
              </a:tr>
              <a:tr h="731520">
                <a:tc>
                  <a:txBody>
                    <a:bodyPr/>
                    <a:lstStyle/>
                    <a:p>
                      <a:pPr>
                        <a:defRPr sz="1300" b="1">
                          <a:solidFill>
                            <a:srgbClr val="0F172A"/>
                          </a:solidFill>
                          <a:latin typeface="Consolas"/>
                        </a:defRPr>
                      </a:pPr>
                      <a:r>
                        <a:t>FR-13</a:t>
                      </a:r>
                    </a:p>
                  </a:txBody>
                  <a:tcPr>
                    <a:solidFill>
                      <a:srgbClr val="FFFFFF"/>
                    </a:solidFill>
                  </a:tcPr>
                </a:tc>
                <a:tc>
                  <a:txBody>
                    <a:bodyPr/>
                    <a:lstStyle/>
                    <a:p>
                      <a:pPr>
                        <a:defRPr sz="1300" b="1">
                          <a:solidFill>
                            <a:srgbClr val="0F172A"/>
                          </a:solidFill>
                          <a:latin typeface="Arial"/>
                        </a:defRPr>
                      </a:pPr>
                      <a:r>
                        <a:t>حذف الرسالة شبكياً</a:t>
                      </a:r>
                    </a:p>
                  </a:txBody>
                  <a:tcPr>
                    <a:solidFill>
                      <a:srgbClr val="FFFFFF"/>
                    </a:solidFill>
                  </a:tcPr>
                </a:tc>
                <a:tc>
                  <a:txBody>
                    <a:bodyPr/>
                    <a:lstStyle/>
                    <a:p>
                      <a:pPr>
                        <a:defRPr sz="1300" b="1">
                          <a:solidFill>
                            <a:srgbClr val="0F172A"/>
                          </a:solidFill>
                          <a:latin typeface="Consolas"/>
                        </a:defRPr>
                      </a:pPr>
                      <a:r>
                        <a:t>LocalP2PEngine.kt — (لا يوجد كود أو حزمة شبكية للحذف عن بعد)</a:t>
                      </a:r>
                    </a:p>
                  </a:txBody>
                  <a:tcPr>
                    <a:solidFill>
                      <a:srgbClr val="FFFFFF"/>
                    </a:solidFill>
                  </a:tcPr>
                </a:tc>
                <a:tc>
                  <a:txBody>
                    <a:bodyPr/>
                    <a:lstStyle/>
                    <a:p>
                      <a:pPr>
                        <a:defRPr sz="1300" b="1">
                          <a:solidFill>
                            <a:srgbClr val="DC2626"/>
                          </a:solidFill>
                          <a:latin typeface="Arial"/>
                        </a:defRPr>
                      </a:pPr>
                      <a:r>
                        <a:t>Missing / Not Implemented</a:t>
                      </a:r>
                      <a:br/>
                      <a:r>
                        <a:t>(موثق كفجوة بأمانة)</a:t>
                      </a:r>
                    </a:p>
                  </a:txBody>
                  <a:tcPr>
                    <a:solidFill>
                      <a:srgbClr val="FFFFFF"/>
                    </a:solidFill>
                  </a:tcPr>
                </a:tc>
              </a:tr>
              <a:tr h="731520">
                <a:tc>
                  <a:txBody>
                    <a:bodyPr/>
                    <a:lstStyle/>
                    <a:p>
                      <a:pPr>
                        <a:defRPr sz="1300" b="1">
                          <a:solidFill>
                            <a:srgbClr val="0F172A"/>
                          </a:solidFill>
                          <a:latin typeface="Consolas"/>
                        </a:defRPr>
                      </a:pPr>
                      <a:r>
                        <a:t>FR-17</a:t>
                      </a:r>
                    </a:p>
                  </a:txBody>
                  <a:tcPr>
                    <a:solidFill>
                      <a:srgbClr val="F8FAFC"/>
                    </a:solidFill>
                  </a:tcPr>
                </a:tc>
                <a:tc>
                  <a:txBody>
                    <a:bodyPr/>
                    <a:lstStyle/>
                    <a:p>
                      <a:pPr>
                        <a:defRPr sz="1300" b="1">
                          <a:solidFill>
                            <a:srgbClr val="0F172A"/>
                          </a:solidFill>
                          <a:latin typeface="Arial"/>
                        </a:defRPr>
                      </a:pPr>
                      <a:r>
                        <a:t>استئناف نقل الملفات</a:t>
                      </a:r>
                    </a:p>
                  </a:txBody>
                  <a:tcPr>
                    <a:solidFill>
                      <a:srgbClr val="F8FAFC"/>
                    </a:solidFill>
                  </a:tcPr>
                </a:tc>
                <a:tc>
                  <a:txBody>
                    <a:bodyPr/>
                    <a:lstStyle/>
                    <a:p>
                      <a:pPr>
                        <a:defRPr sz="1300" b="1">
                          <a:solidFill>
                            <a:srgbClr val="0F172A"/>
                          </a:solidFill>
                          <a:latin typeface="Consolas"/>
                        </a:defRPr>
                      </a:pPr>
                      <a:r>
                        <a:t>FileTransferEngine.kt &amp; LocalCryptoEngine.kt — اشتقاق الإزاحة والـ Nonce</a:t>
                      </a:r>
                    </a:p>
                  </a:txBody>
                  <a:tcPr>
                    <a:solidFill>
                      <a:srgbClr val="F8FAFC"/>
                    </a:solidFill>
                  </a:tcPr>
                </a:tc>
                <a:tc>
                  <a:txBody>
                    <a:bodyPr/>
                    <a:lstStyle/>
                    <a:p>
                      <a:pPr>
                        <a:defRPr sz="1300" b="1">
                          <a:solidFill>
                            <a:srgbClr val="D97706"/>
                          </a:solidFill>
                          <a:latin typeface="Arial"/>
                        </a:defRPr>
                      </a:pPr>
                      <a:r>
                        <a:t>Implemented - Not Tested</a:t>
                      </a:r>
                      <a:br/>
                      <a:r>
                        <a:t>(مبني ويحتاج قياس)</a:t>
                      </a:r>
                    </a:p>
                  </a:txBody>
                  <a:tcPr>
                    <a:solidFill>
                      <a:srgbClr val="F8FAFC"/>
                    </a:solidFill>
                  </a:tcPr>
                </a:tc>
              </a:tr>
              <a:tr h="731520">
                <a:tc>
                  <a:txBody>
                    <a:bodyPr/>
                    <a:lstStyle/>
                    <a:p>
                      <a:pPr>
                        <a:defRPr sz="1300" b="1">
                          <a:solidFill>
                            <a:srgbClr val="0F172A"/>
                          </a:solidFill>
                          <a:latin typeface="Consolas"/>
                        </a:defRPr>
                      </a:pPr>
                      <a:r>
                        <a:t>FR-28</a:t>
                      </a:r>
                    </a:p>
                  </a:txBody>
                  <a:tcPr>
                    <a:solidFill>
                      <a:srgbClr val="FFFFFF"/>
                    </a:solidFill>
                  </a:tcPr>
                </a:tc>
                <a:tc>
                  <a:txBody>
                    <a:bodyPr/>
                    <a:lstStyle/>
                    <a:p>
                      <a:pPr>
                        <a:defRPr sz="1300" b="1">
                          <a:solidFill>
                            <a:srgbClr val="0F172A"/>
                          </a:solidFill>
                          <a:latin typeface="Arial"/>
                        </a:defRPr>
                      </a:pPr>
                      <a:r>
                        <a:t>تشفير الحزم AES-GCM</a:t>
                      </a:r>
                    </a:p>
                  </a:txBody>
                  <a:tcPr>
                    <a:solidFill>
                      <a:srgbClr val="FFFFFF"/>
                    </a:solidFill>
                  </a:tcPr>
                </a:tc>
                <a:tc>
                  <a:txBody>
                    <a:bodyPr/>
                    <a:lstStyle/>
                    <a:p>
                      <a:pPr>
                        <a:defRPr sz="1300" b="1">
                          <a:solidFill>
                            <a:srgbClr val="0F172A"/>
                          </a:solidFill>
                          <a:latin typeface="Consolas"/>
                        </a:defRPr>
                      </a:pPr>
                      <a:r>
                        <a:t>LocalCryptoEngine.kt — encrypt() بنمط AES/GCM/NoPadding و Tag 128</a:t>
                      </a:r>
                    </a:p>
                  </a:txBody>
                  <a:tcPr>
                    <a:solidFill>
                      <a:srgbClr val="FFFFFF"/>
                    </a:solidFill>
                  </a:tcPr>
                </a:tc>
                <a:tc>
                  <a:txBody>
                    <a:bodyPr/>
                    <a:lstStyle/>
                    <a:p>
                      <a:pPr>
                        <a:defRPr sz="1300" b="1">
                          <a:solidFill>
                            <a:srgbClr val="059669"/>
                          </a:solidFill>
                          <a:latin typeface="Arial"/>
                        </a:defRPr>
                      </a:pPr>
                      <a:r>
                        <a:t>JVM Tested (10/10 Passed)</a:t>
                      </a:r>
                      <a:br/>
                      <a:r>
                        <a:t>(مثبت آلياً بالاختبارات)</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إدارة التغيير المعماري</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8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إدارة التغيير والتوافق العكسي (Change Management)</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ZERO BREAKING CHANGES</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تحدي التغيير ونمط التصميم المطبق:</a:t>
            </a:r>
          </a:p>
          <a:p>
            <a:pPr>
              <a:spcBef>
                <a:spcPts val="1000"/>
              </a:spcBef>
              <a:defRPr sz="1600" b="1">
                <a:solidFill>
                  <a:srgbClr val="0F172A"/>
                </a:solidFill>
                <a:latin typeface="Arial"/>
              </a:defRPr>
            </a:pPr>
            <a:r>
              <a:t>• التحدي الهندسي: تحديث وتطوير منظومة التشفير لدعم المفاتيح الديناميكية دون كسر عشرات المسارات التي تستدعي التشفير القديم في الواجهات والمكالمات.</a:t>
            </a:r>
          </a:p>
          <a:p>
            <a:pPr>
              <a:spcBef>
                <a:spcPts val="1000"/>
              </a:spcBef>
              <a:defRPr sz="1600" b="1">
                <a:solidFill>
                  <a:srgbClr val="0F172A"/>
                </a:solidFill>
                <a:latin typeface="Arial"/>
              </a:defRPr>
            </a:pPr>
            <a:r>
              <a:t>• نمط المزود (Provider / Strategy Pattern): إنشاء واجهة KeyProvider.kt لفصل منطق جلب واشتقاق المفتاح عن عمليات Cipher.</a:t>
            </a:r>
          </a:p>
          <a:p>
            <a:pPr>
              <a:spcBef>
                <a:spcPts val="1000"/>
              </a:spcBef>
              <a:defRPr sz="1600" b="1">
                <a:solidFill>
                  <a:srgbClr val="0F172A"/>
                </a:solidFill>
                <a:latin typeface="Arial"/>
              </a:defRPr>
            </a:pPr>
            <a:r>
              <a:t>• التوافق العكسي (Backward Compatibility): بناء LegacyStaticKeyProvider ليحتفظ بسلوك المفتاح القديم كخيار افتراضي (Default).</a:t>
            </a:r>
          </a:p>
          <a:p>
            <a:pPr>
              <a:spcBef>
                <a:spcPts val="1000"/>
              </a:spcBef>
              <a:defRPr sz="1600" b="1">
                <a:solidFill>
                  <a:srgbClr val="0F172A"/>
                </a:solidFill>
                <a:latin typeface="Arial"/>
              </a:defRPr>
            </a:pPr>
            <a:r>
              <a:t>• صفر تعديلات كاسرة (Zero Breaking Changes): لم يتأثر أي سطر كود خارجي يستدعي encrypt() و decrypt().</a:t>
            </a:r>
          </a:p>
        </p:txBody>
      </p:sp>
      <p:sp>
        <p:nvSpPr>
          <p:cNvPr id="10" name="Rounded Rectangle 9"/>
          <p:cNvSpPr/>
          <p:nvPr/>
        </p:nvSpPr>
        <p:spPr>
          <a:xfrm>
            <a:off x="621792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الملفات الفعلية والمسؤوليات:</a:t>
            </a:r>
          </a:p>
          <a:p>
            <a:pPr>
              <a:spcBef>
                <a:spcPts val="800"/>
              </a:spcBef>
              <a:defRPr sz="1600" b="1">
                <a:solidFill>
                  <a:srgbClr val="1E40AF"/>
                </a:solidFill>
                <a:latin typeface="Arial"/>
              </a:defRPr>
            </a:pPr>
            <a:r>
              <a:t>• KeyProvider.kt (ملف مضاف جديد):</a:t>
            </a:r>
          </a:p>
          <a:p>
            <a:pPr>
              <a:defRPr sz="1500" b="1">
                <a:solidFill>
                  <a:srgbClr val="0F172A"/>
                </a:solidFill>
                <a:latin typeface="Arial"/>
              </a:defRPr>
            </a:pPr>
            <a:r>
              <a:t>  الأسطر 17-26: تعريف الواجهة المجردة KeyProvider.</a:t>
            </a:r>
            <a:br/>
            <a:r>
              <a:t>الأسطر 38-94: كلاس LegacyStaticKeyProvider للتوافق العكسي.</a:t>
            </a:r>
          </a:p>
          <a:p>
            <a:pPr>
              <a:spcBef>
                <a:spcPts val="800"/>
              </a:spcBef>
              <a:defRPr sz="1600" b="1">
                <a:solidFill>
                  <a:srgbClr val="1E40AF"/>
                </a:solidFill>
                <a:latin typeface="Arial"/>
              </a:defRPr>
            </a:pPr>
            <a:r>
              <a:t>• LocalCryptoEngine.kt (تعديل معماري):</a:t>
            </a:r>
          </a:p>
          <a:p>
            <a:pPr>
              <a:defRPr sz="1500" b="1">
                <a:solidFill>
                  <a:srgbClr val="0F172A"/>
                </a:solidFill>
                <a:latin typeface="Arial"/>
              </a:defRPr>
            </a:pPr>
            <a:r>
              <a:t>  الأسطر 28-30: استقبال المزود عبر @Volatile var keyProvider: KeyProvider.</a:t>
            </a:r>
            <a:br/>
            <a:r>
              <a:t>الأسطر 43-45: استرجاع المفتاح عبر keyProvider.getNetworkKey().</a:t>
            </a:r>
          </a:p>
          <a:p>
            <a:pPr>
              <a:spcBef>
                <a:spcPts val="800"/>
              </a:spcBef>
              <a:defRPr sz="1600" b="1">
                <a:solidFill>
                  <a:srgbClr val="1E40AF"/>
                </a:solidFill>
                <a:latin typeface="Arial"/>
              </a:defRPr>
            </a:pPr>
            <a:r>
              <a:t>• الأثر الهندسي:</a:t>
            </a:r>
          </a:p>
          <a:p>
            <a:pPr>
              <a:defRPr sz="1500" b="1">
                <a:solidFill>
                  <a:srgbClr val="0F172A"/>
                </a:solidFill>
                <a:latin typeface="Arial"/>
              </a:defRPr>
            </a:pPr>
            <a:r>
              <a:t>  إتاحة التبديل بين مفتاح PBKDF2 القديم ومفاتيح الجلسات الديناميكية و Android Keystore في وقت التشغيل (Runtime) بسلاسة.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ضمان الجودة والتحقق</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9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استراتيجية الاختبارات وضمان الجودة (QA &amp; Verification)</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33/33 TESTS PASSED</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10515600" cy="43891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نتائج حزم الاختبارات المؤتمتة ومحدداتها المنهجية:</a:t>
            </a:r>
          </a:p>
          <a:p>
            <a:pPr>
              <a:spcBef>
                <a:spcPts val="1200"/>
              </a:spcBef>
              <a:defRPr sz="1700" b="1">
                <a:solidFill>
                  <a:srgbClr val="0F172A"/>
                </a:solidFill>
                <a:latin typeface="Arial"/>
              </a:defRPr>
            </a:pPr>
            <a:r>
              <a:t>• LocalCryptoEngineTest.kt (10 اختبارات): فحص التشفير، فك التشفير، كشف التلاعب بالبيانات، واشتقاق Nonce فريد للكتل.</a:t>
            </a:r>
          </a:p>
          <a:p>
            <a:pPr>
              <a:spcBef>
                <a:spcPts val="1200"/>
              </a:spcBef>
              <a:defRPr sz="1700" b="1">
                <a:solidFill>
                  <a:srgbClr val="0F172A"/>
                </a:solidFill>
                <a:latin typeface="Arial"/>
              </a:defRPr>
            </a:pPr>
            <a:r>
              <a:t>• EcdhEngineTest.kt (8 اختبارات): فحص توليد مفاتيح P-256 المؤقتة، وتطابق السر المشترك، وتبادل المفاتيح بصيغة X.509.</a:t>
            </a:r>
          </a:p>
          <a:p>
            <a:pPr>
              <a:spcBef>
                <a:spcPts val="1200"/>
              </a:spcBef>
              <a:defRPr sz="1700" b="1">
                <a:solidFill>
                  <a:srgbClr val="0F172A"/>
                </a:solidFill>
                <a:latin typeface="Arial"/>
              </a:defRPr>
            </a:pPr>
            <a:r>
              <a:t>• KeyDerivationTest.kt (8 اختبارات): فحص دالة اشتقاق المفاتيح HKDF-SHA256 وفق RFC 5869 ونواقل الاختبار الرسمية.</a:t>
            </a:r>
          </a:p>
          <a:p>
            <a:pPr>
              <a:spcBef>
                <a:spcPts val="1200"/>
              </a:spcBef>
              <a:defRPr sz="1700" b="1">
                <a:solidFill>
                  <a:srgbClr val="0F172A"/>
                </a:solidFill>
                <a:latin typeface="Arial"/>
              </a:defRPr>
            </a:pPr>
            <a:r>
              <a:t>• CryptoEngineTest.kt (7 اختبارات): فحص بروتوكول الجلسات وحماية الإرسال والاستقبال المتزامن.</a:t>
            </a:r>
          </a:p>
          <a:p>
            <a:pPr>
              <a:spcBef>
                <a:spcPts val="1200"/>
              </a:spcBef>
              <a:defRPr sz="1700" b="1">
                <a:solidFill>
                  <a:srgbClr val="0F172A"/>
                </a:solidFill>
                <a:latin typeface="Arial"/>
              </a:defRPr>
            </a:pPr>
            <a:r>
              <a:t>• الضوابط الأكاديمية الصريحة: الاختبارات أثبتت صحة المنطق والرياضيات على JVM بنسبة 100%، لكنها لا تغني عن الاختبارات التكاملية على جهازين حقيقيين (Two Physical Devices) للتحقق من أداء الشبكة الواقعي.</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أدوات التطوير والبناء</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10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منظومة أدوات البناء وتوليد الكود (Engineering Toolchain)</a:t>
            </a:r>
          </a:p>
        </p:txBody>
      </p:sp>
      <p:sp>
        <p:nvSpPr>
          <p:cNvPr id="6" name="Rounded Rectangle 5"/>
          <p:cNvSpPr/>
          <p:nvPr/>
        </p:nvSpPr>
        <p:spPr>
          <a:xfrm>
            <a:off x="8961120" y="621792"/>
            <a:ext cx="2377440" cy="438912"/>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E40AF"/>
                </a:solidFill>
                <a:latin typeface="Consolas"/>
              </a:defRPr>
            </a:pPr>
            <a:r>
              <a:t>TOOLCHAIN &amp; BUILD</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20574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0F2B5C"/>
                </a:solidFill>
                <a:latin typeface="Arial"/>
              </a:defRPr>
            </a:pPr>
            <a:r>
              <a:t>⚙️ محرك البناء والـ Wrapper</a:t>
            </a:r>
          </a:p>
          <a:p>
            <a:pPr>
              <a:spcBef>
                <a:spcPts val="300"/>
              </a:spcBef>
              <a:defRPr sz="1300" b="1">
                <a:solidFill>
                  <a:srgbClr val="1E40AF"/>
                </a:solidFill>
                <a:latin typeface="Consolas"/>
              </a:defRPr>
            </a:pPr>
            <a:r>
              <a:t>Gradle 9.4.1 (Kotlin DSL)</a:t>
            </a:r>
          </a:p>
          <a:p>
            <a:pPr>
              <a:spcBef>
                <a:spcPts val="400"/>
              </a:spcBef>
              <a:defRPr sz="1500" b="1">
                <a:solidFill>
                  <a:srgbClr val="0F172A"/>
                </a:solidFill>
                <a:latin typeface="Arial"/>
              </a:defRPr>
            </a:pPr>
            <a:r>
              <a:t>إدارة دورة حياة البناء، تنزيل التبعيات تلقائياً، وعزل بيئة البناء لضمان التكرارية عبر gradle-wrapper.properties.</a:t>
            </a:r>
          </a:p>
        </p:txBody>
      </p:sp>
      <p:sp>
        <p:nvSpPr>
          <p:cNvPr id="10" name="Rounded Rectangle 9"/>
          <p:cNvSpPr/>
          <p:nvPr/>
        </p:nvSpPr>
        <p:spPr>
          <a:xfrm>
            <a:off x="6126480" y="1645920"/>
            <a:ext cx="5120640" cy="20574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0F2B5C"/>
                </a:solidFill>
                <a:latin typeface="Arial"/>
              </a:defRPr>
            </a:pPr>
            <a:r>
              <a:t>🤖 مجمع أندرويد الرسمي</a:t>
            </a:r>
          </a:p>
          <a:p>
            <a:pPr>
              <a:spcBef>
                <a:spcPts val="300"/>
              </a:spcBef>
              <a:defRPr sz="1300" b="1">
                <a:solidFill>
                  <a:srgbClr val="1E40AF"/>
                </a:solidFill>
                <a:latin typeface="Consolas"/>
              </a:defRPr>
            </a:pPr>
            <a:r>
              <a:t>Android Gradle Plugin 9.1.1</a:t>
            </a:r>
          </a:p>
          <a:p>
            <a:pPr>
              <a:spcBef>
                <a:spcPts val="400"/>
              </a:spcBef>
              <a:defRPr sz="1500" b="1">
                <a:solidFill>
                  <a:srgbClr val="0F172A"/>
                </a:solidFill>
                <a:latin typeface="Arial"/>
              </a:defRPr>
            </a:pPr>
            <a:r>
              <a:t>دعم أحدث واجهات أندرويد 16 (compileSdk 36)، وتصحيح الأرقام الهندية-العربية عبر NormalizeGeneratedDigitsTask.</a:t>
            </a:r>
          </a:p>
        </p:txBody>
      </p:sp>
      <p:sp>
        <p:nvSpPr>
          <p:cNvPr id="11" name="Rounded Rectangle 10"/>
          <p:cNvSpPr/>
          <p:nvPr/>
        </p:nvSpPr>
        <p:spPr>
          <a:xfrm>
            <a:off x="822960" y="3886200"/>
            <a:ext cx="5120640" cy="20574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0F2B5C"/>
                </a:solidFill>
                <a:latin typeface="Arial"/>
              </a:defRPr>
            </a:pPr>
            <a:r>
              <a:t>💎 لغة البرمجة والتزامن</a:t>
            </a:r>
          </a:p>
          <a:p>
            <a:pPr>
              <a:spcBef>
                <a:spcPts val="300"/>
              </a:spcBef>
              <a:defRPr sz="1300" b="1">
                <a:solidFill>
                  <a:srgbClr val="1E40AF"/>
                </a:solidFill>
                <a:latin typeface="Consolas"/>
              </a:defRPr>
            </a:pPr>
            <a:r>
              <a:t>Kotlin 2.2.10 &amp; Coroutines</a:t>
            </a:r>
          </a:p>
          <a:p>
            <a:pPr>
              <a:spcBef>
                <a:spcPts val="400"/>
              </a:spcBef>
              <a:defRPr sz="1500" b="1">
                <a:solidFill>
                  <a:srgbClr val="0F172A"/>
                </a:solidFill>
                <a:latin typeface="Arial"/>
              </a:defRPr>
            </a:pPr>
            <a:r>
              <a:t>إدارة غير تزامنية عالية الكفاءة للمقابس والشبكة دون حظر واجهة المستخدم عبر Coroutines و Dispatchers.IO.</a:t>
            </a:r>
          </a:p>
        </p:txBody>
      </p:sp>
      <p:sp>
        <p:nvSpPr>
          <p:cNvPr id="12" name="Rounded Rectangle 11"/>
          <p:cNvSpPr/>
          <p:nvPr/>
        </p:nvSpPr>
        <p:spPr>
          <a:xfrm>
            <a:off x="6126480" y="3886200"/>
            <a:ext cx="5120640" cy="20574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0F2B5C"/>
                </a:solidFill>
                <a:latin typeface="Arial"/>
              </a:defRPr>
            </a:pPr>
            <a:r>
              <a:t>⚡ معالجة الرموز البرمجية</a:t>
            </a:r>
          </a:p>
          <a:p>
            <a:pPr>
              <a:spcBef>
                <a:spcPts val="300"/>
              </a:spcBef>
              <a:defRPr sz="1300" b="1">
                <a:solidFill>
                  <a:srgbClr val="1E40AF"/>
                </a:solidFill>
                <a:latin typeface="Consolas"/>
              </a:defRPr>
            </a:pPr>
            <a:r>
              <a:t>KSP (Kotlin Symbol Processing)</a:t>
            </a:r>
          </a:p>
          <a:p>
            <a:pPr>
              <a:spcBef>
                <a:spcPts val="400"/>
              </a:spcBef>
              <a:defRPr sz="1500" b="1">
                <a:solidFill>
                  <a:srgbClr val="0F172A"/>
                </a:solidFill>
                <a:latin typeface="Arial"/>
              </a:defRPr>
            </a:pPr>
            <a:r>
              <a:t>توليد كود Room Database 6 ومحولات Moshi JSON بسرعة فائقة أثناء وقت الترجمة (Compile-time) بدلاً من kapt.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إدارة المخاطر والنزاهة العلمية</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11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إدارة المخاطر والفجوات الموثقة (Risk Management &amp; Gaps)</a:t>
            </a:r>
          </a:p>
        </p:txBody>
      </p:sp>
      <p:sp>
        <p:nvSpPr>
          <p:cNvPr id="6" name="Rounded Rectangle 5"/>
          <p:cNvSpPr/>
          <p:nvPr/>
        </p:nvSpPr>
        <p:spPr>
          <a:xfrm>
            <a:off x="8961120" y="621792"/>
            <a:ext cx="2377440" cy="438912"/>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97706"/>
                </a:solidFill>
                <a:latin typeface="Consolas"/>
              </a:defRPr>
            </a:pPr>
            <a:r>
              <a:t>HONEST ACADEMIC GAPS</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DC2626"/>
                </a:solidFill>
                <a:latin typeface="Arial"/>
              </a:defRPr>
            </a:pPr>
            <a:r>
              <a:t>⚠️ ميزات موثقة كفجوات رسمية في SRS:</a:t>
            </a:r>
          </a:p>
          <a:p>
            <a:pPr>
              <a:spcBef>
                <a:spcPts val="1000"/>
              </a:spcBef>
              <a:defRPr sz="1600" b="1">
                <a:solidFill>
                  <a:srgbClr val="0F172A"/>
                </a:solidFill>
                <a:latin typeface="Arial"/>
              </a:defRPr>
            </a:pPr>
            <a:r>
              <a:t>• FR-13: حذف الرسائل شبكياً — متاح محلياً فقط في قاعدة بيانات الهاتف، ولا توجد حزمة شبكية لحذفها من أجهزة الأقران عن بعد.</a:t>
            </a:r>
          </a:p>
          <a:p>
            <a:pPr>
              <a:spcBef>
                <a:spcPts val="1000"/>
              </a:spcBef>
              <a:defRPr sz="1600" b="1">
                <a:solidFill>
                  <a:srgbClr val="0F172A"/>
                </a:solidFill>
                <a:latin typeface="Arial"/>
              </a:defRPr>
            </a:pPr>
            <a:r>
              <a:t>• FR-19: فحص سلامة الملف كاملاً — الملف ينقل مجزأً ومشفر بنجاح، لكن تنقص مقارنة SHA-256 للملف كاملاً بعد اكتمال التنزيل.</a:t>
            </a:r>
          </a:p>
          <a:p>
            <a:pPr>
              <a:spcBef>
                <a:spcPts val="1000"/>
              </a:spcBef>
              <a:defRPr sz="1600" b="1">
                <a:solidFill>
                  <a:srgbClr val="0F172A"/>
                </a:solidFill>
                <a:latin typeface="Arial"/>
              </a:defRPr>
            </a:pPr>
            <a:r>
              <a:t>• مخاطر الشبكة الواقعية: عزل العملاء (AP Isolation) في أجهزة الراوتر يمنع الأجهزة من رؤية بعضها محلياً.</a:t>
            </a:r>
          </a:p>
          <a:p>
            <a:pPr>
              <a:spcBef>
                <a:spcPts val="1000"/>
              </a:spcBef>
              <a:defRPr sz="1600" b="1">
                <a:solidFill>
                  <a:srgbClr val="0F172A"/>
                </a:solidFill>
                <a:latin typeface="Arial"/>
              </a:defRPr>
            </a:pPr>
            <a:r>
              <a:t>• قيود أندرويد على Multicast: تتطلب أجهزة أندرويد حيازة MulticastLock بشكل صريح وإلا قد تُسقط حزم الاكتشاف.</a:t>
            </a:r>
          </a:p>
        </p:txBody>
      </p:sp>
      <p:sp>
        <p:nvSpPr>
          <p:cNvPr id="10" name="Rounded Rectangle 9"/>
          <p:cNvSpPr/>
          <p:nvPr/>
        </p:nvSpPr>
        <p:spPr>
          <a:xfrm>
            <a:off x="6217920" y="1645920"/>
            <a:ext cx="5120640" cy="43891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059669"/>
                </a:solidFill>
                <a:latin typeface="Arial"/>
              </a:defRPr>
            </a:pPr>
            <a:r>
              <a:t>🛡️ استراتيجيات التخفيف والشفافية:</a:t>
            </a:r>
          </a:p>
          <a:p>
            <a:pPr>
              <a:spcBef>
                <a:spcPts val="1000"/>
              </a:spcBef>
              <a:defRPr sz="1600" b="1">
                <a:solidFill>
                  <a:srgbClr val="0F172A"/>
                </a:solidFill>
                <a:latin typeface="Arial"/>
              </a:defRPr>
            </a:pPr>
            <a:r>
              <a:t>• التوثيق الشفاف: إدراج الفجوات صراحة في وثيقتي SRS و TraceabilityMatrix كـ Missing لمنع الادعاءات المضللة.</a:t>
            </a:r>
          </a:p>
          <a:p>
            <a:pPr>
              <a:spcBef>
                <a:spcPts val="1000"/>
              </a:spcBef>
              <a:defRPr sz="1600" b="1">
                <a:solidFill>
                  <a:srgbClr val="0F172A"/>
                </a:solidFill>
                <a:latin typeface="Arial"/>
              </a:defRPr>
            </a:pPr>
            <a:r>
              <a:t>• بدائل الاكتشاف الشبكي: إضافة مسح الشبكة الفرعية (Subnet Sweep) كبديل احتياطي في حال حظر حزم الـ Multicast على المنفذ 8888.</a:t>
            </a:r>
          </a:p>
          <a:p>
            <a:pPr>
              <a:spcBef>
                <a:spcPts val="1000"/>
              </a:spcBef>
              <a:defRPr sz="1600" b="1">
                <a:solidFill>
                  <a:srgbClr val="0F172A"/>
                </a:solidFill>
                <a:latin typeface="Arial"/>
              </a:defRPr>
            </a:pPr>
            <a:r>
              <a:t>• المعايير الهندسية: التعامل مع الفجوات كـ Backlog رسمي للتطوير المستقبلي بدلاً من تجاهلها.</a:t>
            </a:r>
          </a:p>
          <a:p>
            <a:pPr>
              <a:spcBef>
                <a:spcPts val="1000"/>
              </a:spcBef>
              <a:defRPr sz="1600" b="1">
                <a:solidFill>
                  <a:srgbClr val="0F172A"/>
                </a:solidFill>
                <a:latin typeface="Arial"/>
              </a:defRPr>
            </a:pPr>
            <a:r>
              <a:t>• القيمة المضافة: إثبات النزاهة العلمية يمنح المشروع مصداقية أكاديمية عالية أمام لجنة التحكيم.</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الخاتمة والتوصيات</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12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الخلاصة الهندسية وخارطة الطريق المستقبلية (Roadmap)</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EXECUTIVE SUMMARY</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059669"/>
                </a:solidFill>
                <a:latin typeface="Arial"/>
              </a:defRPr>
            </a:pPr>
            <a:r>
              <a:t>✅ ما تم إنجازه وتوثيقه هندسياً:</a:t>
            </a:r>
          </a:p>
          <a:p>
            <a:pPr>
              <a:spcBef>
                <a:spcPts val="1000"/>
              </a:spcBef>
              <a:defRPr sz="1600" b="1">
                <a:solidFill>
                  <a:srgbClr val="0F172A"/>
                </a:solidFill>
                <a:latin typeface="Arial"/>
              </a:defRPr>
            </a:pPr>
            <a:r>
              <a:t>• صياغة وثيقة SRS.md تضم 31 متطلباً و 15 قصة مستخدم بنموذج تصنيف خماسي صارم.</a:t>
            </a:r>
          </a:p>
          <a:p>
            <a:pPr>
              <a:spcBef>
                <a:spcPts val="1000"/>
              </a:spcBef>
              <a:defRPr sz="1600" b="1">
                <a:solidFill>
                  <a:srgbClr val="0F172A"/>
                </a:solidFill>
                <a:latin typeface="Arial"/>
              </a:defRPr>
            </a:pPr>
            <a:r>
              <a:t>• تثبيت خط الأساس البرمجي (Baseline Commit 7111182) لضمان تكرارية البناء.</a:t>
            </a:r>
          </a:p>
          <a:p>
            <a:pPr>
              <a:spcBef>
                <a:spcPts val="1000"/>
              </a:spcBef>
              <a:defRPr sz="1600" b="1">
                <a:solidFill>
                  <a:srgbClr val="0F172A"/>
                </a:solidFill>
                <a:latin typeface="Arial"/>
              </a:defRPr>
            </a:pPr>
            <a:r>
              <a:t>• بناء مصفوفة تتبع RTM تربط كل متطلب بالكود المصدري ومعايير القبول.</a:t>
            </a:r>
          </a:p>
          <a:p>
            <a:pPr>
              <a:spcBef>
                <a:spcPts val="1000"/>
              </a:spcBef>
              <a:defRPr sz="1600" b="1">
                <a:solidFill>
                  <a:srgbClr val="0F172A"/>
                </a:solidFill>
                <a:latin typeface="Arial"/>
              </a:defRPr>
            </a:pPr>
            <a:r>
              <a:t>• تطبيق نمط المزود Provider لتحقيق إدارة تغيير آمنة دون كسر الكود القديم.</a:t>
            </a:r>
          </a:p>
          <a:p>
            <a:pPr>
              <a:spcBef>
                <a:spcPts val="1000"/>
              </a:spcBef>
              <a:defRPr sz="1600" b="1">
                <a:solidFill>
                  <a:srgbClr val="0F172A"/>
                </a:solidFill>
                <a:latin typeface="Arial"/>
              </a:defRPr>
            </a:pPr>
            <a:r>
              <a:t>• إثبات سلامة المحركات الحساسة عبر 33 اختبار وحدة آلي ناجح بنسبة 100%.</a:t>
            </a:r>
          </a:p>
        </p:txBody>
      </p:sp>
      <p:sp>
        <p:nvSpPr>
          <p:cNvPr id="10" name="Rounded Rectangle 9"/>
          <p:cNvSpPr/>
          <p:nvPr/>
        </p:nvSpPr>
        <p:spPr>
          <a:xfrm>
            <a:off x="6217920" y="1645920"/>
            <a:ext cx="5120640" cy="438912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0F2B5C"/>
                </a:solidFill>
                <a:latin typeface="Arial"/>
              </a:defRPr>
            </a:pPr>
            <a:r>
              <a:t>🚀 خارطة الطريق الهندسية المستقبلية:</a:t>
            </a:r>
          </a:p>
          <a:p>
            <a:pPr>
              <a:spcBef>
                <a:spcPts val="1000"/>
              </a:spcBef>
              <a:defRPr sz="1600" b="1">
                <a:solidFill>
                  <a:srgbClr val="0F172A"/>
                </a:solidFill>
                <a:latin typeface="Arial"/>
              </a:defRPr>
            </a:pPr>
            <a:r>
              <a:t>• 1. تفكيك الكلاسات الضخمة (God Classes): تقسيم LocalP2PEngine و MainViewModel إلى خدمات فرعية متخصصة ومستقلة.</a:t>
            </a:r>
          </a:p>
          <a:p>
            <a:pPr>
              <a:spcBef>
                <a:spcPts val="1000"/>
              </a:spcBef>
              <a:defRPr sz="1600" b="1">
                <a:solidFill>
                  <a:srgbClr val="0F172A"/>
                </a:solidFill>
                <a:latin typeface="Arial"/>
              </a:defRPr>
            </a:pPr>
            <a:r>
              <a:t>• 2. بناء اختبارات تكاملية على أجهزة حقيقية: إعداد Instrumented Tests عبر AndroidX Test و Espresso لفحص بيئة الشبكة الفعلية.</a:t>
            </a:r>
          </a:p>
          <a:p>
            <a:pPr>
              <a:spcBef>
                <a:spcPts val="1000"/>
              </a:spcBef>
              <a:defRPr sz="1600" b="1">
                <a:solidFill>
                  <a:srgbClr val="0F172A"/>
                </a:solidFill>
                <a:latin typeface="Arial"/>
              </a:defRPr>
            </a:pPr>
            <a:r>
              <a:t>• 3. استكمال ميزة الحذف الشبكي (FR-13) وتدقيق تجزئة الملف النهائي SHA-256.</a:t>
            </a:r>
          </a:p>
          <a:p>
            <a:pPr>
              <a:spcBef>
                <a:spcPts val="1000"/>
              </a:spcBef>
              <a:defRPr sz="1600" b="1">
                <a:solidFill>
                  <a:srgbClr val="0F172A"/>
                </a:solidFill>
                <a:latin typeface="Arial"/>
              </a:defRPr>
            </a:pPr>
            <a:r>
              <a:t>• الخلاصة: تحول المشروع من كود أولي غير منظم إلى منظومة برمجية خاضعة لأرقى معايير هندسة البرمجيات وقابلة للاستدامة والتطوير.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